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8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D2124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2069" y="403859"/>
            <a:ext cx="1875640" cy="5471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4454" y="348995"/>
            <a:ext cx="9143996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9324" y="557275"/>
            <a:ext cx="515683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7649" y="2431541"/>
            <a:ext cx="4995545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ED2124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58409" y="6950453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livete@fct.unesp.br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5932" y="2285491"/>
            <a:ext cx="3317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LFA</a:t>
            </a:r>
            <a:r>
              <a:rPr sz="40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</a:rPr>
              <a:t>–</a:t>
            </a:r>
            <a:r>
              <a:rPr sz="40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</a:rPr>
              <a:t>Aula</a:t>
            </a:r>
            <a:r>
              <a:rPr sz="40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03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3492" y="3728718"/>
            <a:ext cx="42640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Linguagens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regulares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omic Sans MS"/>
                <a:cs typeface="Comic Sans MS"/>
              </a:rPr>
              <a:t>–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Gramáticas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regulares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r>
              <a:rPr sz="20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–</a:t>
            </a:r>
            <a:r>
              <a:rPr sz="2000" spc="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pt-BR" sz="2000" spc="-10" dirty="0">
                <a:solidFill>
                  <a:srgbClr val="006FC0"/>
                </a:solidFill>
                <a:latin typeface="Comic Sans MS"/>
                <a:cs typeface="Times New Roman"/>
              </a:rPr>
              <a:t>v 1.1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object 8"/>
          <p:cNvSpPr txBox="1"/>
          <p:nvPr/>
        </p:nvSpPr>
        <p:spPr>
          <a:xfrm>
            <a:off x="4813300" y="5708393"/>
            <a:ext cx="4923545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0032CC"/>
                </a:solidFill>
                <a:latin typeface="Verdana"/>
                <a:cs typeface="Verdana"/>
              </a:rPr>
              <a:t>Prof. Flávio Viotti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dirty="0">
              <a:solidFill>
                <a:srgbClr val="0032C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1800" dirty="0">
              <a:solidFill>
                <a:srgbClr val="0032C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0032CC"/>
                </a:solidFill>
                <a:latin typeface="Verdana"/>
                <a:cs typeface="Verdana"/>
              </a:rPr>
              <a:t>Material adaptado de </a:t>
            </a:r>
            <a:r>
              <a:rPr sz="1800" dirty="0">
                <a:solidFill>
                  <a:srgbClr val="0032CC"/>
                </a:solidFill>
                <a:latin typeface="Verdana"/>
                <a:cs typeface="Verdana"/>
              </a:rPr>
              <a:t>Celso</a:t>
            </a:r>
            <a:r>
              <a:rPr sz="1800" spc="16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0032CC"/>
                </a:solidFill>
                <a:latin typeface="Verdana"/>
                <a:cs typeface="Verdana"/>
              </a:rPr>
              <a:t>Olivete</a:t>
            </a:r>
            <a:r>
              <a:rPr sz="1800" spc="18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2CC"/>
                </a:solidFill>
                <a:latin typeface="Verdana"/>
                <a:cs typeface="Verdana"/>
              </a:rPr>
              <a:t>Júnior</a:t>
            </a:r>
            <a:r>
              <a:rPr lang="pt-BR" dirty="0"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2CC"/>
                </a:solidFill>
                <a:latin typeface="Verdana"/>
                <a:cs typeface="Verdana"/>
                <a:hlinkClick r:id="rId3"/>
              </a:rPr>
              <a:t>olivete@fct.unesp.br</a:t>
            </a:r>
            <a:endParaRPr sz="1600" dirty="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1110800" y="2459312"/>
            <a:ext cx="5447030" cy="3397885"/>
            <a:chOff x="1110800" y="2459312"/>
            <a:chExt cx="5447030" cy="33978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0800" y="2459312"/>
              <a:ext cx="4958884" cy="13186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84749" y="2731007"/>
              <a:ext cx="1068705" cy="1047115"/>
            </a:xfrm>
            <a:custGeom>
              <a:avLst/>
              <a:gdLst/>
              <a:ahLst/>
              <a:cxnLst/>
              <a:rect l="l" t="t" r="r" b="b"/>
              <a:pathLst>
                <a:path w="1068704" h="1047114">
                  <a:moveTo>
                    <a:pt x="1062228" y="94488"/>
                  </a:moveTo>
                  <a:lnTo>
                    <a:pt x="324612" y="0"/>
                  </a:lnTo>
                  <a:lnTo>
                    <a:pt x="316992" y="56388"/>
                  </a:lnTo>
                  <a:lnTo>
                    <a:pt x="1054608" y="152400"/>
                  </a:lnTo>
                  <a:lnTo>
                    <a:pt x="1062228" y="94488"/>
                  </a:lnTo>
                  <a:close/>
                </a:path>
                <a:path w="1068704" h="1047114">
                  <a:moveTo>
                    <a:pt x="1068324" y="1025664"/>
                  </a:moveTo>
                  <a:lnTo>
                    <a:pt x="19812" y="627900"/>
                  </a:lnTo>
                  <a:lnTo>
                    <a:pt x="0" y="681240"/>
                  </a:lnTo>
                  <a:lnTo>
                    <a:pt x="964145" y="1047000"/>
                  </a:lnTo>
                  <a:lnTo>
                    <a:pt x="1060399" y="1047000"/>
                  </a:lnTo>
                  <a:lnTo>
                    <a:pt x="1068324" y="1025664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800" y="3777995"/>
              <a:ext cx="4958884" cy="16448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45837" y="3778008"/>
              <a:ext cx="1511935" cy="958850"/>
            </a:xfrm>
            <a:custGeom>
              <a:avLst/>
              <a:gdLst/>
              <a:ahLst/>
              <a:cxnLst/>
              <a:rect l="l" t="t" r="r" b="b"/>
              <a:pathLst>
                <a:path w="1511934" h="958850">
                  <a:moveTo>
                    <a:pt x="1499311" y="0"/>
                  </a:moveTo>
                  <a:lnTo>
                    <a:pt x="1403057" y="0"/>
                  </a:lnTo>
                  <a:lnTo>
                    <a:pt x="1487424" y="32004"/>
                  </a:lnTo>
                  <a:lnTo>
                    <a:pt x="1499311" y="0"/>
                  </a:lnTo>
                  <a:close/>
                </a:path>
                <a:path w="1511934" h="958850">
                  <a:moveTo>
                    <a:pt x="1511808" y="908291"/>
                  </a:moveTo>
                  <a:lnTo>
                    <a:pt x="27432" y="85331"/>
                  </a:lnTo>
                  <a:lnTo>
                    <a:pt x="0" y="135623"/>
                  </a:lnTo>
                  <a:lnTo>
                    <a:pt x="1484376" y="958583"/>
                  </a:lnTo>
                  <a:lnTo>
                    <a:pt x="1511808" y="908291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5757" y="4591811"/>
              <a:ext cx="2152015" cy="1264920"/>
            </a:xfrm>
            <a:custGeom>
              <a:avLst/>
              <a:gdLst/>
              <a:ahLst/>
              <a:cxnLst/>
              <a:rect l="l" t="t" r="r" b="b"/>
              <a:pathLst>
                <a:path w="2152015" h="1264920">
                  <a:moveTo>
                    <a:pt x="2151888" y="1216152"/>
                  </a:moveTo>
                  <a:lnTo>
                    <a:pt x="28956" y="0"/>
                  </a:lnTo>
                  <a:lnTo>
                    <a:pt x="0" y="50292"/>
                  </a:lnTo>
                  <a:lnTo>
                    <a:pt x="2122932" y="1264920"/>
                  </a:lnTo>
                  <a:lnTo>
                    <a:pt x="2151888" y="1216152"/>
                  </a:lnTo>
                  <a:close/>
                </a:path>
              </a:pathLst>
            </a:custGeom>
            <a:solidFill>
              <a:srgbClr val="7C5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0096" y="815745"/>
            <a:ext cx="85547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Comic Sans MS"/>
                <a:cs typeface="Comic Sans MS"/>
              </a:rPr>
              <a:t>Classificação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das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Linguagens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segundo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2CC"/>
                </a:solidFill>
                <a:latin typeface="Comic Sans MS"/>
                <a:cs typeface="Comic Sans MS"/>
              </a:rPr>
              <a:t>Hierarquia</a:t>
            </a:r>
            <a:r>
              <a:rPr sz="2800" spc="9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32CC"/>
                </a:solidFill>
                <a:latin typeface="Comic Sans MS"/>
                <a:cs typeface="Comic Sans MS"/>
              </a:rPr>
              <a:t>de</a:t>
            </a:r>
            <a:r>
              <a:rPr sz="2800" spc="-2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32CC"/>
                </a:solidFill>
                <a:latin typeface="Comic Sans MS"/>
                <a:cs typeface="Comic Sans MS"/>
              </a:rPr>
              <a:t>Chomsky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6621" y="3607320"/>
            <a:ext cx="2844165" cy="843280"/>
          </a:xfrm>
          <a:custGeom>
            <a:avLst/>
            <a:gdLst/>
            <a:ahLst/>
            <a:cxnLst/>
            <a:rect l="l" t="t" r="r" b="b"/>
            <a:pathLst>
              <a:path w="2844165" h="843279">
                <a:moveTo>
                  <a:pt x="2843784" y="28956"/>
                </a:moveTo>
                <a:lnTo>
                  <a:pt x="2841396" y="17348"/>
                </a:lnTo>
                <a:lnTo>
                  <a:pt x="2835021" y="8191"/>
                </a:lnTo>
                <a:lnTo>
                  <a:pt x="2825775" y="2159"/>
                </a:lnTo>
                <a:lnTo>
                  <a:pt x="2814828" y="0"/>
                </a:lnTo>
                <a:lnTo>
                  <a:pt x="28956" y="0"/>
                </a:lnTo>
                <a:lnTo>
                  <a:pt x="17995" y="2159"/>
                </a:lnTo>
                <a:lnTo>
                  <a:pt x="8763" y="8191"/>
                </a:lnTo>
                <a:lnTo>
                  <a:pt x="2374" y="17348"/>
                </a:lnTo>
                <a:lnTo>
                  <a:pt x="0" y="28956"/>
                </a:lnTo>
                <a:lnTo>
                  <a:pt x="0" y="170688"/>
                </a:lnTo>
                <a:lnTo>
                  <a:pt x="0" y="813816"/>
                </a:lnTo>
                <a:lnTo>
                  <a:pt x="2374" y="825411"/>
                </a:lnTo>
                <a:lnTo>
                  <a:pt x="8763" y="834580"/>
                </a:lnTo>
                <a:lnTo>
                  <a:pt x="17995" y="840600"/>
                </a:lnTo>
                <a:lnTo>
                  <a:pt x="28956" y="842772"/>
                </a:lnTo>
                <a:lnTo>
                  <a:pt x="57912" y="842772"/>
                </a:lnTo>
                <a:lnTo>
                  <a:pt x="2785872" y="842772"/>
                </a:lnTo>
                <a:lnTo>
                  <a:pt x="2814828" y="842772"/>
                </a:lnTo>
                <a:lnTo>
                  <a:pt x="2825775" y="840600"/>
                </a:lnTo>
                <a:lnTo>
                  <a:pt x="2835021" y="834580"/>
                </a:lnTo>
                <a:lnTo>
                  <a:pt x="2841396" y="825411"/>
                </a:lnTo>
                <a:lnTo>
                  <a:pt x="2843784" y="813816"/>
                </a:lnTo>
                <a:lnTo>
                  <a:pt x="2843784" y="170688"/>
                </a:lnTo>
                <a:lnTo>
                  <a:pt x="2843784" y="28956"/>
                </a:lnTo>
                <a:close/>
              </a:path>
            </a:pathLst>
          </a:custGeom>
          <a:solidFill>
            <a:srgbClr val="00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6621" y="2679204"/>
            <a:ext cx="2844165" cy="843280"/>
          </a:xfrm>
          <a:custGeom>
            <a:avLst/>
            <a:gdLst/>
            <a:ahLst/>
            <a:cxnLst/>
            <a:rect l="l" t="t" r="r" b="b"/>
            <a:pathLst>
              <a:path w="2844165" h="843279">
                <a:moveTo>
                  <a:pt x="2843784" y="27432"/>
                </a:moveTo>
                <a:lnTo>
                  <a:pt x="2841396" y="16713"/>
                </a:lnTo>
                <a:lnTo>
                  <a:pt x="2835021" y="8001"/>
                </a:lnTo>
                <a:lnTo>
                  <a:pt x="2825775" y="2133"/>
                </a:lnTo>
                <a:lnTo>
                  <a:pt x="2814828" y="0"/>
                </a:lnTo>
                <a:lnTo>
                  <a:pt x="28956" y="0"/>
                </a:lnTo>
                <a:lnTo>
                  <a:pt x="17995" y="2133"/>
                </a:lnTo>
                <a:lnTo>
                  <a:pt x="8763" y="8001"/>
                </a:lnTo>
                <a:lnTo>
                  <a:pt x="2374" y="16713"/>
                </a:lnTo>
                <a:lnTo>
                  <a:pt x="0" y="27432"/>
                </a:lnTo>
                <a:lnTo>
                  <a:pt x="0" y="813816"/>
                </a:lnTo>
                <a:lnTo>
                  <a:pt x="2374" y="824763"/>
                </a:lnTo>
                <a:lnTo>
                  <a:pt x="8763" y="834009"/>
                </a:lnTo>
                <a:lnTo>
                  <a:pt x="17995" y="840384"/>
                </a:lnTo>
                <a:lnTo>
                  <a:pt x="28956" y="842772"/>
                </a:lnTo>
                <a:lnTo>
                  <a:pt x="57912" y="842772"/>
                </a:lnTo>
                <a:lnTo>
                  <a:pt x="2785872" y="842772"/>
                </a:lnTo>
                <a:lnTo>
                  <a:pt x="2814828" y="842772"/>
                </a:lnTo>
                <a:lnTo>
                  <a:pt x="2825775" y="840384"/>
                </a:lnTo>
                <a:lnTo>
                  <a:pt x="2835021" y="834009"/>
                </a:lnTo>
                <a:lnTo>
                  <a:pt x="2841396" y="824763"/>
                </a:lnTo>
                <a:lnTo>
                  <a:pt x="2843784" y="813816"/>
                </a:lnTo>
                <a:lnTo>
                  <a:pt x="2843784" y="27432"/>
                </a:lnTo>
                <a:close/>
              </a:path>
            </a:pathLst>
          </a:custGeom>
          <a:solidFill>
            <a:srgbClr val="00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75581" y="2706623"/>
            <a:ext cx="2786380" cy="78676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61976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Máquina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Turing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46621" y="4535436"/>
            <a:ext cx="2844165" cy="843280"/>
          </a:xfrm>
          <a:custGeom>
            <a:avLst/>
            <a:gdLst/>
            <a:ahLst/>
            <a:cxnLst/>
            <a:rect l="l" t="t" r="r" b="b"/>
            <a:pathLst>
              <a:path w="2844165" h="843279">
                <a:moveTo>
                  <a:pt x="2843784" y="28956"/>
                </a:moveTo>
                <a:lnTo>
                  <a:pt x="2841396" y="17995"/>
                </a:lnTo>
                <a:lnTo>
                  <a:pt x="2835021" y="8763"/>
                </a:lnTo>
                <a:lnTo>
                  <a:pt x="2825775" y="2374"/>
                </a:lnTo>
                <a:lnTo>
                  <a:pt x="2814828" y="0"/>
                </a:lnTo>
                <a:lnTo>
                  <a:pt x="28956" y="0"/>
                </a:lnTo>
                <a:lnTo>
                  <a:pt x="17995" y="2374"/>
                </a:lnTo>
                <a:lnTo>
                  <a:pt x="8763" y="8763"/>
                </a:lnTo>
                <a:lnTo>
                  <a:pt x="2374" y="17995"/>
                </a:lnTo>
                <a:lnTo>
                  <a:pt x="0" y="28956"/>
                </a:lnTo>
                <a:lnTo>
                  <a:pt x="0" y="815340"/>
                </a:lnTo>
                <a:lnTo>
                  <a:pt x="2374" y="826046"/>
                </a:lnTo>
                <a:lnTo>
                  <a:pt x="8763" y="834771"/>
                </a:lnTo>
                <a:lnTo>
                  <a:pt x="17995" y="840625"/>
                </a:lnTo>
                <a:lnTo>
                  <a:pt x="28956" y="842772"/>
                </a:lnTo>
                <a:lnTo>
                  <a:pt x="57912" y="842772"/>
                </a:lnTo>
                <a:lnTo>
                  <a:pt x="2785872" y="842772"/>
                </a:lnTo>
                <a:lnTo>
                  <a:pt x="2814828" y="842772"/>
                </a:lnTo>
                <a:lnTo>
                  <a:pt x="2825775" y="840625"/>
                </a:lnTo>
                <a:lnTo>
                  <a:pt x="2835021" y="834771"/>
                </a:lnTo>
                <a:lnTo>
                  <a:pt x="2841396" y="826046"/>
                </a:lnTo>
                <a:lnTo>
                  <a:pt x="2843784" y="815340"/>
                </a:lnTo>
                <a:lnTo>
                  <a:pt x="2843784" y="28956"/>
                </a:lnTo>
                <a:close/>
              </a:path>
            </a:pathLst>
          </a:custGeom>
          <a:solidFill>
            <a:srgbClr val="00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75581" y="4564379"/>
            <a:ext cx="2786380" cy="7867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19075" marR="212725" indent="461645">
              <a:lnSpc>
                <a:spcPct val="100000"/>
              </a:lnSpc>
              <a:spcBef>
                <a:spcPts val="1060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Autômato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pilha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Gramáticas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livre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5581" y="3636264"/>
            <a:ext cx="2786380" cy="7848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057275" marR="255904" indent="-795655">
              <a:lnSpc>
                <a:spcPct val="100000"/>
              </a:lnSpc>
              <a:spcBef>
                <a:spcPts val="1060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Máquina</a:t>
            </a:r>
            <a:r>
              <a:rPr sz="16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Turing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fita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limitada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46626" y="5536692"/>
            <a:ext cx="2844165" cy="1485900"/>
            <a:chOff x="6746626" y="5536692"/>
            <a:chExt cx="2844165" cy="148590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5581" y="5564123"/>
              <a:ext cx="2785871" cy="14295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6626" y="5536692"/>
              <a:ext cx="2843784" cy="1456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46626" y="5536692"/>
              <a:ext cx="2844165" cy="1485900"/>
            </a:xfrm>
            <a:custGeom>
              <a:avLst/>
              <a:gdLst/>
              <a:ahLst/>
              <a:cxnLst/>
              <a:rect l="l" t="t" r="r" b="b"/>
              <a:pathLst>
                <a:path w="2844165" h="1485900">
                  <a:moveTo>
                    <a:pt x="2843784" y="1456944"/>
                  </a:moveTo>
                  <a:lnTo>
                    <a:pt x="2843784" y="27432"/>
                  </a:lnTo>
                  <a:lnTo>
                    <a:pt x="2841402" y="16716"/>
                  </a:lnTo>
                  <a:lnTo>
                    <a:pt x="2835021" y="8001"/>
                  </a:lnTo>
                  <a:lnTo>
                    <a:pt x="2825781" y="2143"/>
                  </a:lnTo>
                  <a:lnTo>
                    <a:pt x="2814828" y="0"/>
                  </a:lnTo>
                  <a:lnTo>
                    <a:pt x="28956" y="0"/>
                  </a:lnTo>
                  <a:lnTo>
                    <a:pt x="18002" y="2143"/>
                  </a:lnTo>
                  <a:lnTo>
                    <a:pt x="8763" y="8001"/>
                  </a:lnTo>
                  <a:lnTo>
                    <a:pt x="2381" y="16716"/>
                  </a:lnTo>
                  <a:lnTo>
                    <a:pt x="0" y="27432"/>
                  </a:lnTo>
                  <a:lnTo>
                    <a:pt x="0" y="1456944"/>
                  </a:lnTo>
                  <a:lnTo>
                    <a:pt x="2381" y="1467897"/>
                  </a:lnTo>
                  <a:lnTo>
                    <a:pt x="8763" y="1477137"/>
                  </a:lnTo>
                  <a:lnTo>
                    <a:pt x="18002" y="1483518"/>
                  </a:lnTo>
                  <a:lnTo>
                    <a:pt x="28956" y="1485900"/>
                  </a:lnTo>
                  <a:lnTo>
                    <a:pt x="28956" y="56388"/>
                  </a:lnTo>
                  <a:lnTo>
                    <a:pt x="57912" y="27432"/>
                  </a:lnTo>
                  <a:lnTo>
                    <a:pt x="57912" y="56388"/>
                  </a:lnTo>
                  <a:lnTo>
                    <a:pt x="2785872" y="56388"/>
                  </a:lnTo>
                  <a:lnTo>
                    <a:pt x="2785872" y="27432"/>
                  </a:lnTo>
                  <a:lnTo>
                    <a:pt x="2814828" y="56388"/>
                  </a:lnTo>
                  <a:lnTo>
                    <a:pt x="2814828" y="1485900"/>
                  </a:lnTo>
                  <a:lnTo>
                    <a:pt x="2825781" y="1483518"/>
                  </a:lnTo>
                  <a:lnTo>
                    <a:pt x="2835021" y="1477137"/>
                  </a:lnTo>
                  <a:lnTo>
                    <a:pt x="2841402" y="1467897"/>
                  </a:lnTo>
                  <a:lnTo>
                    <a:pt x="2843784" y="1456944"/>
                  </a:lnTo>
                  <a:close/>
                </a:path>
                <a:path w="2844165" h="1485900">
                  <a:moveTo>
                    <a:pt x="57912" y="56388"/>
                  </a:moveTo>
                  <a:lnTo>
                    <a:pt x="57912" y="27432"/>
                  </a:lnTo>
                  <a:lnTo>
                    <a:pt x="28956" y="56388"/>
                  </a:lnTo>
                  <a:lnTo>
                    <a:pt x="57912" y="56388"/>
                  </a:lnTo>
                  <a:close/>
                </a:path>
                <a:path w="2844165" h="1485900">
                  <a:moveTo>
                    <a:pt x="57912" y="1427988"/>
                  </a:moveTo>
                  <a:lnTo>
                    <a:pt x="57912" y="56388"/>
                  </a:lnTo>
                  <a:lnTo>
                    <a:pt x="28956" y="56388"/>
                  </a:lnTo>
                  <a:lnTo>
                    <a:pt x="28956" y="1427988"/>
                  </a:lnTo>
                  <a:lnTo>
                    <a:pt x="57912" y="1427988"/>
                  </a:lnTo>
                  <a:close/>
                </a:path>
                <a:path w="2844165" h="1485900">
                  <a:moveTo>
                    <a:pt x="2814828" y="1427988"/>
                  </a:moveTo>
                  <a:lnTo>
                    <a:pt x="28956" y="1427988"/>
                  </a:lnTo>
                  <a:lnTo>
                    <a:pt x="57912" y="1456944"/>
                  </a:lnTo>
                  <a:lnTo>
                    <a:pt x="57912" y="1485900"/>
                  </a:lnTo>
                  <a:lnTo>
                    <a:pt x="2785872" y="1485900"/>
                  </a:lnTo>
                  <a:lnTo>
                    <a:pt x="2785872" y="1456944"/>
                  </a:lnTo>
                  <a:lnTo>
                    <a:pt x="2814828" y="1427988"/>
                  </a:lnTo>
                  <a:close/>
                </a:path>
                <a:path w="2844165" h="1485900">
                  <a:moveTo>
                    <a:pt x="57912" y="1485900"/>
                  </a:moveTo>
                  <a:lnTo>
                    <a:pt x="57912" y="1456944"/>
                  </a:lnTo>
                  <a:lnTo>
                    <a:pt x="28956" y="1427988"/>
                  </a:lnTo>
                  <a:lnTo>
                    <a:pt x="28956" y="1485900"/>
                  </a:lnTo>
                  <a:lnTo>
                    <a:pt x="57912" y="1485900"/>
                  </a:lnTo>
                  <a:close/>
                </a:path>
                <a:path w="2844165" h="1485900">
                  <a:moveTo>
                    <a:pt x="2814828" y="56388"/>
                  </a:moveTo>
                  <a:lnTo>
                    <a:pt x="2785872" y="27432"/>
                  </a:lnTo>
                  <a:lnTo>
                    <a:pt x="2785872" y="56388"/>
                  </a:lnTo>
                  <a:lnTo>
                    <a:pt x="2814828" y="56388"/>
                  </a:lnTo>
                  <a:close/>
                </a:path>
                <a:path w="2844165" h="1485900">
                  <a:moveTo>
                    <a:pt x="2814828" y="1427988"/>
                  </a:moveTo>
                  <a:lnTo>
                    <a:pt x="2814828" y="56388"/>
                  </a:lnTo>
                  <a:lnTo>
                    <a:pt x="2785872" y="56388"/>
                  </a:lnTo>
                  <a:lnTo>
                    <a:pt x="2785872" y="1427988"/>
                  </a:lnTo>
                  <a:lnTo>
                    <a:pt x="2814828" y="1427988"/>
                  </a:lnTo>
                  <a:close/>
                </a:path>
                <a:path w="2844165" h="1485900">
                  <a:moveTo>
                    <a:pt x="2814828" y="1485900"/>
                  </a:moveTo>
                  <a:lnTo>
                    <a:pt x="2814828" y="1427988"/>
                  </a:lnTo>
                  <a:lnTo>
                    <a:pt x="2785872" y="1456944"/>
                  </a:lnTo>
                  <a:lnTo>
                    <a:pt x="2785872" y="1485900"/>
                  </a:lnTo>
                  <a:lnTo>
                    <a:pt x="2814828" y="1485900"/>
                  </a:lnTo>
                  <a:close/>
                </a:path>
              </a:pathLst>
            </a:custGeom>
            <a:solidFill>
              <a:srgbClr val="7C5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90190" y="5888225"/>
            <a:ext cx="17570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Autômatos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finitos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Expressões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regulares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Gramáticas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regulares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435356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Na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aula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passada...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Expressões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regulares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96771"/>
            <a:ext cx="2857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</a:rPr>
              <a:t>Na</a:t>
            </a:r>
            <a:r>
              <a:rPr sz="2800" spc="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</a:rPr>
              <a:t>aula</a:t>
            </a:r>
            <a:r>
              <a:rPr sz="28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</a:rPr>
              <a:t>de</a:t>
            </a:r>
            <a:r>
              <a:rPr sz="28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hoje...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822195"/>
            <a:ext cx="8559165" cy="2908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Arial"/>
              <a:buChar char="•"/>
              <a:tabLst>
                <a:tab pos="241300" algn="l"/>
                <a:tab pos="5955665" algn="l"/>
              </a:tabLst>
            </a:pPr>
            <a:r>
              <a:rPr sz="2800" dirty="0">
                <a:solidFill>
                  <a:srgbClr val="0032CC"/>
                </a:solidFill>
                <a:latin typeface="Comic Sans MS"/>
                <a:cs typeface="Comic Sans MS"/>
              </a:rPr>
              <a:t>Linguagens</a:t>
            </a:r>
            <a:r>
              <a:rPr sz="2800" spc="-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2CC"/>
                </a:solidFill>
                <a:latin typeface="Comic Sans MS"/>
                <a:cs typeface="Comic Sans MS"/>
              </a:rPr>
              <a:t>regulares:</a:t>
            </a:r>
            <a:r>
              <a:rPr sz="2800" spc="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omic Sans MS"/>
                <a:cs typeface="Comic Sans MS"/>
              </a:rPr>
              <a:t>Gramáticas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Comic Sans MS"/>
                <a:cs typeface="Comic Sans MS"/>
              </a:rPr>
              <a:t>regulares</a:t>
            </a:r>
            <a:endParaRPr sz="2800">
              <a:latin typeface="Comic Sans MS"/>
              <a:cs typeface="Comic Sans MS"/>
            </a:endParaRPr>
          </a:p>
          <a:p>
            <a:pPr marL="241300" indent="-228600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omic Sans MS"/>
                <a:cs typeface="Comic Sans MS"/>
              </a:rPr>
              <a:t>Referência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bibliográfica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2115"/>
              </a:spcBef>
              <a:tabLst>
                <a:tab pos="1891664" algn="l"/>
                <a:tab pos="3150235" algn="l"/>
                <a:tab pos="4318000" algn="l"/>
                <a:tab pos="5166995" algn="l"/>
                <a:tab pos="6268720" algn="l"/>
                <a:tab pos="6999605" algn="l"/>
              </a:tabLst>
            </a:pP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RAMOS,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M.V.M.;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NETO,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J.J.;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VEGA,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0032CC"/>
                </a:solidFill>
                <a:latin typeface="Comic Sans MS"/>
                <a:cs typeface="Comic Sans MS"/>
              </a:rPr>
              <a:t>I.S.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i="1" spc="-10" dirty="0">
                <a:solidFill>
                  <a:srgbClr val="0032CC"/>
                </a:solidFill>
                <a:latin typeface="Comic Sans MS"/>
                <a:cs typeface="Comic Sans MS"/>
              </a:rPr>
              <a:t>Linguagens</a:t>
            </a:r>
            <a:endParaRPr sz="2400">
              <a:latin typeface="Comic Sans MS"/>
              <a:cs typeface="Comic Sans MS"/>
            </a:endParaRPr>
          </a:p>
          <a:p>
            <a:pPr marL="469900" marR="5080">
              <a:lnSpc>
                <a:spcPct val="150000"/>
              </a:lnSpc>
              <a:tabLst>
                <a:tab pos="1865630" algn="l"/>
                <a:tab pos="3074035" algn="l"/>
                <a:tab pos="4806950" algn="l"/>
                <a:tab pos="5109845" algn="l"/>
              </a:tabLst>
            </a:pPr>
            <a:r>
              <a:rPr sz="2400" b="1" i="1" spc="-10" dirty="0">
                <a:solidFill>
                  <a:srgbClr val="0032CC"/>
                </a:solidFill>
                <a:latin typeface="Comic Sans MS"/>
                <a:cs typeface="Comic Sans MS"/>
              </a:rPr>
              <a:t>Formais: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i="1" spc="-10" dirty="0">
                <a:solidFill>
                  <a:srgbClr val="0032CC"/>
                </a:solidFill>
                <a:latin typeface="Comic Sans MS"/>
                <a:cs typeface="Comic Sans MS"/>
              </a:rPr>
              <a:t>Teoria,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i="1" spc="-10" dirty="0">
                <a:solidFill>
                  <a:srgbClr val="0032CC"/>
                </a:solidFill>
                <a:latin typeface="Comic Sans MS"/>
                <a:cs typeface="Comic Sans MS"/>
              </a:rPr>
              <a:t>Modelagem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i="1" spc="-50" dirty="0">
                <a:solidFill>
                  <a:srgbClr val="0032CC"/>
                </a:solidFill>
                <a:latin typeface="Comic Sans MS"/>
                <a:cs typeface="Comic Sans MS"/>
              </a:rPr>
              <a:t>e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0032CC"/>
                </a:solidFill>
                <a:latin typeface="Comic Sans MS"/>
                <a:cs typeface="Comic Sans MS"/>
              </a:rPr>
              <a:t>Implementação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.</a:t>
            </a:r>
            <a:r>
              <a:rPr sz="2400" spc="3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Editora</a:t>
            </a:r>
            <a:r>
              <a:rPr sz="2400" spc="-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Bookman</a:t>
            </a:r>
            <a:r>
              <a:rPr sz="2400" spc="10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2009.</a:t>
            </a:r>
            <a:r>
              <a:rPr sz="2400" spc="9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400" spc="9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Capítulo</a:t>
            </a:r>
            <a:r>
              <a:rPr sz="2400" spc="10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32CC"/>
                </a:solidFill>
                <a:latin typeface="Comic Sans MS"/>
                <a:cs typeface="Comic Sans MS"/>
              </a:rPr>
              <a:t>3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37919"/>
            <a:ext cx="2766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Relembrando...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696" y="1723744"/>
            <a:ext cx="8557260" cy="440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78130" algn="l"/>
              </a:tabLst>
            </a:pPr>
            <a:r>
              <a:rPr sz="3200" dirty="0">
                <a:latin typeface="Comic Sans MS"/>
                <a:cs typeface="Comic Sans MS"/>
              </a:rPr>
              <a:t>Uma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regular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é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o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conjunto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Comic Sans MS"/>
                <a:cs typeface="Comic Sans MS"/>
              </a:rPr>
              <a:t>de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linguagens</a:t>
            </a:r>
            <a:r>
              <a:rPr sz="3200" spc="660" dirty="0">
                <a:latin typeface="Times New Roman"/>
                <a:cs typeface="Times New Roman"/>
              </a:rPr>
              <a:t>     </a:t>
            </a:r>
            <a:r>
              <a:rPr sz="3200" dirty="0">
                <a:latin typeface="Comic Sans MS"/>
                <a:cs typeface="Comic Sans MS"/>
              </a:rPr>
              <a:t>reconhecida/gerada</a:t>
            </a:r>
            <a:r>
              <a:rPr sz="3200" spc="655" dirty="0">
                <a:latin typeface="Times New Roman"/>
                <a:cs typeface="Times New Roman"/>
              </a:rPr>
              <a:t>     </a:t>
            </a:r>
            <a:r>
              <a:rPr sz="3200" spc="-10" dirty="0">
                <a:latin typeface="Comic Sans MS"/>
                <a:cs typeface="Comic Sans MS"/>
              </a:rPr>
              <a:t>pelos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seguintes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formalismos:</a:t>
            </a:r>
            <a:endParaRPr sz="32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450"/>
              </a:spcBef>
              <a:buFont typeface="Arial"/>
              <a:buChar char="•"/>
              <a:tabLst>
                <a:tab pos="698500" algn="l"/>
              </a:tabLst>
            </a:pPr>
            <a:r>
              <a:rPr sz="2800" b="1" dirty="0">
                <a:latin typeface="Comic Sans MS"/>
                <a:cs typeface="Comic Sans MS"/>
              </a:rPr>
              <a:t>Expressões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omic Sans MS"/>
                <a:cs typeface="Comic Sans MS"/>
              </a:rPr>
              <a:t>regulares</a:t>
            </a:r>
            <a:endParaRPr sz="28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698500" algn="l"/>
              </a:tabLst>
            </a:pPr>
            <a:r>
              <a:rPr sz="2800" dirty="0">
                <a:latin typeface="Comic Sans MS"/>
                <a:cs typeface="Comic Sans MS"/>
              </a:rPr>
              <a:t>Gramáticas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regulares</a:t>
            </a:r>
            <a:endParaRPr sz="28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355"/>
              </a:spcBef>
              <a:buFont typeface="Arial"/>
              <a:buChar char="•"/>
              <a:tabLst>
                <a:tab pos="698500" algn="l"/>
              </a:tabLst>
            </a:pPr>
            <a:r>
              <a:rPr sz="2800" dirty="0">
                <a:latin typeface="Comic Sans MS"/>
                <a:cs typeface="Comic Sans MS"/>
              </a:rPr>
              <a:t>Autômatos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finitos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7531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Os</a:t>
            </a:r>
            <a:r>
              <a:rPr sz="32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2CC"/>
                </a:solidFill>
              </a:rPr>
              <a:t>operadores</a:t>
            </a:r>
            <a:r>
              <a:rPr sz="3200" spc="14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</a:t>
            </a:r>
            <a:r>
              <a:rPr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expressões</a:t>
            </a:r>
            <a:r>
              <a:rPr sz="32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regulares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380847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701" y="1942591"/>
            <a:ext cx="8068945" cy="270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00"/>
              </a:spcBef>
              <a:buSzPct val="96875"/>
              <a:buFont typeface="Arial"/>
              <a:buChar char="•"/>
              <a:tabLst>
                <a:tab pos="156210" algn="l"/>
              </a:tabLst>
            </a:pPr>
            <a:r>
              <a:rPr sz="3200" dirty="0">
                <a:latin typeface="Comic Sans MS"/>
                <a:cs typeface="Comic Sans MS"/>
              </a:rPr>
              <a:t>Os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tipos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de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operadores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sobre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ER’s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Comic Sans MS"/>
                <a:cs typeface="Comic Sans MS"/>
              </a:rPr>
              <a:t>são:</a:t>
            </a:r>
            <a:endParaRPr sz="3200">
              <a:latin typeface="Comic Sans MS"/>
              <a:cs typeface="Comic Sans MS"/>
            </a:endParaRPr>
          </a:p>
          <a:p>
            <a:pPr marL="594360" lvl="1" indent="-125730">
              <a:lnSpc>
                <a:spcPct val="100000"/>
              </a:lnSpc>
              <a:spcBef>
                <a:spcPts val="2455"/>
              </a:spcBef>
              <a:buSzPct val="96428"/>
              <a:buFont typeface="Arial"/>
              <a:buChar char="•"/>
              <a:tabLst>
                <a:tab pos="594995" algn="l"/>
              </a:tabLst>
            </a:pPr>
            <a:r>
              <a:rPr sz="2800" dirty="0">
                <a:latin typeface="Comic Sans MS"/>
                <a:cs typeface="Comic Sans MS"/>
              </a:rPr>
              <a:t>União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(+)</a:t>
            </a:r>
            <a:endParaRPr sz="2800">
              <a:latin typeface="Comic Sans MS"/>
              <a:cs typeface="Comic Sans MS"/>
            </a:endParaRPr>
          </a:p>
          <a:p>
            <a:pPr marL="594360" lvl="1" indent="-125730">
              <a:lnSpc>
                <a:spcPct val="100000"/>
              </a:lnSpc>
              <a:spcBef>
                <a:spcPts val="2350"/>
              </a:spcBef>
              <a:buSzPct val="96428"/>
              <a:buFont typeface="Arial"/>
              <a:buChar char="•"/>
              <a:tabLst>
                <a:tab pos="594995" algn="l"/>
              </a:tabLst>
            </a:pPr>
            <a:r>
              <a:rPr sz="2800" dirty="0">
                <a:latin typeface="Comic Sans MS"/>
                <a:cs typeface="Comic Sans MS"/>
              </a:rPr>
              <a:t>Concatenação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(.)</a:t>
            </a:r>
            <a:endParaRPr sz="2800">
              <a:latin typeface="Comic Sans MS"/>
              <a:cs typeface="Comic Sans MS"/>
            </a:endParaRPr>
          </a:p>
          <a:p>
            <a:pPr marL="594360" lvl="1" indent="-125730">
              <a:lnSpc>
                <a:spcPct val="100000"/>
              </a:lnSpc>
              <a:spcBef>
                <a:spcPts val="2355"/>
              </a:spcBef>
              <a:buSzPct val="96428"/>
              <a:buFont typeface="Arial"/>
              <a:buChar char="•"/>
              <a:tabLst>
                <a:tab pos="594995" algn="l"/>
              </a:tabLst>
            </a:pPr>
            <a:r>
              <a:rPr sz="2800" dirty="0">
                <a:latin typeface="Comic Sans MS"/>
                <a:cs typeface="Comic Sans MS"/>
              </a:rPr>
              <a:t>Fechamento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(*)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653478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32CC"/>
                </a:solidFill>
              </a:rPr>
              <a:t>Exemplos</a:t>
            </a:r>
            <a:r>
              <a:rPr sz="3200" spc="12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</a:t>
            </a:r>
            <a:r>
              <a:rPr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expressões</a:t>
            </a:r>
            <a:r>
              <a:rPr sz="32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regulares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0286" y="2272283"/>
            <a:ext cx="7943215" cy="1506220"/>
            <a:chOff x="1740286" y="2272283"/>
            <a:chExt cx="7943215" cy="1506220"/>
          </a:xfrm>
        </p:grpSpPr>
        <p:sp>
          <p:nvSpPr>
            <p:cNvPr id="8" name="object 8"/>
            <p:cNvSpPr/>
            <p:nvPr/>
          </p:nvSpPr>
          <p:spPr>
            <a:xfrm>
              <a:off x="1746382" y="2278379"/>
              <a:ext cx="7931150" cy="594360"/>
            </a:xfrm>
            <a:custGeom>
              <a:avLst/>
              <a:gdLst/>
              <a:ahLst/>
              <a:cxnLst/>
              <a:rect l="l" t="t" r="r" b="b"/>
              <a:pathLst>
                <a:path w="7931150" h="594360">
                  <a:moveTo>
                    <a:pt x="0" y="594359"/>
                  </a:moveTo>
                  <a:lnTo>
                    <a:pt x="7930895" y="594359"/>
                  </a:lnTo>
                  <a:lnTo>
                    <a:pt x="7930895" y="0"/>
                  </a:lnTo>
                  <a:lnTo>
                    <a:pt x="0" y="0"/>
                  </a:lnTo>
                  <a:lnTo>
                    <a:pt x="0" y="5943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46377" y="2910839"/>
              <a:ext cx="7931150" cy="867410"/>
            </a:xfrm>
            <a:custGeom>
              <a:avLst/>
              <a:gdLst/>
              <a:ahLst/>
              <a:cxnLst/>
              <a:rect l="l" t="t" r="r" b="b"/>
              <a:pathLst>
                <a:path w="7931150" h="867410">
                  <a:moveTo>
                    <a:pt x="7930896" y="0"/>
                  </a:moveTo>
                  <a:lnTo>
                    <a:pt x="3915156" y="0"/>
                  </a:lnTo>
                  <a:lnTo>
                    <a:pt x="0" y="0"/>
                  </a:lnTo>
                  <a:lnTo>
                    <a:pt x="0" y="867168"/>
                  </a:lnTo>
                  <a:lnTo>
                    <a:pt x="3915156" y="867168"/>
                  </a:lnTo>
                  <a:lnTo>
                    <a:pt x="7930896" y="867168"/>
                  </a:lnTo>
                  <a:lnTo>
                    <a:pt x="793089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0281" y="2272283"/>
              <a:ext cx="7943215" cy="1506220"/>
            </a:xfrm>
            <a:custGeom>
              <a:avLst/>
              <a:gdLst/>
              <a:ahLst/>
              <a:cxnLst/>
              <a:rect l="l" t="t" r="r" b="b"/>
              <a:pathLst>
                <a:path w="7943215" h="1506220">
                  <a:moveTo>
                    <a:pt x="7943088" y="0"/>
                  </a:moveTo>
                  <a:lnTo>
                    <a:pt x="7930896" y="0"/>
                  </a:lnTo>
                  <a:lnTo>
                    <a:pt x="7930896" y="12192"/>
                  </a:lnTo>
                  <a:lnTo>
                    <a:pt x="7930896" y="600456"/>
                  </a:lnTo>
                  <a:lnTo>
                    <a:pt x="12192" y="600456"/>
                  </a:lnTo>
                  <a:lnTo>
                    <a:pt x="12192" y="12192"/>
                  </a:lnTo>
                  <a:lnTo>
                    <a:pt x="7930896" y="12192"/>
                  </a:lnTo>
                  <a:lnTo>
                    <a:pt x="7930896" y="0"/>
                  </a:lnTo>
                  <a:lnTo>
                    <a:pt x="0" y="0"/>
                  </a:lnTo>
                  <a:lnTo>
                    <a:pt x="0" y="12192"/>
                  </a:lnTo>
                  <a:lnTo>
                    <a:pt x="0" y="600456"/>
                  </a:lnTo>
                  <a:lnTo>
                    <a:pt x="0" y="638556"/>
                  </a:lnTo>
                  <a:lnTo>
                    <a:pt x="0" y="1505724"/>
                  </a:lnTo>
                  <a:lnTo>
                    <a:pt x="12192" y="1505724"/>
                  </a:lnTo>
                  <a:lnTo>
                    <a:pt x="12192" y="638556"/>
                  </a:lnTo>
                  <a:lnTo>
                    <a:pt x="3915156" y="638556"/>
                  </a:lnTo>
                  <a:lnTo>
                    <a:pt x="3915156" y="1505724"/>
                  </a:lnTo>
                  <a:lnTo>
                    <a:pt x="3927348" y="1505724"/>
                  </a:lnTo>
                  <a:lnTo>
                    <a:pt x="3927348" y="638556"/>
                  </a:lnTo>
                  <a:lnTo>
                    <a:pt x="7930896" y="638556"/>
                  </a:lnTo>
                  <a:lnTo>
                    <a:pt x="7930896" y="1505724"/>
                  </a:lnTo>
                  <a:lnTo>
                    <a:pt x="7943088" y="1505724"/>
                  </a:lnTo>
                  <a:lnTo>
                    <a:pt x="7943088" y="638556"/>
                  </a:lnTo>
                  <a:lnTo>
                    <a:pt x="7943088" y="600456"/>
                  </a:lnTo>
                  <a:lnTo>
                    <a:pt x="7943088" y="12192"/>
                  </a:lnTo>
                  <a:lnTo>
                    <a:pt x="7943088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20371" y="2293111"/>
            <a:ext cx="1581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omic Sans MS"/>
                <a:cs typeface="Comic Sans MS"/>
              </a:rPr>
              <a:t>Exemplos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5128" y="2910330"/>
            <a:ext cx="37560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9605" algn="l"/>
                <a:tab pos="1487805" algn="l"/>
                <a:tab pos="2635250" algn="l"/>
                <a:tab pos="3355975" algn="l"/>
              </a:tabLst>
            </a:pPr>
            <a:r>
              <a:rPr sz="2000" spc="-25" dirty="0">
                <a:latin typeface="Comic Sans MS"/>
                <a:cs typeface="Comic Sans MS"/>
              </a:rPr>
              <a:t>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Comic Sans MS"/>
                <a:cs typeface="Comic Sans MS"/>
              </a:rPr>
              <a:t>para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omic Sans MS"/>
                <a:cs typeface="Comic Sans MS"/>
              </a:rPr>
              <a:t>strings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Comic Sans MS"/>
                <a:cs typeface="Comic Sans MS"/>
              </a:rPr>
              <a:t>que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Comic Sans MS"/>
                <a:cs typeface="Comic Sans MS"/>
              </a:rPr>
              <a:t>são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4554" y="2910330"/>
            <a:ext cx="1030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ER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01*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4073" y="3777996"/>
            <a:ext cx="9144000" cy="3429000"/>
            <a:chOff x="774073" y="3777996"/>
            <a:chExt cx="9144000" cy="3429000"/>
          </a:xfrm>
        </p:grpSpPr>
        <p:sp>
          <p:nvSpPr>
            <p:cNvPr id="15" name="object 15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0" y="0"/>
                  </a:moveTo>
                  <a:lnTo>
                    <a:pt x="0" y="3428999"/>
                  </a:lnTo>
                  <a:lnTo>
                    <a:pt x="9143999" y="3428999"/>
                  </a:lnTo>
                  <a:lnTo>
                    <a:pt x="9143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6377" y="3778008"/>
              <a:ext cx="7931150" cy="424180"/>
            </a:xfrm>
            <a:custGeom>
              <a:avLst/>
              <a:gdLst/>
              <a:ahLst/>
              <a:cxnLst/>
              <a:rect l="l" t="t" r="r" b="b"/>
              <a:pathLst>
                <a:path w="7931150" h="424179">
                  <a:moveTo>
                    <a:pt x="7930896" y="0"/>
                  </a:moveTo>
                  <a:lnTo>
                    <a:pt x="3915156" y="0"/>
                  </a:lnTo>
                  <a:lnTo>
                    <a:pt x="0" y="0"/>
                  </a:lnTo>
                  <a:lnTo>
                    <a:pt x="0" y="423659"/>
                  </a:lnTo>
                  <a:lnTo>
                    <a:pt x="3915156" y="423659"/>
                  </a:lnTo>
                  <a:lnTo>
                    <a:pt x="7930896" y="423659"/>
                  </a:lnTo>
                  <a:lnTo>
                    <a:pt x="793089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46377" y="4201667"/>
              <a:ext cx="7931150" cy="1511935"/>
            </a:xfrm>
            <a:custGeom>
              <a:avLst/>
              <a:gdLst/>
              <a:ahLst/>
              <a:cxnLst/>
              <a:rect l="l" t="t" r="r" b="b"/>
              <a:pathLst>
                <a:path w="7931150" h="1511935">
                  <a:moveTo>
                    <a:pt x="7930896" y="0"/>
                  </a:moveTo>
                  <a:lnTo>
                    <a:pt x="3915156" y="0"/>
                  </a:lnTo>
                  <a:lnTo>
                    <a:pt x="0" y="0"/>
                  </a:lnTo>
                  <a:lnTo>
                    <a:pt x="0" y="1511808"/>
                  </a:lnTo>
                  <a:lnTo>
                    <a:pt x="3915156" y="1511808"/>
                  </a:lnTo>
                  <a:lnTo>
                    <a:pt x="7930896" y="1511808"/>
                  </a:lnTo>
                  <a:lnTo>
                    <a:pt x="793089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0281" y="3778008"/>
              <a:ext cx="7943215" cy="1941830"/>
            </a:xfrm>
            <a:custGeom>
              <a:avLst/>
              <a:gdLst/>
              <a:ahLst/>
              <a:cxnLst/>
              <a:rect l="l" t="t" r="r" b="b"/>
              <a:pathLst>
                <a:path w="7943215" h="1941829">
                  <a:moveTo>
                    <a:pt x="7943088" y="0"/>
                  </a:moveTo>
                  <a:lnTo>
                    <a:pt x="7930896" y="0"/>
                  </a:lnTo>
                  <a:lnTo>
                    <a:pt x="7930896" y="417563"/>
                  </a:lnTo>
                  <a:lnTo>
                    <a:pt x="7930896" y="431279"/>
                  </a:lnTo>
                  <a:lnTo>
                    <a:pt x="7930896" y="1929371"/>
                  </a:lnTo>
                  <a:lnTo>
                    <a:pt x="3927348" y="1929371"/>
                  </a:lnTo>
                  <a:lnTo>
                    <a:pt x="3927348" y="431279"/>
                  </a:lnTo>
                  <a:lnTo>
                    <a:pt x="7930896" y="431279"/>
                  </a:lnTo>
                  <a:lnTo>
                    <a:pt x="7930896" y="417563"/>
                  </a:lnTo>
                  <a:lnTo>
                    <a:pt x="3927348" y="417563"/>
                  </a:lnTo>
                  <a:lnTo>
                    <a:pt x="3927348" y="0"/>
                  </a:lnTo>
                  <a:lnTo>
                    <a:pt x="3915156" y="0"/>
                  </a:lnTo>
                  <a:lnTo>
                    <a:pt x="3915156" y="417563"/>
                  </a:lnTo>
                  <a:lnTo>
                    <a:pt x="3915156" y="431279"/>
                  </a:lnTo>
                  <a:lnTo>
                    <a:pt x="3915156" y="1929371"/>
                  </a:lnTo>
                  <a:lnTo>
                    <a:pt x="12192" y="1929371"/>
                  </a:lnTo>
                  <a:lnTo>
                    <a:pt x="12192" y="431279"/>
                  </a:lnTo>
                  <a:lnTo>
                    <a:pt x="3915156" y="431279"/>
                  </a:lnTo>
                  <a:lnTo>
                    <a:pt x="3915156" y="417563"/>
                  </a:lnTo>
                  <a:lnTo>
                    <a:pt x="12192" y="417563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417563"/>
                  </a:lnTo>
                  <a:lnTo>
                    <a:pt x="0" y="431279"/>
                  </a:lnTo>
                  <a:lnTo>
                    <a:pt x="0" y="1929371"/>
                  </a:lnTo>
                  <a:lnTo>
                    <a:pt x="0" y="1941563"/>
                  </a:lnTo>
                  <a:lnTo>
                    <a:pt x="12192" y="1941563"/>
                  </a:lnTo>
                  <a:lnTo>
                    <a:pt x="3915156" y="1941563"/>
                  </a:lnTo>
                  <a:lnTo>
                    <a:pt x="3927348" y="1941563"/>
                  </a:lnTo>
                  <a:lnTo>
                    <a:pt x="7930896" y="1941563"/>
                  </a:lnTo>
                  <a:lnTo>
                    <a:pt x="7943088" y="1941563"/>
                  </a:lnTo>
                  <a:lnTo>
                    <a:pt x="7943088" y="1929371"/>
                  </a:lnTo>
                  <a:lnTo>
                    <a:pt x="7943088" y="431279"/>
                  </a:lnTo>
                  <a:lnTo>
                    <a:pt x="7943088" y="417563"/>
                  </a:lnTo>
                  <a:lnTo>
                    <a:pt x="7943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25128" y="3215130"/>
            <a:ext cx="37598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formadas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por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zero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seguido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por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qualquer</a:t>
            </a:r>
            <a:r>
              <a:rPr sz="2000" spc="44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Comic Sans MS"/>
                <a:cs typeface="Comic Sans MS"/>
              </a:rPr>
              <a:t>ocorrência</a:t>
            </a:r>
            <a:r>
              <a:rPr sz="2000" spc="44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450" dirty="0">
                <a:latin typeface="Times New Roman"/>
                <a:cs typeface="Times New Roman"/>
              </a:rPr>
              <a:t>   </a:t>
            </a:r>
            <a:r>
              <a:rPr sz="2000" spc="-50" dirty="0">
                <a:latin typeface="Comic Sans MS"/>
                <a:cs typeface="Comic Sans MS"/>
              </a:rPr>
              <a:t>1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(inclusive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nenhuma)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1825128" y="4220970"/>
            <a:ext cx="3757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ER</a:t>
            </a:r>
            <a:r>
              <a:rPr sz="2000" spc="5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formada</a:t>
            </a:r>
            <a:r>
              <a:rPr sz="2000" spc="5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por</a:t>
            </a:r>
            <a:r>
              <a:rPr sz="2000" spc="5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todas</a:t>
            </a:r>
            <a:r>
              <a:rPr sz="2000" spc="59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Comic Sans MS"/>
                <a:cs typeface="Comic Sans MS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palavras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sobre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(a,b)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Comic Sans MS"/>
                <a:cs typeface="Comic Sans MS"/>
              </a:rPr>
              <a:t>contendo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omic Sans MS"/>
                <a:cs typeface="Comic Sans MS"/>
              </a:rPr>
              <a:t>aa</a:t>
            </a:r>
            <a:r>
              <a:rPr sz="2000" spc="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como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subpalavra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3806" y="4220970"/>
            <a:ext cx="2332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ER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(a+b)*aa(a+b)*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4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5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37919"/>
            <a:ext cx="2766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Relembrando...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696" y="1723744"/>
            <a:ext cx="8557260" cy="440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78130" algn="l"/>
              </a:tabLst>
            </a:pPr>
            <a:r>
              <a:rPr sz="3200" dirty="0">
                <a:latin typeface="Comic Sans MS"/>
                <a:cs typeface="Comic Sans MS"/>
              </a:rPr>
              <a:t>Uma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regular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é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o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conjunto</a:t>
            </a:r>
            <a:r>
              <a:rPr sz="3200" spc="32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Comic Sans MS"/>
                <a:cs typeface="Comic Sans MS"/>
              </a:rPr>
              <a:t>de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linguagens</a:t>
            </a:r>
            <a:r>
              <a:rPr sz="3200" spc="650" dirty="0">
                <a:latin typeface="Times New Roman"/>
                <a:cs typeface="Times New Roman"/>
              </a:rPr>
              <a:t>     </a:t>
            </a:r>
            <a:r>
              <a:rPr sz="3200" dirty="0">
                <a:latin typeface="Comic Sans MS"/>
                <a:cs typeface="Comic Sans MS"/>
              </a:rPr>
              <a:t>reconhecido/gerado</a:t>
            </a:r>
            <a:r>
              <a:rPr sz="3200" spc="650" dirty="0">
                <a:latin typeface="Times New Roman"/>
                <a:cs typeface="Times New Roman"/>
              </a:rPr>
              <a:t>     </a:t>
            </a:r>
            <a:r>
              <a:rPr sz="3200" spc="-10" dirty="0">
                <a:latin typeface="Comic Sans MS"/>
                <a:cs typeface="Comic Sans MS"/>
              </a:rPr>
              <a:t>pelos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seguintes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formalismos:</a:t>
            </a:r>
            <a:endParaRPr sz="32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450"/>
              </a:spcBef>
              <a:buFont typeface="Arial"/>
              <a:buChar char="•"/>
              <a:tabLst>
                <a:tab pos="698500" algn="l"/>
              </a:tabLst>
            </a:pPr>
            <a:r>
              <a:rPr sz="2800" dirty="0">
                <a:latin typeface="Comic Sans MS"/>
                <a:cs typeface="Comic Sans MS"/>
              </a:rPr>
              <a:t>Expressões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regulares</a:t>
            </a:r>
            <a:endParaRPr sz="28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698500" algn="l"/>
              </a:tabLst>
            </a:pPr>
            <a:r>
              <a:rPr sz="2800" b="1" dirty="0">
                <a:latin typeface="Comic Sans MS"/>
                <a:cs typeface="Comic Sans MS"/>
              </a:rPr>
              <a:t>Gramáticas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omic Sans MS"/>
                <a:cs typeface="Comic Sans MS"/>
              </a:rPr>
              <a:t>regulares</a:t>
            </a:r>
            <a:endParaRPr sz="2800">
              <a:latin typeface="Comic Sans MS"/>
              <a:cs typeface="Comic Sans MS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355"/>
              </a:spcBef>
              <a:buFont typeface="Arial"/>
              <a:buChar char="•"/>
              <a:tabLst>
                <a:tab pos="698500" algn="l"/>
              </a:tabLst>
            </a:pPr>
            <a:r>
              <a:rPr sz="2800" dirty="0">
                <a:latin typeface="Comic Sans MS"/>
                <a:cs typeface="Comic Sans MS"/>
              </a:rPr>
              <a:t>Autômatos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finitos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51051"/>
            <a:ext cx="15259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000000"/>
                </a:solidFill>
              </a:rPr>
              <a:t>Gramática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067696" y="1507641"/>
            <a:ext cx="855789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18440" algn="l"/>
              </a:tabLst>
            </a:pPr>
            <a:r>
              <a:rPr sz="2500" dirty="0">
                <a:latin typeface="Comic Sans MS"/>
                <a:cs typeface="Comic Sans MS"/>
              </a:rPr>
              <a:t>Uma</a:t>
            </a:r>
            <a:r>
              <a:rPr sz="2500" spc="50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gramática</a:t>
            </a:r>
            <a:r>
              <a:rPr sz="2500" spc="5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consiste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em</a:t>
            </a:r>
            <a:r>
              <a:rPr sz="2500" spc="52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uma</a:t>
            </a:r>
            <a:r>
              <a:rPr sz="2500" spc="5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ou</a:t>
            </a:r>
            <a:r>
              <a:rPr sz="25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mais</a:t>
            </a:r>
            <a:r>
              <a:rPr sz="2500" spc="5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variáveis</a:t>
            </a:r>
            <a:r>
              <a:rPr sz="2500" spc="5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Comic Sans MS"/>
                <a:cs typeface="Comic Sans MS"/>
              </a:rPr>
              <a:t>que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representam</a:t>
            </a:r>
            <a:r>
              <a:rPr sz="25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Comic Sans MS"/>
                <a:cs typeface="Comic Sans MS"/>
              </a:rPr>
              <a:t>linguagens</a:t>
            </a:r>
            <a:r>
              <a:rPr sz="2500" spc="-10" dirty="0">
                <a:latin typeface="Comic Sans MS"/>
                <a:cs typeface="Comic Sans MS"/>
              </a:rPr>
              <a:t>.</a:t>
            </a:r>
            <a:endParaRPr sz="25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650">
              <a:latin typeface="Comic Sans MS"/>
              <a:cs typeface="Comic Sans MS"/>
            </a:endParaRPr>
          </a:p>
          <a:p>
            <a:pPr marL="12700" marR="5080" algn="just">
              <a:lnSpc>
                <a:spcPct val="130000"/>
              </a:lnSpc>
              <a:spcBef>
                <a:spcPts val="5"/>
              </a:spcBef>
              <a:buFont typeface="Arial"/>
              <a:buChar char="•"/>
              <a:tabLst>
                <a:tab pos="124460" algn="l"/>
              </a:tabLst>
            </a:pPr>
            <a:r>
              <a:rPr sz="2500" dirty="0">
                <a:latin typeface="Comic Sans MS"/>
                <a:cs typeface="Comic Sans MS"/>
              </a:rPr>
              <a:t>Exemplo: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linguagem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dos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palíndromos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(permite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a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mesma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leitura</a:t>
            </a:r>
            <a:r>
              <a:rPr sz="2500" spc="5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da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esquerda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para</a:t>
            </a:r>
            <a:r>
              <a:rPr sz="2500" spc="5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direita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quanto</a:t>
            </a:r>
            <a:r>
              <a:rPr sz="2500" spc="5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da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direita</a:t>
            </a:r>
            <a:r>
              <a:rPr sz="2500" spc="5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Comic Sans MS"/>
                <a:cs typeface="Comic Sans MS"/>
              </a:rPr>
              <a:t>para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esquerda).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Ex: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E46B09"/>
                </a:solidFill>
                <a:latin typeface="Comic Sans MS"/>
                <a:cs typeface="Comic Sans MS"/>
              </a:rPr>
              <a:t>Anita</a:t>
            </a:r>
            <a:r>
              <a:rPr sz="2500" spc="3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E46B09"/>
                </a:solidFill>
                <a:latin typeface="Comic Sans MS"/>
                <a:cs typeface="Comic Sans MS"/>
              </a:rPr>
              <a:t>latina</a:t>
            </a:r>
            <a:endParaRPr sz="2500">
              <a:latin typeface="Comic Sans MS"/>
              <a:cs typeface="Comic Sans MS"/>
            </a:endParaRPr>
          </a:p>
          <a:p>
            <a:pPr marL="650875" lvl="1" indent="-181610" algn="just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651510" algn="l"/>
              </a:tabLst>
            </a:pPr>
            <a:r>
              <a:rPr sz="2200" dirty="0">
                <a:latin typeface="Comic Sans MS"/>
                <a:cs typeface="Comic Sans MS"/>
              </a:rPr>
              <a:t>Se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w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é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um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palíndromo,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então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0w0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1w1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são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palíndromos.</a:t>
            </a:r>
            <a:endParaRPr sz="2200">
              <a:latin typeface="Comic Sans MS"/>
              <a:cs typeface="Comic Sans MS"/>
            </a:endParaRPr>
          </a:p>
          <a:p>
            <a:pPr marL="568960" lvl="1" indent="-99060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568960" algn="l"/>
                <a:tab pos="1492250" algn="l"/>
                <a:tab pos="2191385" algn="l"/>
                <a:tab pos="2463165" algn="l"/>
                <a:tab pos="3844925" algn="l"/>
                <a:tab pos="4126865" algn="l"/>
                <a:tab pos="5347970" algn="l"/>
                <a:tab pos="6347460" algn="l"/>
                <a:tab pos="6908165" algn="l"/>
                <a:tab pos="7543800" algn="l"/>
              </a:tabLst>
            </a:pPr>
            <a:r>
              <a:rPr sz="2200" spc="-10" dirty="0">
                <a:latin typeface="Comic Sans MS"/>
                <a:cs typeface="Comic Sans MS"/>
              </a:rPr>
              <a:t>Neste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Comic Sans MS"/>
                <a:cs typeface="Comic Sans MS"/>
              </a:rPr>
              <a:t>caso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Comic Sans MS"/>
                <a:cs typeface="Comic Sans MS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linguagem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Comic Sans MS"/>
                <a:cs typeface="Comic Sans MS"/>
              </a:rPr>
              <a:t>é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formada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apenas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por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uma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variável</a:t>
            </a:r>
            <a:endParaRPr sz="22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</a:pPr>
            <a:r>
              <a:rPr sz="2200" b="1" spc="-20" dirty="0">
                <a:latin typeface="Comic Sans MS"/>
                <a:cs typeface="Comic Sans MS"/>
              </a:rPr>
              <a:t>(</a:t>
            </a:r>
            <a:r>
              <a:rPr sz="2200" b="1" spc="-20" dirty="0">
                <a:solidFill>
                  <a:srgbClr val="FF0000"/>
                </a:solidFill>
                <a:latin typeface="Comic Sans MS"/>
                <a:cs typeface="Comic Sans MS"/>
              </a:rPr>
              <a:t>w</a:t>
            </a:r>
            <a:r>
              <a:rPr sz="2200" b="1" spc="-20" dirty="0">
                <a:latin typeface="Comic Sans MS"/>
                <a:cs typeface="Comic Sans MS"/>
              </a:rPr>
              <a:t>).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37919"/>
            <a:ext cx="855726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omic Sans MS"/>
                <a:cs typeface="Comic Sans MS"/>
              </a:rPr>
              <a:t>Gramáticas</a:t>
            </a:r>
            <a:endParaRPr sz="3200">
              <a:latin typeface="Comic Sans MS"/>
              <a:cs typeface="Comic Sans MS"/>
            </a:endParaRPr>
          </a:p>
          <a:p>
            <a:pPr marL="12700" marR="5080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278130" algn="l"/>
                <a:tab pos="1347470" algn="l"/>
                <a:tab pos="3461385" algn="l"/>
                <a:tab pos="5268595" algn="l"/>
                <a:tab pos="6053455" algn="l"/>
                <a:tab pos="7035165" algn="l"/>
                <a:tab pos="7706995" algn="l"/>
              </a:tabLst>
            </a:pPr>
            <a:r>
              <a:rPr sz="3200" spc="-25" dirty="0">
                <a:latin typeface="Comic Sans MS"/>
                <a:cs typeface="Comic Sans MS"/>
              </a:rPr>
              <a:t>Uma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gramática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consiste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em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FF0000"/>
                </a:solidFill>
                <a:latin typeface="Comic Sans MS"/>
                <a:cs typeface="Comic Sans MS"/>
              </a:rPr>
              <a:t>uma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FF0000"/>
                </a:solidFill>
                <a:latin typeface="Comic Sans MS"/>
                <a:cs typeface="Comic Sans MS"/>
              </a:rPr>
              <a:t>ou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FF0000"/>
                </a:solidFill>
                <a:latin typeface="Comic Sans MS"/>
                <a:cs typeface="Comic Sans MS"/>
              </a:rPr>
              <a:t>mais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variáveis</a:t>
            </a:r>
            <a:r>
              <a:rPr sz="32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representam</a:t>
            </a:r>
            <a:r>
              <a:rPr sz="32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linguagens</a:t>
            </a:r>
            <a:r>
              <a:rPr sz="3200" spc="-10" dirty="0">
                <a:latin typeface="Comic Sans MS"/>
                <a:cs typeface="Comic Sans MS"/>
              </a:rPr>
              <a:t>.</a:t>
            </a:r>
            <a:endParaRPr sz="32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10974" y="4175760"/>
            <a:ext cx="1892300" cy="1986280"/>
            <a:chOff x="1910974" y="4175760"/>
            <a:chExt cx="1892300" cy="1986280"/>
          </a:xfrm>
        </p:grpSpPr>
        <p:sp>
          <p:nvSpPr>
            <p:cNvPr id="8" name="object 8"/>
            <p:cNvSpPr/>
            <p:nvPr/>
          </p:nvSpPr>
          <p:spPr>
            <a:xfrm>
              <a:off x="1917070" y="4181856"/>
              <a:ext cx="1885314" cy="1973580"/>
            </a:xfrm>
            <a:custGeom>
              <a:avLst/>
              <a:gdLst/>
              <a:ahLst/>
              <a:cxnLst/>
              <a:rect l="l" t="t" r="r" b="b"/>
              <a:pathLst>
                <a:path w="1885314" h="1973579">
                  <a:moveTo>
                    <a:pt x="1885188" y="986028"/>
                  </a:moveTo>
                  <a:lnTo>
                    <a:pt x="1884034" y="936858"/>
                  </a:lnTo>
                  <a:lnTo>
                    <a:pt x="1880608" y="888307"/>
                  </a:lnTo>
                  <a:lnTo>
                    <a:pt x="1874965" y="840432"/>
                  </a:lnTo>
                  <a:lnTo>
                    <a:pt x="1867159" y="793290"/>
                  </a:lnTo>
                  <a:lnTo>
                    <a:pt x="1857243" y="746938"/>
                  </a:lnTo>
                  <a:lnTo>
                    <a:pt x="1845273" y="701432"/>
                  </a:lnTo>
                  <a:lnTo>
                    <a:pt x="1831302" y="656829"/>
                  </a:lnTo>
                  <a:lnTo>
                    <a:pt x="1815384" y="613186"/>
                  </a:lnTo>
                  <a:lnTo>
                    <a:pt x="1797574" y="570559"/>
                  </a:lnTo>
                  <a:lnTo>
                    <a:pt x="1777926" y="529006"/>
                  </a:lnTo>
                  <a:lnTo>
                    <a:pt x="1756494" y="488583"/>
                  </a:lnTo>
                  <a:lnTo>
                    <a:pt x="1733333" y="449346"/>
                  </a:lnTo>
                  <a:lnTo>
                    <a:pt x="1708495" y="411353"/>
                  </a:lnTo>
                  <a:lnTo>
                    <a:pt x="1682037" y="374660"/>
                  </a:lnTo>
                  <a:lnTo>
                    <a:pt x="1654011" y="339324"/>
                  </a:lnTo>
                  <a:lnTo>
                    <a:pt x="1624473" y="305401"/>
                  </a:lnTo>
                  <a:lnTo>
                    <a:pt x="1593475" y="272949"/>
                  </a:lnTo>
                  <a:lnTo>
                    <a:pt x="1561074" y="242025"/>
                  </a:lnTo>
                  <a:lnTo>
                    <a:pt x="1527321" y="212684"/>
                  </a:lnTo>
                  <a:lnTo>
                    <a:pt x="1492273" y="184984"/>
                  </a:lnTo>
                  <a:lnTo>
                    <a:pt x="1455983" y="158981"/>
                  </a:lnTo>
                  <a:lnTo>
                    <a:pt x="1418505" y="134732"/>
                  </a:lnTo>
                  <a:lnTo>
                    <a:pt x="1379893" y="112295"/>
                  </a:lnTo>
                  <a:lnTo>
                    <a:pt x="1340202" y="91725"/>
                  </a:lnTo>
                  <a:lnTo>
                    <a:pt x="1299486" y="73079"/>
                  </a:lnTo>
                  <a:lnTo>
                    <a:pt x="1257799" y="56414"/>
                  </a:lnTo>
                  <a:lnTo>
                    <a:pt x="1215195" y="41788"/>
                  </a:lnTo>
                  <a:lnTo>
                    <a:pt x="1171729" y="29255"/>
                  </a:lnTo>
                  <a:lnTo>
                    <a:pt x="1127454" y="18875"/>
                  </a:lnTo>
                  <a:lnTo>
                    <a:pt x="1082425" y="10702"/>
                  </a:lnTo>
                  <a:lnTo>
                    <a:pt x="1036696" y="4794"/>
                  </a:lnTo>
                  <a:lnTo>
                    <a:pt x="990322" y="1208"/>
                  </a:lnTo>
                  <a:lnTo>
                    <a:pt x="943356" y="0"/>
                  </a:lnTo>
                  <a:lnTo>
                    <a:pt x="896255" y="1208"/>
                  </a:lnTo>
                  <a:lnTo>
                    <a:pt x="849754" y="4794"/>
                  </a:lnTo>
                  <a:lnTo>
                    <a:pt x="803907" y="10702"/>
                  </a:lnTo>
                  <a:lnTo>
                    <a:pt x="758767" y="18875"/>
                  </a:lnTo>
                  <a:lnTo>
                    <a:pt x="714389" y="29255"/>
                  </a:lnTo>
                  <a:lnTo>
                    <a:pt x="670826" y="41788"/>
                  </a:lnTo>
                  <a:lnTo>
                    <a:pt x="628133" y="56414"/>
                  </a:lnTo>
                  <a:lnTo>
                    <a:pt x="586363" y="73079"/>
                  </a:lnTo>
                  <a:lnTo>
                    <a:pt x="545571" y="91725"/>
                  </a:lnTo>
                  <a:lnTo>
                    <a:pt x="505810" y="112295"/>
                  </a:lnTo>
                  <a:lnTo>
                    <a:pt x="467134" y="134732"/>
                  </a:lnTo>
                  <a:lnTo>
                    <a:pt x="429597" y="158981"/>
                  </a:lnTo>
                  <a:lnTo>
                    <a:pt x="393253" y="184984"/>
                  </a:lnTo>
                  <a:lnTo>
                    <a:pt x="358156" y="212684"/>
                  </a:lnTo>
                  <a:lnTo>
                    <a:pt x="324361" y="242025"/>
                  </a:lnTo>
                  <a:lnTo>
                    <a:pt x="291920" y="272949"/>
                  </a:lnTo>
                  <a:lnTo>
                    <a:pt x="260888" y="305401"/>
                  </a:lnTo>
                  <a:lnTo>
                    <a:pt x="231319" y="339324"/>
                  </a:lnTo>
                  <a:lnTo>
                    <a:pt x="203267" y="374660"/>
                  </a:lnTo>
                  <a:lnTo>
                    <a:pt x="176785" y="411353"/>
                  </a:lnTo>
                  <a:lnTo>
                    <a:pt x="151928" y="449346"/>
                  </a:lnTo>
                  <a:lnTo>
                    <a:pt x="128749" y="488583"/>
                  </a:lnTo>
                  <a:lnTo>
                    <a:pt x="107303" y="529006"/>
                  </a:lnTo>
                  <a:lnTo>
                    <a:pt x="87644" y="570559"/>
                  </a:lnTo>
                  <a:lnTo>
                    <a:pt x="69825" y="613186"/>
                  </a:lnTo>
                  <a:lnTo>
                    <a:pt x="53900" y="656829"/>
                  </a:lnTo>
                  <a:lnTo>
                    <a:pt x="39923" y="701432"/>
                  </a:lnTo>
                  <a:lnTo>
                    <a:pt x="27949" y="746938"/>
                  </a:lnTo>
                  <a:lnTo>
                    <a:pt x="18031" y="793290"/>
                  </a:lnTo>
                  <a:lnTo>
                    <a:pt x="10223" y="840432"/>
                  </a:lnTo>
                  <a:lnTo>
                    <a:pt x="4579" y="888307"/>
                  </a:lnTo>
                  <a:lnTo>
                    <a:pt x="1153" y="936858"/>
                  </a:lnTo>
                  <a:lnTo>
                    <a:pt x="0" y="986028"/>
                  </a:lnTo>
                  <a:lnTo>
                    <a:pt x="1153" y="1035332"/>
                  </a:lnTo>
                  <a:lnTo>
                    <a:pt x="4579" y="1084009"/>
                  </a:lnTo>
                  <a:lnTo>
                    <a:pt x="10223" y="1132002"/>
                  </a:lnTo>
                  <a:lnTo>
                    <a:pt x="18031" y="1179254"/>
                  </a:lnTo>
                  <a:lnTo>
                    <a:pt x="27949" y="1225710"/>
                  </a:lnTo>
                  <a:lnTo>
                    <a:pt x="39923" y="1271312"/>
                  </a:lnTo>
                  <a:lnTo>
                    <a:pt x="53900" y="1316004"/>
                  </a:lnTo>
                  <a:lnTo>
                    <a:pt x="69825" y="1359730"/>
                  </a:lnTo>
                  <a:lnTo>
                    <a:pt x="87644" y="1402433"/>
                  </a:lnTo>
                  <a:lnTo>
                    <a:pt x="107303" y="1444057"/>
                  </a:lnTo>
                  <a:lnTo>
                    <a:pt x="128749" y="1484545"/>
                  </a:lnTo>
                  <a:lnTo>
                    <a:pt x="151928" y="1523840"/>
                  </a:lnTo>
                  <a:lnTo>
                    <a:pt x="176785" y="1561887"/>
                  </a:lnTo>
                  <a:lnTo>
                    <a:pt x="203267" y="1598628"/>
                  </a:lnTo>
                  <a:lnTo>
                    <a:pt x="231319" y="1634008"/>
                  </a:lnTo>
                  <a:lnTo>
                    <a:pt x="260888" y="1667969"/>
                  </a:lnTo>
                  <a:lnTo>
                    <a:pt x="291920" y="1700456"/>
                  </a:lnTo>
                  <a:lnTo>
                    <a:pt x="324361" y="1731411"/>
                  </a:lnTo>
                  <a:lnTo>
                    <a:pt x="358156" y="1760779"/>
                  </a:lnTo>
                  <a:lnTo>
                    <a:pt x="393253" y="1788502"/>
                  </a:lnTo>
                  <a:lnTo>
                    <a:pt x="429597" y="1814525"/>
                  </a:lnTo>
                  <a:lnTo>
                    <a:pt x="467134" y="1838790"/>
                  </a:lnTo>
                  <a:lnTo>
                    <a:pt x="505810" y="1861242"/>
                  </a:lnTo>
                  <a:lnTo>
                    <a:pt x="545571" y="1881824"/>
                  </a:lnTo>
                  <a:lnTo>
                    <a:pt x="586363" y="1900478"/>
                  </a:lnTo>
                  <a:lnTo>
                    <a:pt x="628133" y="1917150"/>
                  </a:lnTo>
                  <a:lnTo>
                    <a:pt x="670826" y="1931782"/>
                  </a:lnTo>
                  <a:lnTo>
                    <a:pt x="714389" y="1944318"/>
                  </a:lnTo>
                  <a:lnTo>
                    <a:pt x="758767" y="1954702"/>
                  </a:lnTo>
                  <a:lnTo>
                    <a:pt x="803907" y="1962876"/>
                  </a:lnTo>
                  <a:lnTo>
                    <a:pt x="849754" y="1968785"/>
                  </a:lnTo>
                  <a:lnTo>
                    <a:pt x="896255" y="1972371"/>
                  </a:lnTo>
                  <a:lnTo>
                    <a:pt x="943356" y="1973580"/>
                  </a:lnTo>
                  <a:lnTo>
                    <a:pt x="990322" y="1972371"/>
                  </a:lnTo>
                  <a:lnTo>
                    <a:pt x="1036696" y="1968785"/>
                  </a:lnTo>
                  <a:lnTo>
                    <a:pt x="1082425" y="1962876"/>
                  </a:lnTo>
                  <a:lnTo>
                    <a:pt x="1127454" y="1954702"/>
                  </a:lnTo>
                  <a:lnTo>
                    <a:pt x="1171729" y="1944318"/>
                  </a:lnTo>
                  <a:lnTo>
                    <a:pt x="1215195" y="1931782"/>
                  </a:lnTo>
                  <a:lnTo>
                    <a:pt x="1257799" y="1917150"/>
                  </a:lnTo>
                  <a:lnTo>
                    <a:pt x="1299486" y="1900478"/>
                  </a:lnTo>
                  <a:lnTo>
                    <a:pt x="1340202" y="1881824"/>
                  </a:lnTo>
                  <a:lnTo>
                    <a:pt x="1379893" y="1861242"/>
                  </a:lnTo>
                  <a:lnTo>
                    <a:pt x="1418505" y="1838790"/>
                  </a:lnTo>
                  <a:lnTo>
                    <a:pt x="1455983" y="1814525"/>
                  </a:lnTo>
                  <a:lnTo>
                    <a:pt x="1492273" y="1788502"/>
                  </a:lnTo>
                  <a:lnTo>
                    <a:pt x="1527321" y="1760779"/>
                  </a:lnTo>
                  <a:lnTo>
                    <a:pt x="1561074" y="1731411"/>
                  </a:lnTo>
                  <a:lnTo>
                    <a:pt x="1593475" y="1700456"/>
                  </a:lnTo>
                  <a:lnTo>
                    <a:pt x="1624473" y="1667969"/>
                  </a:lnTo>
                  <a:lnTo>
                    <a:pt x="1654011" y="1634008"/>
                  </a:lnTo>
                  <a:lnTo>
                    <a:pt x="1682037" y="1598628"/>
                  </a:lnTo>
                  <a:lnTo>
                    <a:pt x="1708495" y="1561887"/>
                  </a:lnTo>
                  <a:lnTo>
                    <a:pt x="1733333" y="1523840"/>
                  </a:lnTo>
                  <a:lnTo>
                    <a:pt x="1756494" y="1484545"/>
                  </a:lnTo>
                  <a:lnTo>
                    <a:pt x="1777926" y="1444057"/>
                  </a:lnTo>
                  <a:lnTo>
                    <a:pt x="1797574" y="1402433"/>
                  </a:lnTo>
                  <a:lnTo>
                    <a:pt x="1815384" y="1359730"/>
                  </a:lnTo>
                  <a:lnTo>
                    <a:pt x="1831302" y="1316004"/>
                  </a:lnTo>
                  <a:lnTo>
                    <a:pt x="1845273" y="1271312"/>
                  </a:lnTo>
                  <a:lnTo>
                    <a:pt x="1857243" y="1225710"/>
                  </a:lnTo>
                  <a:lnTo>
                    <a:pt x="1867159" y="1179254"/>
                  </a:lnTo>
                  <a:lnTo>
                    <a:pt x="1874965" y="1132002"/>
                  </a:lnTo>
                  <a:lnTo>
                    <a:pt x="1880608" y="1084009"/>
                  </a:lnTo>
                  <a:lnTo>
                    <a:pt x="1884034" y="1035332"/>
                  </a:lnTo>
                  <a:lnTo>
                    <a:pt x="1885188" y="98602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0974" y="4175760"/>
              <a:ext cx="1892300" cy="1986280"/>
            </a:xfrm>
            <a:custGeom>
              <a:avLst/>
              <a:gdLst/>
              <a:ahLst/>
              <a:cxnLst/>
              <a:rect l="l" t="t" r="r" b="b"/>
              <a:pathLst>
                <a:path w="1892300" h="1986279">
                  <a:moveTo>
                    <a:pt x="1866900" y="819912"/>
                  </a:moveTo>
                  <a:lnTo>
                    <a:pt x="1866900" y="745236"/>
                  </a:lnTo>
                  <a:lnTo>
                    <a:pt x="1828800" y="650748"/>
                  </a:lnTo>
                  <a:lnTo>
                    <a:pt x="1803400" y="562356"/>
                  </a:lnTo>
                  <a:lnTo>
                    <a:pt x="1778000" y="519684"/>
                  </a:lnTo>
                  <a:lnTo>
                    <a:pt x="1727200" y="437388"/>
                  </a:lnTo>
                  <a:lnTo>
                    <a:pt x="1676400" y="361188"/>
                  </a:lnTo>
                  <a:lnTo>
                    <a:pt x="1651000" y="324612"/>
                  </a:lnTo>
                  <a:lnTo>
                    <a:pt x="1587500" y="257556"/>
                  </a:lnTo>
                  <a:lnTo>
                    <a:pt x="1511300" y="196596"/>
                  </a:lnTo>
                  <a:lnTo>
                    <a:pt x="1473200" y="169164"/>
                  </a:lnTo>
                  <a:lnTo>
                    <a:pt x="1435100" y="143256"/>
                  </a:lnTo>
                  <a:lnTo>
                    <a:pt x="1358900" y="97536"/>
                  </a:lnTo>
                  <a:lnTo>
                    <a:pt x="1308100" y="77724"/>
                  </a:lnTo>
                  <a:lnTo>
                    <a:pt x="1270000" y="60960"/>
                  </a:lnTo>
                  <a:lnTo>
                    <a:pt x="1219200" y="44196"/>
                  </a:lnTo>
                  <a:lnTo>
                    <a:pt x="1181100" y="32004"/>
                  </a:lnTo>
                  <a:lnTo>
                    <a:pt x="1130300" y="19812"/>
                  </a:lnTo>
                  <a:lnTo>
                    <a:pt x="1104900" y="15240"/>
                  </a:lnTo>
                  <a:lnTo>
                    <a:pt x="1092200" y="12192"/>
                  </a:lnTo>
                  <a:lnTo>
                    <a:pt x="1066800" y="7620"/>
                  </a:lnTo>
                  <a:lnTo>
                    <a:pt x="1041400" y="4572"/>
                  </a:lnTo>
                  <a:lnTo>
                    <a:pt x="965200" y="0"/>
                  </a:lnTo>
                  <a:lnTo>
                    <a:pt x="914400" y="0"/>
                  </a:lnTo>
                  <a:lnTo>
                    <a:pt x="850900" y="4572"/>
                  </a:lnTo>
                  <a:lnTo>
                    <a:pt x="800100" y="10668"/>
                  </a:lnTo>
                  <a:lnTo>
                    <a:pt x="749300" y="19812"/>
                  </a:lnTo>
                  <a:lnTo>
                    <a:pt x="711200" y="30480"/>
                  </a:lnTo>
                  <a:lnTo>
                    <a:pt x="660400" y="44196"/>
                  </a:lnTo>
                  <a:lnTo>
                    <a:pt x="622300" y="60960"/>
                  </a:lnTo>
                  <a:lnTo>
                    <a:pt x="571500" y="77724"/>
                  </a:lnTo>
                  <a:lnTo>
                    <a:pt x="533400" y="97536"/>
                  </a:lnTo>
                  <a:lnTo>
                    <a:pt x="495300" y="120396"/>
                  </a:lnTo>
                  <a:lnTo>
                    <a:pt x="444500" y="143256"/>
                  </a:lnTo>
                  <a:lnTo>
                    <a:pt x="406400" y="169164"/>
                  </a:lnTo>
                  <a:lnTo>
                    <a:pt x="368300" y="198120"/>
                  </a:lnTo>
                  <a:lnTo>
                    <a:pt x="342900" y="227076"/>
                  </a:lnTo>
                  <a:lnTo>
                    <a:pt x="304800" y="257556"/>
                  </a:lnTo>
                  <a:lnTo>
                    <a:pt x="266700" y="291084"/>
                  </a:lnTo>
                  <a:lnTo>
                    <a:pt x="215900" y="361188"/>
                  </a:lnTo>
                  <a:lnTo>
                    <a:pt x="177800" y="399288"/>
                  </a:lnTo>
                  <a:lnTo>
                    <a:pt x="152400" y="437388"/>
                  </a:lnTo>
                  <a:lnTo>
                    <a:pt x="101600" y="519684"/>
                  </a:lnTo>
                  <a:lnTo>
                    <a:pt x="88900" y="562356"/>
                  </a:lnTo>
                  <a:lnTo>
                    <a:pt x="63500" y="606552"/>
                  </a:lnTo>
                  <a:lnTo>
                    <a:pt x="38100" y="697992"/>
                  </a:lnTo>
                  <a:lnTo>
                    <a:pt x="0" y="841248"/>
                  </a:lnTo>
                  <a:lnTo>
                    <a:pt x="0" y="999744"/>
                  </a:lnTo>
                  <a:lnTo>
                    <a:pt x="12700" y="992124"/>
                  </a:lnTo>
                  <a:lnTo>
                    <a:pt x="12700" y="842772"/>
                  </a:lnTo>
                  <a:lnTo>
                    <a:pt x="25400" y="819912"/>
                  </a:lnTo>
                  <a:lnTo>
                    <a:pt x="25400" y="795528"/>
                  </a:lnTo>
                  <a:lnTo>
                    <a:pt x="63500" y="655320"/>
                  </a:lnTo>
                  <a:lnTo>
                    <a:pt x="76200" y="611124"/>
                  </a:lnTo>
                  <a:lnTo>
                    <a:pt x="101600" y="566928"/>
                  </a:lnTo>
                  <a:lnTo>
                    <a:pt x="114300" y="525780"/>
                  </a:lnTo>
                  <a:lnTo>
                    <a:pt x="139700" y="484632"/>
                  </a:lnTo>
                  <a:lnTo>
                    <a:pt x="165100" y="445008"/>
                  </a:lnTo>
                  <a:lnTo>
                    <a:pt x="215900" y="368808"/>
                  </a:lnTo>
                  <a:lnTo>
                    <a:pt x="254000" y="333756"/>
                  </a:lnTo>
                  <a:lnTo>
                    <a:pt x="317500" y="266700"/>
                  </a:lnTo>
                  <a:lnTo>
                    <a:pt x="342900" y="236220"/>
                  </a:lnTo>
                  <a:lnTo>
                    <a:pt x="381000" y="207264"/>
                  </a:lnTo>
                  <a:lnTo>
                    <a:pt x="419100" y="179832"/>
                  </a:lnTo>
                  <a:lnTo>
                    <a:pt x="457200" y="153924"/>
                  </a:lnTo>
                  <a:lnTo>
                    <a:pt x="495300" y="131064"/>
                  </a:lnTo>
                  <a:lnTo>
                    <a:pt x="533400" y="109728"/>
                  </a:lnTo>
                  <a:lnTo>
                    <a:pt x="584200" y="89916"/>
                  </a:lnTo>
                  <a:lnTo>
                    <a:pt x="622300" y="71628"/>
                  </a:lnTo>
                  <a:lnTo>
                    <a:pt x="660400" y="56388"/>
                  </a:lnTo>
                  <a:lnTo>
                    <a:pt x="711200" y="42672"/>
                  </a:lnTo>
                  <a:lnTo>
                    <a:pt x="736600" y="38100"/>
                  </a:lnTo>
                  <a:lnTo>
                    <a:pt x="749300" y="32004"/>
                  </a:lnTo>
                  <a:lnTo>
                    <a:pt x="774700" y="27432"/>
                  </a:lnTo>
                  <a:lnTo>
                    <a:pt x="800100" y="24384"/>
                  </a:lnTo>
                  <a:lnTo>
                    <a:pt x="825500" y="19812"/>
                  </a:lnTo>
                  <a:lnTo>
                    <a:pt x="850900" y="18288"/>
                  </a:lnTo>
                  <a:lnTo>
                    <a:pt x="863600" y="15240"/>
                  </a:lnTo>
                  <a:lnTo>
                    <a:pt x="914400" y="12192"/>
                  </a:lnTo>
                  <a:lnTo>
                    <a:pt x="939800" y="12192"/>
                  </a:lnTo>
                  <a:lnTo>
                    <a:pt x="965200" y="13716"/>
                  </a:lnTo>
                  <a:lnTo>
                    <a:pt x="990600" y="13716"/>
                  </a:lnTo>
                  <a:lnTo>
                    <a:pt x="1016000" y="15240"/>
                  </a:lnTo>
                  <a:lnTo>
                    <a:pt x="1041400" y="18288"/>
                  </a:lnTo>
                  <a:lnTo>
                    <a:pt x="1079500" y="24384"/>
                  </a:lnTo>
                  <a:lnTo>
                    <a:pt x="1104900" y="27432"/>
                  </a:lnTo>
                  <a:lnTo>
                    <a:pt x="1130300" y="32004"/>
                  </a:lnTo>
                  <a:lnTo>
                    <a:pt x="1181100" y="44196"/>
                  </a:lnTo>
                  <a:lnTo>
                    <a:pt x="1219200" y="56388"/>
                  </a:lnTo>
                  <a:lnTo>
                    <a:pt x="1270000" y="71628"/>
                  </a:lnTo>
                  <a:lnTo>
                    <a:pt x="1308100" y="89916"/>
                  </a:lnTo>
                  <a:lnTo>
                    <a:pt x="1346200" y="109728"/>
                  </a:lnTo>
                  <a:lnTo>
                    <a:pt x="1384300" y="131064"/>
                  </a:lnTo>
                  <a:lnTo>
                    <a:pt x="1422400" y="153924"/>
                  </a:lnTo>
                  <a:lnTo>
                    <a:pt x="1460500" y="179832"/>
                  </a:lnTo>
                  <a:lnTo>
                    <a:pt x="1498600" y="207264"/>
                  </a:lnTo>
                  <a:lnTo>
                    <a:pt x="1536700" y="236220"/>
                  </a:lnTo>
                  <a:lnTo>
                    <a:pt x="1574800" y="266700"/>
                  </a:lnTo>
                  <a:lnTo>
                    <a:pt x="1638300" y="333756"/>
                  </a:lnTo>
                  <a:lnTo>
                    <a:pt x="1663700" y="368808"/>
                  </a:lnTo>
                  <a:lnTo>
                    <a:pt x="1714500" y="445008"/>
                  </a:lnTo>
                  <a:lnTo>
                    <a:pt x="1739900" y="484632"/>
                  </a:lnTo>
                  <a:lnTo>
                    <a:pt x="1765300" y="525780"/>
                  </a:lnTo>
                  <a:lnTo>
                    <a:pt x="1790700" y="568452"/>
                  </a:lnTo>
                  <a:lnTo>
                    <a:pt x="1803400" y="611124"/>
                  </a:lnTo>
                  <a:lnTo>
                    <a:pt x="1816100" y="655320"/>
                  </a:lnTo>
                  <a:lnTo>
                    <a:pt x="1841500" y="701040"/>
                  </a:lnTo>
                  <a:lnTo>
                    <a:pt x="1854200" y="748284"/>
                  </a:lnTo>
                  <a:lnTo>
                    <a:pt x="1854200" y="795528"/>
                  </a:lnTo>
                  <a:lnTo>
                    <a:pt x="1866900" y="819912"/>
                  </a:lnTo>
                  <a:close/>
                </a:path>
                <a:path w="1892300" h="1986279">
                  <a:moveTo>
                    <a:pt x="12700" y="996696"/>
                  </a:moveTo>
                  <a:lnTo>
                    <a:pt x="12700" y="992124"/>
                  </a:lnTo>
                  <a:lnTo>
                    <a:pt x="0" y="999744"/>
                  </a:lnTo>
                  <a:lnTo>
                    <a:pt x="12700" y="996696"/>
                  </a:lnTo>
                  <a:close/>
                </a:path>
                <a:path w="1892300" h="1986279">
                  <a:moveTo>
                    <a:pt x="952500" y="1982724"/>
                  </a:moveTo>
                  <a:lnTo>
                    <a:pt x="952500" y="1975104"/>
                  </a:lnTo>
                  <a:lnTo>
                    <a:pt x="939800" y="1973580"/>
                  </a:lnTo>
                  <a:lnTo>
                    <a:pt x="914400" y="1972056"/>
                  </a:lnTo>
                  <a:lnTo>
                    <a:pt x="889000" y="1972056"/>
                  </a:lnTo>
                  <a:lnTo>
                    <a:pt x="800100" y="1961388"/>
                  </a:lnTo>
                  <a:lnTo>
                    <a:pt x="774700" y="1956816"/>
                  </a:lnTo>
                  <a:lnTo>
                    <a:pt x="749300" y="1953768"/>
                  </a:lnTo>
                  <a:lnTo>
                    <a:pt x="711200" y="1941576"/>
                  </a:lnTo>
                  <a:lnTo>
                    <a:pt x="660400" y="1929384"/>
                  </a:lnTo>
                  <a:lnTo>
                    <a:pt x="622300" y="1914144"/>
                  </a:lnTo>
                  <a:lnTo>
                    <a:pt x="584200" y="1895856"/>
                  </a:lnTo>
                  <a:lnTo>
                    <a:pt x="533400" y="1876044"/>
                  </a:lnTo>
                  <a:lnTo>
                    <a:pt x="495300" y="1854708"/>
                  </a:lnTo>
                  <a:lnTo>
                    <a:pt x="419100" y="1805940"/>
                  </a:lnTo>
                  <a:lnTo>
                    <a:pt x="381000" y="1778508"/>
                  </a:lnTo>
                  <a:lnTo>
                    <a:pt x="342900" y="1749552"/>
                  </a:lnTo>
                  <a:lnTo>
                    <a:pt x="317500" y="1719072"/>
                  </a:lnTo>
                  <a:lnTo>
                    <a:pt x="254000" y="1652016"/>
                  </a:lnTo>
                  <a:lnTo>
                    <a:pt x="215900" y="1616964"/>
                  </a:lnTo>
                  <a:lnTo>
                    <a:pt x="165100" y="1540764"/>
                  </a:lnTo>
                  <a:lnTo>
                    <a:pt x="139700" y="1501140"/>
                  </a:lnTo>
                  <a:lnTo>
                    <a:pt x="114300" y="1459992"/>
                  </a:lnTo>
                  <a:lnTo>
                    <a:pt x="101600" y="1417320"/>
                  </a:lnTo>
                  <a:lnTo>
                    <a:pt x="76200" y="1374648"/>
                  </a:lnTo>
                  <a:lnTo>
                    <a:pt x="63500" y="1330452"/>
                  </a:lnTo>
                  <a:lnTo>
                    <a:pt x="25400" y="1190244"/>
                  </a:lnTo>
                  <a:lnTo>
                    <a:pt x="25400" y="1165860"/>
                  </a:lnTo>
                  <a:lnTo>
                    <a:pt x="12700" y="1068324"/>
                  </a:lnTo>
                  <a:lnTo>
                    <a:pt x="12700" y="996696"/>
                  </a:lnTo>
                  <a:lnTo>
                    <a:pt x="0" y="999744"/>
                  </a:lnTo>
                  <a:lnTo>
                    <a:pt x="0" y="1144524"/>
                  </a:lnTo>
                  <a:lnTo>
                    <a:pt x="38100" y="1287780"/>
                  </a:lnTo>
                  <a:lnTo>
                    <a:pt x="63500" y="1379220"/>
                  </a:lnTo>
                  <a:lnTo>
                    <a:pt x="88900" y="1423416"/>
                  </a:lnTo>
                  <a:lnTo>
                    <a:pt x="101600" y="1466088"/>
                  </a:lnTo>
                  <a:lnTo>
                    <a:pt x="152400" y="1548384"/>
                  </a:lnTo>
                  <a:lnTo>
                    <a:pt x="177800" y="1586484"/>
                  </a:lnTo>
                  <a:lnTo>
                    <a:pt x="215900" y="1624584"/>
                  </a:lnTo>
                  <a:lnTo>
                    <a:pt x="266700" y="1694688"/>
                  </a:lnTo>
                  <a:lnTo>
                    <a:pt x="304800" y="1728216"/>
                  </a:lnTo>
                  <a:lnTo>
                    <a:pt x="342900" y="1758696"/>
                  </a:lnTo>
                  <a:lnTo>
                    <a:pt x="368300" y="1787652"/>
                  </a:lnTo>
                  <a:lnTo>
                    <a:pt x="406400" y="1816608"/>
                  </a:lnTo>
                  <a:lnTo>
                    <a:pt x="444500" y="1842516"/>
                  </a:lnTo>
                  <a:lnTo>
                    <a:pt x="495300" y="1865376"/>
                  </a:lnTo>
                  <a:lnTo>
                    <a:pt x="533400" y="1888236"/>
                  </a:lnTo>
                  <a:lnTo>
                    <a:pt x="571500" y="1908048"/>
                  </a:lnTo>
                  <a:lnTo>
                    <a:pt x="622300" y="1924812"/>
                  </a:lnTo>
                  <a:lnTo>
                    <a:pt x="660400" y="1941576"/>
                  </a:lnTo>
                  <a:lnTo>
                    <a:pt x="711200" y="1953768"/>
                  </a:lnTo>
                  <a:lnTo>
                    <a:pt x="749300" y="1965960"/>
                  </a:lnTo>
                  <a:lnTo>
                    <a:pt x="774700" y="1970532"/>
                  </a:lnTo>
                  <a:lnTo>
                    <a:pt x="800100" y="1973580"/>
                  </a:lnTo>
                  <a:lnTo>
                    <a:pt x="825500" y="1978152"/>
                  </a:lnTo>
                  <a:lnTo>
                    <a:pt x="850900" y="1981200"/>
                  </a:lnTo>
                  <a:lnTo>
                    <a:pt x="914400" y="1985772"/>
                  </a:lnTo>
                  <a:lnTo>
                    <a:pt x="939800" y="1985772"/>
                  </a:lnTo>
                  <a:lnTo>
                    <a:pt x="952500" y="1982724"/>
                  </a:lnTo>
                  <a:close/>
                </a:path>
                <a:path w="1892300" h="1986279">
                  <a:moveTo>
                    <a:pt x="1879600" y="1168908"/>
                  </a:moveTo>
                  <a:lnTo>
                    <a:pt x="1879600" y="1092708"/>
                  </a:lnTo>
                  <a:lnTo>
                    <a:pt x="1866900" y="1165860"/>
                  </a:lnTo>
                  <a:lnTo>
                    <a:pt x="1854200" y="1190244"/>
                  </a:lnTo>
                  <a:lnTo>
                    <a:pt x="1854200" y="1237488"/>
                  </a:lnTo>
                  <a:lnTo>
                    <a:pt x="1841500" y="1284732"/>
                  </a:lnTo>
                  <a:lnTo>
                    <a:pt x="1816100" y="1330452"/>
                  </a:lnTo>
                  <a:lnTo>
                    <a:pt x="1803400" y="1374648"/>
                  </a:lnTo>
                  <a:lnTo>
                    <a:pt x="1790700" y="1417320"/>
                  </a:lnTo>
                  <a:lnTo>
                    <a:pt x="1765300" y="1459992"/>
                  </a:lnTo>
                  <a:lnTo>
                    <a:pt x="1739900" y="1501140"/>
                  </a:lnTo>
                  <a:lnTo>
                    <a:pt x="1714500" y="1540764"/>
                  </a:lnTo>
                  <a:lnTo>
                    <a:pt x="1663700" y="1616964"/>
                  </a:lnTo>
                  <a:lnTo>
                    <a:pt x="1638300" y="1652016"/>
                  </a:lnTo>
                  <a:lnTo>
                    <a:pt x="1600200" y="1685544"/>
                  </a:lnTo>
                  <a:lnTo>
                    <a:pt x="1574800" y="1719072"/>
                  </a:lnTo>
                  <a:lnTo>
                    <a:pt x="1536700" y="1749552"/>
                  </a:lnTo>
                  <a:lnTo>
                    <a:pt x="1498600" y="1778508"/>
                  </a:lnTo>
                  <a:lnTo>
                    <a:pt x="1460500" y="1805940"/>
                  </a:lnTo>
                  <a:lnTo>
                    <a:pt x="1422400" y="1831848"/>
                  </a:lnTo>
                  <a:lnTo>
                    <a:pt x="1384300" y="1854708"/>
                  </a:lnTo>
                  <a:lnTo>
                    <a:pt x="1346200" y="1876044"/>
                  </a:lnTo>
                  <a:lnTo>
                    <a:pt x="1308100" y="1895856"/>
                  </a:lnTo>
                  <a:lnTo>
                    <a:pt x="1270000" y="1914144"/>
                  </a:lnTo>
                  <a:lnTo>
                    <a:pt x="1219200" y="1929384"/>
                  </a:lnTo>
                  <a:lnTo>
                    <a:pt x="1181100" y="1941576"/>
                  </a:lnTo>
                  <a:lnTo>
                    <a:pt x="1130300" y="1953768"/>
                  </a:lnTo>
                  <a:lnTo>
                    <a:pt x="1066800" y="1964436"/>
                  </a:lnTo>
                  <a:lnTo>
                    <a:pt x="1016000" y="1970532"/>
                  </a:lnTo>
                  <a:lnTo>
                    <a:pt x="990600" y="1972056"/>
                  </a:lnTo>
                  <a:lnTo>
                    <a:pt x="965200" y="1972056"/>
                  </a:lnTo>
                  <a:lnTo>
                    <a:pt x="939800" y="1973580"/>
                  </a:lnTo>
                  <a:lnTo>
                    <a:pt x="952500" y="1975104"/>
                  </a:lnTo>
                  <a:lnTo>
                    <a:pt x="952500" y="1985772"/>
                  </a:lnTo>
                  <a:lnTo>
                    <a:pt x="965200" y="1985772"/>
                  </a:lnTo>
                  <a:lnTo>
                    <a:pt x="1041400" y="1981200"/>
                  </a:lnTo>
                  <a:lnTo>
                    <a:pt x="1066800" y="1978152"/>
                  </a:lnTo>
                  <a:lnTo>
                    <a:pt x="1092200" y="1973580"/>
                  </a:lnTo>
                  <a:lnTo>
                    <a:pt x="1104900" y="1970532"/>
                  </a:lnTo>
                  <a:lnTo>
                    <a:pt x="1130300" y="1965960"/>
                  </a:lnTo>
                  <a:lnTo>
                    <a:pt x="1181100" y="1953768"/>
                  </a:lnTo>
                  <a:lnTo>
                    <a:pt x="1219200" y="1941576"/>
                  </a:lnTo>
                  <a:lnTo>
                    <a:pt x="1270000" y="1924812"/>
                  </a:lnTo>
                  <a:lnTo>
                    <a:pt x="1308100" y="1908048"/>
                  </a:lnTo>
                  <a:lnTo>
                    <a:pt x="1358900" y="1888236"/>
                  </a:lnTo>
                  <a:lnTo>
                    <a:pt x="1397000" y="1865376"/>
                  </a:lnTo>
                  <a:lnTo>
                    <a:pt x="1473200" y="1816608"/>
                  </a:lnTo>
                  <a:lnTo>
                    <a:pt x="1549400" y="1758696"/>
                  </a:lnTo>
                  <a:lnTo>
                    <a:pt x="1587500" y="1728216"/>
                  </a:lnTo>
                  <a:lnTo>
                    <a:pt x="1612900" y="1694688"/>
                  </a:lnTo>
                  <a:lnTo>
                    <a:pt x="1651000" y="1659636"/>
                  </a:lnTo>
                  <a:lnTo>
                    <a:pt x="1676400" y="1624584"/>
                  </a:lnTo>
                  <a:lnTo>
                    <a:pt x="1727200" y="1548384"/>
                  </a:lnTo>
                  <a:lnTo>
                    <a:pt x="1778000" y="1466088"/>
                  </a:lnTo>
                  <a:lnTo>
                    <a:pt x="1803400" y="1423416"/>
                  </a:lnTo>
                  <a:lnTo>
                    <a:pt x="1828800" y="1333500"/>
                  </a:lnTo>
                  <a:lnTo>
                    <a:pt x="1854200" y="1287780"/>
                  </a:lnTo>
                  <a:lnTo>
                    <a:pt x="1866900" y="1240536"/>
                  </a:lnTo>
                  <a:lnTo>
                    <a:pt x="1866900" y="1193292"/>
                  </a:lnTo>
                  <a:lnTo>
                    <a:pt x="1879600" y="1168908"/>
                  </a:lnTo>
                  <a:close/>
                </a:path>
                <a:path w="1892300" h="1986279">
                  <a:moveTo>
                    <a:pt x="952500" y="1985772"/>
                  </a:moveTo>
                  <a:lnTo>
                    <a:pt x="952500" y="1982724"/>
                  </a:lnTo>
                  <a:lnTo>
                    <a:pt x="939800" y="1985772"/>
                  </a:lnTo>
                  <a:lnTo>
                    <a:pt x="952500" y="1985772"/>
                  </a:lnTo>
                  <a:close/>
                </a:path>
                <a:path w="1892300" h="1986279">
                  <a:moveTo>
                    <a:pt x="1879600" y="893064"/>
                  </a:moveTo>
                  <a:lnTo>
                    <a:pt x="1879600" y="816864"/>
                  </a:lnTo>
                  <a:lnTo>
                    <a:pt x="1866900" y="792480"/>
                  </a:lnTo>
                  <a:lnTo>
                    <a:pt x="1866900" y="867156"/>
                  </a:lnTo>
                  <a:lnTo>
                    <a:pt x="1879600" y="893064"/>
                  </a:lnTo>
                  <a:close/>
                </a:path>
                <a:path w="1892300" h="1986279">
                  <a:moveTo>
                    <a:pt x="1892300" y="1094232"/>
                  </a:moveTo>
                  <a:lnTo>
                    <a:pt x="1892300" y="891540"/>
                  </a:lnTo>
                  <a:lnTo>
                    <a:pt x="1879600" y="865632"/>
                  </a:lnTo>
                  <a:lnTo>
                    <a:pt x="1879600" y="1118616"/>
                  </a:lnTo>
                  <a:lnTo>
                    <a:pt x="1892300" y="10942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58528" y="5002781"/>
            <a:ext cx="10013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Gramática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5410" y="4834128"/>
            <a:ext cx="4646930" cy="586740"/>
            <a:chOff x="3875410" y="4834128"/>
            <a:chExt cx="4646930" cy="586740"/>
          </a:xfrm>
        </p:grpSpPr>
        <p:sp>
          <p:nvSpPr>
            <p:cNvPr id="12" name="object 12"/>
            <p:cNvSpPr/>
            <p:nvPr/>
          </p:nvSpPr>
          <p:spPr>
            <a:xfrm>
              <a:off x="3875410" y="5049012"/>
              <a:ext cx="2827020" cy="76200"/>
            </a:xfrm>
            <a:custGeom>
              <a:avLst/>
              <a:gdLst/>
              <a:ahLst/>
              <a:cxnLst/>
              <a:rect l="l" t="t" r="r" b="b"/>
              <a:pathLst>
                <a:path w="2827020" h="76200">
                  <a:moveTo>
                    <a:pt x="2763012" y="44196"/>
                  </a:moveTo>
                  <a:lnTo>
                    <a:pt x="2763012" y="30480"/>
                  </a:lnTo>
                  <a:lnTo>
                    <a:pt x="0" y="30480"/>
                  </a:lnTo>
                  <a:lnTo>
                    <a:pt x="0" y="44196"/>
                  </a:lnTo>
                  <a:lnTo>
                    <a:pt x="2763012" y="44196"/>
                  </a:lnTo>
                  <a:close/>
                </a:path>
                <a:path w="2827020" h="76200">
                  <a:moveTo>
                    <a:pt x="2827020" y="38100"/>
                  </a:moveTo>
                  <a:lnTo>
                    <a:pt x="2750820" y="0"/>
                  </a:lnTo>
                  <a:lnTo>
                    <a:pt x="2750820" y="30480"/>
                  </a:lnTo>
                  <a:lnTo>
                    <a:pt x="2763012" y="30480"/>
                  </a:lnTo>
                  <a:lnTo>
                    <a:pt x="2763012" y="70104"/>
                  </a:lnTo>
                  <a:lnTo>
                    <a:pt x="2827020" y="38100"/>
                  </a:lnTo>
                  <a:close/>
                </a:path>
                <a:path w="2827020" h="76200">
                  <a:moveTo>
                    <a:pt x="2763012" y="70104"/>
                  </a:moveTo>
                  <a:lnTo>
                    <a:pt x="2763012" y="44196"/>
                  </a:lnTo>
                  <a:lnTo>
                    <a:pt x="2750820" y="44196"/>
                  </a:lnTo>
                  <a:lnTo>
                    <a:pt x="2750820" y="76200"/>
                  </a:lnTo>
                  <a:lnTo>
                    <a:pt x="2763012" y="70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2430" y="4840223"/>
              <a:ext cx="1812289" cy="574675"/>
            </a:xfrm>
            <a:custGeom>
              <a:avLst/>
              <a:gdLst/>
              <a:ahLst/>
              <a:cxnLst/>
              <a:rect l="l" t="t" r="r" b="b"/>
              <a:pathLst>
                <a:path w="1812290" h="574675">
                  <a:moveTo>
                    <a:pt x="1812035" y="574547"/>
                  </a:moveTo>
                  <a:lnTo>
                    <a:pt x="1812035" y="0"/>
                  </a:lnTo>
                  <a:lnTo>
                    <a:pt x="0" y="0"/>
                  </a:lnTo>
                  <a:lnTo>
                    <a:pt x="0" y="574547"/>
                  </a:lnTo>
                  <a:lnTo>
                    <a:pt x="1812035" y="57454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96334" y="4834128"/>
              <a:ext cx="1826260" cy="586740"/>
            </a:xfrm>
            <a:custGeom>
              <a:avLst/>
              <a:gdLst/>
              <a:ahLst/>
              <a:cxnLst/>
              <a:rect l="l" t="t" r="r" b="b"/>
              <a:pathLst>
                <a:path w="1826259" h="586739">
                  <a:moveTo>
                    <a:pt x="1825752" y="586740"/>
                  </a:moveTo>
                  <a:lnTo>
                    <a:pt x="1825752" y="0"/>
                  </a:lnTo>
                  <a:lnTo>
                    <a:pt x="0" y="0"/>
                  </a:lnTo>
                  <a:lnTo>
                    <a:pt x="0" y="586740"/>
                  </a:lnTo>
                  <a:lnTo>
                    <a:pt x="6096" y="586740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1812036" y="12192"/>
                  </a:lnTo>
                  <a:lnTo>
                    <a:pt x="1812036" y="6096"/>
                  </a:lnTo>
                  <a:lnTo>
                    <a:pt x="1818132" y="12192"/>
                  </a:lnTo>
                  <a:lnTo>
                    <a:pt x="1818132" y="586740"/>
                  </a:lnTo>
                  <a:lnTo>
                    <a:pt x="1825752" y="586740"/>
                  </a:lnTo>
                  <a:close/>
                </a:path>
                <a:path w="1826259" h="586739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1826259" h="586739">
                  <a:moveTo>
                    <a:pt x="12192" y="574548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574548"/>
                  </a:lnTo>
                  <a:lnTo>
                    <a:pt x="12192" y="574548"/>
                  </a:lnTo>
                  <a:close/>
                </a:path>
                <a:path w="1826259" h="586739">
                  <a:moveTo>
                    <a:pt x="1818132" y="574548"/>
                  </a:moveTo>
                  <a:lnTo>
                    <a:pt x="6096" y="574548"/>
                  </a:lnTo>
                  <a:lnTo>
                    <a:pt x="12192" y="580644"/>
                  </a:lnTo>
                  <a:lnTo>
                    <a:pt x="12192" y="586740"/>
                  </a:lnTo>
                  <a:lnTo>
                    <a:pt x="1812036" y="586740"/>
                  </a:lnTo>
                  <a:lnTo>
                    <a:pt x="1812036" y="580644"/>
                  </a:lnTo>
                  <a:lnTo>
                    <a:pt x="1818132" y="574548"/>
                  </a:lnTo>
                  <a:close/>
                </a:path>
                <a:path w="1826259" h="586739">
                  <a:moveTo>
                    <a:pt x="12192" y="586740"/>
                  </a:moveTo>
                  <a:lnTo>
                    <a:pt x="12192" y="580644"/>
                  </a:lnTo>
                  <a:lnTo>
                    <a:pt x="6096" y="574548"/>
                  </a:lnTo>
                  <a:lnTo>
                    <a:pt x="6096" y="586740"/>
                  </a:lnTo>
                  <a:lnTo>
                    <a:pt x="12192" y="586740"/>
                  </a:lnTo>
                  <a:close/>
                </a:path>
                <a:path w="1826259" h="586739">
                  <a:moveTo>
                    <a:pt x="1818132" y="12192"/>
                  </a:moveTo>
                  <a:lnTo>
                    <a:pt x="1812036" y="6096"/>
                  </a:lnTo>
                  <a:lnTo>
                    <a:pt x="1812036" y="12192"/>
                  </a:lnTo>
                  <a:lnTo>
                    <a:pt x="1818132" y="12192"/>
                  </a:lnTo>
                  <a:close/>
                </a:path>
                <a:path w="1826259" h="586739">
                  <a:moveTo>
                    <a:pt x="1818132" y="574548"/>
                  </a:moveTo>
                  <a:lnTo>
                    <a:pt x="1818132" y="12192"/>
                  </a:lnTo>
                  <a:lnTo>
                    <a:pt x="1812036" y="12192"/>
                  </a:lnTo>
                  <a:lnTo>
                    <a:pt x="1812036" y="574548"/>
                  </a:lnTo>
                  <a:lnTo>
                    <a:pt x="1818132" y="574548"/>
                  </a:lnTo>
                  <a:close/>
                </a:path>
                <a:path w="1826259" h="586739">
                  <a:moveTo>
                    <a:pt x="1818132" y="586740"/>
                  </a:moveTo>
                  <a:lnTo>
                    <a:pt x="1818132" y="574548"/>
                  </a:lnTo>
                  <a:lnTo>
                    <a:pt x="1812036" y="580644"/>
                  </a:lnTo>
                  <a:lnTo>
                    <a:pt x="1812036" y="586740"/>
                  </a:lnTo>
                  <a:lnTo>
                    <a:pt x="1818132" y="586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02429" y="4840223"/>
            <a:ext cx="1812289" cy="57467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1055"/>
              </a:spcBef>
            </a:pPr>
            <a:r>
              <a:rPr sz="1800" spc="-10" dirty="0">
                <a:latin typeface="Calibri"/>
                <a:cs typeface="Calibri"/>
              </a:rPr>
              <a:t>palavra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3980064" y="4626354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Regra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produção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7696" y="876706"/>
            <a:ext cx="8557895" cy="50990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Comic Sans MS"/>
                <a:cs typeface="Comic Sans MS"/>
              </a:rPr>
              <a:t>Gramáticas</a:t>
            </a:r>
            <a:endParaRPr sz="2200">
              <a:latin typeface="Comic Sans MS"/>
              <a:cs typeface="Comic Sans MS"/>
            </a:endParaRPr>
          </a:p>
          <a:p>
            <a:pPr marL="12700" marR="5080">
              <a:lnSpc>
                <a:spcPct val="130000"/>
              </a:lnSpc>
              <a:spcBef>
                <a:spcPts val="525"/>
              </a:spcBef>
              <a:buFont typeface="Arial"/>
              <a:buChar char="•"/>
              <a:tabLst>
                <a:tab pos="195580" algn="l"/>
              </a:tabLst>
            </a:pPr>
            <a:r>
              <a:rPr sz="2200" dirty="0">
                <a:latin typeface="Comic Sans MS"/>
                <a:cs typeface="Comic Sans MS"/>
              </a:rPr>
              <a:t>Formalmente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as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gramáticas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são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caracterizadas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como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quádruplas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ordenadas</a:t>
            </a:r>
            <a:endParaRPr sz="22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G</a:t>
            </a:r>
            <a:r>
              <a:rPr sz="22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200" spc="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22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{V},</a:t>
            </a:r>
            <a:r>
              <a:rPr sz="22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T,</a:t>
            </a:r>
            <a:r>
              <a:rPr sz="22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omic Sans MS"/>
                <a:cs typeface="Comic Sans MS"/>
              </a:rPr>
              <a:t>P,</a:t>
            </a:r>
            <a:r>
              <a:rPr sz="22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omic Sans MS"/>
                <a:cs typeface="Comic Sans MS"/>
              </a:rPr>
              <a:t>S)</a:t>
            </a:r>
            <a:endParaRPr sz="2200">
              <a:latin typeface="Comic Sans MS"/>
              <a:cs typeface="Comic Sans MS"/>
            </a:endParaRPr>
          </a:p>
          <a:p>
            <a:pPr marL="111760" indent="-99060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111760" algn="l"/>
              </a:tabLst>
            </a:pPr>
            <a:r>
              <a:rPr sz="2200" spc="-10" dirty="0">
                <a:latin typeface="Comic Sans MS"/>
                <a:cs typeface="Comic Sans MS"/>
              </a:rPr>
              <a:t>onde:</a:t>
            </a:r>
            <a:endParaRPr sz="2200">
              <a:latin typeface="Comic Sans MS"/>
              <a:cs typeface="Comic Sans MS"/>
            </a:endParaRPr>
          </a:p>
          <a:p>
            <a:pPr marL="632460" lvl="1" indent="-163195">
              <a:lnSpc>
                <a:spcPct val="100000"/>
              </a:lnSpc>
              <a:spcBef>
                <a:spcPts val="1235"/>
              </a:spcBef>
              <a:buClr>
                <a:srgbClr val="000000"/>
              </a:buClr>
              <a:buFont typeface="Arial"/>
              <a:buChar char="•"/>
              <a:tabLst>
                <a:tab pos="633095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V</a:t>
            </a:r>
            <a:r>
              <a:rPr sz="20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representa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vocabulário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terminal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gramática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variáveis</a:t>
            </a:r>
            <a:r>
              <a:rPr sz="2000" spc="-10" dirty="0">
                <a:latin typeface="Comic Sans MS"/>
                <a:cs typeface="Comic Sans MS"/>
              </a:rPr>
              <a:t>.</a:t>
            </a:r>
            <a:endParaRPr sz="2000">
              <a:latin typeface="Comic Sans MS"/>
              <a:cs typeface="Comic Sans MS"/>
            </a:endParaRPr>
          </a:p>
          <a:p>
            <a:pPr marL="469900" marR="6350" lvl="1">
              <a:lnSpc>
                <a:spcPct val="130000"/>
              </a:lnSpc>
              <a:spcBef>
                <a:spcPts val="480"/>
              </a:spcBef>
              <a:buSzPct val="95000"/>
              <a:buFont typeface="Arial"/>
              <a:buChar char="•"/>
              <a:tabLst>
                <a:tab pos="56007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0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é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vocabulário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terminal</a:t>
            </a:r>
            <a:r>
              <a:rPr sz="2000" dirty="0">
                <a:latin typeface="Comic Sans MS"/>
                <a:cs typeface="Comic Sans MS"/>
              </a:rPr>
              <a:t>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contendo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símbolos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constituem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sentenças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linguagem.</a:t>
            </a:r>
            <a:endParaRPr sz="2000">
              <a:latin typeface="Comic Sans MS"/>
              <a:cs typeface="Comic Sans MS"/>
            </a:endParaRPr>
          </a:p>
          <a:p>
            <a:pPr marL="469900" marR="5080" lvl="1">
              <a:lnSpc>
                <a:spcPct val="130000"/>
              </a:lnSpc>
              <a:spcBef>
                <a:spcPts val="480"/>
              </a:spcBef>
              <a:buSzPct val="95000"/>
              <a:buFont typeface="Arial"/>
              <a:buChar char="•"/>
              <a:tabLst>
                <a:tab pos="56007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sz="20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representa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conjunto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todas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as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leis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formação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(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regras</a:t>
            </a:r>
            <a:r>
              <a:rPr sz="20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produção</a:t>
            </a:r>
            <a:r>
              <a:rPr sz="2000" dirty="0">
                <a:latin typeface="Comic Sans MS"/>
                <a:cs typeface="Comic Sans MS"/>
              </a:rPr>
              <a:t>)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utilizadas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pela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gramática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para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definir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linguagem.</a:t>
            </a:r>
            <a:endParaRPr sz="2000">
              <a:latin typeface="Comic Sans MS"/>
              <a:cs typeface="Comic Sans MS"/>
            </a:endParaRPr>
          </a:p>
          <a:p>
            <a:pPr marL="559435" lvl="1" indent="-90170">
              <a:lnSpc>
                <a:spcPct val="100000"/>
              </a:lnSpc>
              <a:spcBef>
                <a:spcPts val="1200"/>
              </a:spcBef>
              <a:buSzPct val="95000"/>
              <a:buFont typeface="Arial"/>
              <a:buChar char="•"/>
              <a:tabLst>
                <a:tab pos="56007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0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representa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símbolo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início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37919"/>
            <a:ext cx="21513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Gramáticas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067696" y="1938019"/>
            <a:ext cx="4347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G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8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2800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{S,A,B},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{a,b},</a:t>
            </a:r>
            <a:r>
              <a:rPr sz="28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P,</a:t>
            </a:r>
            <a:r>
              <a:rPr sz="28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696" y="2663442"/>
            <a:ext cx="645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indent="-125095">
              <a:lnSpc>
                <a:spcPct val="100000"/>
              </a:lnSpc>
              <a:spcBef>
                <a:spcPts val="95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spc="-25" dirty="0">
                <a:latin typeface="Comic Sans MS"/>
                <a:cs typeface="Comic Sans MS"/>
              </a:rPr>
              <a:t>P={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3931" y="2663442"/>
            <a:ext cx="1872614" cy="1177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omic Sans MS"/>
                <a:cs typeface="Comic Sans MS"/>
              </a:rPr>
              <a:t>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Wingdings"/>
                <a:cs typeface="Wingdings"/>
              </a:rPr>
              <a:t></a:t>
            </a:r>
            <a:r>
              <a:rPr sz="2800" spc="-25" dirty="0">
                <a:latin typeface="Comic Sans MS"/>
                <a:cs typeface="Comic Sans MS"/>
              </a:rPr>
              <a:t>AB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|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AB</a:t>
            </a:r>
            <a:endParaRPr sz="28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6450" y="2951988"/>
            <a:ext cx="1506220" cy="826135"/>
            <a:chOff x="4576450" y="2951988"/>
            <a:chExt cx="1506220" cy="826135"/>
          </a:xfrm>
        </p:grpSpPr>
        <p:sp>
          <p:nvSpPr>
            <p:cNvPr id="11" name="object 11"/>
            <p:cNvSpPr/>
            <p:nvPr/>
          </p:nvSpPr>
          <p:spPr>
            <a:xfrm>
              <a:off x="4582546" y="2958084"/>
              <a:ext cx="1493520" cy="820419"/>
            </a:xfrm>
            <a:custGeom>
              <a:avLst/>
              <a:gdLst/>
              <a:ahLst/>
              <a:cxnLst/>
              <a:rect l="l" t="t" r="r" b="b"/>
              <a:pathLst>
                <a:path w="1493520" h="820420">
                  <a:moveTo>
                    <a:pt x="1493520" y="662940"/>
                  </a:moveTo>
                  <a:lnTo>
                    <a:pt x="1491800" y="617593"/>
                  </a:lnTo>
                  <a:lnTo>
                    <a:pt x="1486714" y="573061"/>
                  </a:lnTo>
                  <a:lnTo>
                    <a:pt x="1478372" y="529441"/>
                  </a:lnTo>
                  <a:lnTo>
                    <a:pt x="1466885" y="486833"/>
                  </a:lnTo>
                  <a:lnTo>
                    <a:pt x="1452363" y="445336"/>
                  </a:lnTo>
                  <a:lnTo>
                    <a:pt x="1434917" y="405050"/>
                  </a:lnTo>
                  <a:lnTo>
                    <a:pt x="1414657" y="366074"/>
                  </a:lnTo>
                  <a:lnTo>
                    <a:pt x="1391694" y="328506"/>
                  </a:lnTo>
                  <a:lnTo>
                    <a:pt x="1366138" y="292447"/>
                  </a:lnTo>
                  <a:lnTo>
                    <a:pt x="1338099" y="257995"/>
                  </a:lnTo>
                  <a:lnTo>
                    <a:pt x="1307688" y="225249"/>
                  </a:lnTo>
                  <a:lnTo>
                    <a:pt x="1275016" y="194310"/>
                  </a:lnTo>
                  <a:lnTo>
                    <a:pt x="1240193" y="165275"/>
                  </a:lnTo>
                  <a:lnTo>
                    <a:pt x="1203329" y="138244"/>
                  </a:lnTo>
                  <a:lnTo>
                    <a:pt x="1164535" y="113317"/>
                  </a:lnTo>
                  <a:lnTo>
                    <a:pt x="1123921" y="90593"/>
                  </a:lnTo>
                  <a:lnTo>
                    <a:pt x="1081598" y="70170"/>
                  </a:lnTo>
                  <a:lnTo>
                    <a:pt x="1037677" y="52149"/>
                  </a:lnTo>
                  <a:lnTo>
                    <a:pt x="992267" y="36628"/>
                  </a:lnTo>
                  <a:lnTo>
                    <a:pt x="945479" y="23706"/>
                  </a:lnTo>
                  <a:lnTo>
                    <a:pt x="897424" y="13483"/>
                  </a:lnTo>
                  <a:lnTo>
                    <a:pt x="848212" y="6058"/>
                  </a:lnTo>
                  <a:lnTo>
                    <a:pt x="797954" y="1531"/>
                  </a:lnTo>
                  <a:lnTo>
                    <a:pt x="746760" y="0"/>
                  </a:lnTo>
                  <a:lnTo>
                    <a:pt x="695565" y="1531"/>
                  </a:lnTo>
                  <a:lnTo>
                    <a:pt x="645307" y="6058"/>
                  </a:lnTo>
                  <a:lnTo>
                    <a:pt x="596095" y="13483"/>
                  </a:lnTo>
                  <a:lnTo>
                    <a:pt x="548040" y="23706"/>
                  </a:lnTo>
                  <a:lnTo>
                    <a:pt x="501252" y="36628"/>
                  </a:lnTo>
                  <a:lnTo>
                    <a:pt x="455842" y="52149"/>
                  </a:lnTo>
                  <a:lnTo>
                    <a:pt x="411921" y="70170"/>
                  </a:lnTo>
                  <a:lnTo>
                    <a:pt x="369598" y="90593"/>
                  </a:lnTo>
                  <a:lnTo>
                    <a:pt x="328984" y="113317"/>
                  </a:lnTo>
                  <a:lnTo>
                    <a:pt x="290190" y="138244"/>
                  </a:lnTo>
                  <a:lnTo>
                    <a:pt x="253326" y="165275"/>
                  </a:lnTo>
                  <a:lnTo>
                    <a:pt x="218503" y="194310"/>
                  </a:lnTo>
                  <a:lnTo>
                    <a:pt x="185831" y="225249"/>
                  </a:lnTo>
                  <a:lnTo>
                    <a:pt x="155420" y="257995"/>
                  </a:lnTo>
                  <a:lnTo>
                    <a:pt x="127381" y="292447"/>
                  </a:lnTo>
                  <a:lnTo>
                    <a:pt x="101825" y="328506"/>
                  </a:lnTo>
                  <a:lnTo>
                    <a:pt x="78862" y="366074"/>
                  </a:lnTo>
                  <a:lnTo>
                    <a:pt x="58602" y="405050"/>
                  </a:lnTo>
                  <a:lnTo>
                    <a:pt x="41156" y="445336"/>
                  </a:lnTo>
                  <a:lnTo>
                    <a:pt x="26634" y="486833"/>
                  </a:lnTo>
                  <a:lnTo>
                    <a:pt x="15147" y="529441"/>
                  </a:lnTo>
                  <a:lnTo>
                    <a:pt x="6805" y="573061"/>
                  </a:lnTo>
                  <a:lnTo>
                    <a:pt x="1719" y="617593"/>
                  </a:lnTo>
                  <a:lnTo>
                    <a:pt x="0" y="662940"/>
                  </a:lnTo>
                  <a:lnTo>
                    <a:pt x="1719" y="708278"/>
                  </a:lnTo>
                  <a:lnTo>
                    <a:pt x="6805" y="752788"/>
                  </a:lnTo>
                  <a:lnTo>
                    <a:pt x="15147" y="796373"/>
                  </a:lnTo>
                  <a:lnTo>
                    <a:pt x="21500" y="819912"/>
                  </a:lnTo>
                  <a:lnTo>
                    <a:pt x="1472019" y="819912"/>
                  </a:lnTo>
                  <a:lnTo>
                    <a:pt x="1478372" y="796373"/>
                  </a:lnTo>
                  <a:lnTo>
                    <a:pt x="1486714" y="752788"/>
                  </a:lnTo>
                  <a:lnTo>
                    <a:pt x="1491800" y="708278"/>
                  </a:lnTo>
                  <a:lnTo>
                    <a:pt x="1493520" y="66294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6450" y="2951988"/>
              <a:ext cx="1506220" cy="826135"/>
            </a:xfrm>
            <a:custGeom>
              <a:avLst/>
              <a:gdLst/>
              <a:ahLst/>
              <a:cxnLst/>
              <a:rect l="l" t="t" r="r" b="b"/>
              <a:pathLst>
                <a:path w="1506220" h="826135">
                  <a:moveTo>
                    <a:pt x="1505712" y="702564"/>
                  </a:moveTo>
                  <a:lnTo>
                    <a:pt x="1505712" y="633984"/>
                  </a:lnTo>
                  <a:lnTo>
                    <a:pt x="1502664" y="600456"/>
                  </a:lnTo>
                  <a:lnTo>
                    <a:pt x="1490472" y="533400"/>
                  </a:lnTo>
                  <a:lnTo>
                    <a:pt x="1472184" y="469392"/>
                  </a:lnTo>
                  <a:lnTo>
                    <a:pt x="1446276" y="408432"/>
                  </a:lnTo>
                  <a:lnTo>
                    <a:pt x="1414272" y="348996"/>
                  </a:lnTo>
                  <a:lnTo>
                    <a:pt x="1377696" y="294132"/>
                  </a:lnTo>
                  <a:lnTo>
                    <a:pt x="1333500" y="242316"/>
                  </a:lnTo>
                  <a:lnTo>
                    <a:pt x="1284732" y="195072"/>
                  </a:lnTo>
                  <a:lnTo>
                    <a:pt x="1231392" y="152400"/>
                  </a:lnTo>
                  <a:lnTo>
                    <a:pt x="1173480" y="114300"/>
                  </a:lnTo>
                  <a:lnTo>
                    <a:pt x="1078992" y="65532"/>
                  </a:lnTo>
                  <a:lnTo>
                    <a:pt x="1011936" y="39624"/>
                  </a:lnTo>
                  <a:lnTo>
                    <a:pt x="903732" y="13716"/>
                  </a:lnTo>
                  <a:lnTo>
                    <a:pt x="829056" y="3048"/>
                  </a:lnTo>
                  <a:lnTo>
                    <a:pt x="790956" y="0"/>
                  </a:lnTo>
                  <a:lnTo>
                    <a:pt x="713232" y="0"/>
                  </a:lnTo>
                  <a:lnTo>
                    <a:pt x="675132" y="3048"/>
                  </a:lnTo>
                  <a:lnTo>
                    <a:pt x="600456" y="13716"/>
                  </a:lnTo>
                  <a:lnTo>
                    <a:pt x="493776" y="39624"/>
                  </a:lnTo>
                  <a:lnTo>
                    <a:pt x="426720" y="65532"/>
                  </a:lnTo>
                  <a:lnTo>
                    <a:pt x="362712" y="96012"/>
                  </a:lnTo>
                  <a:lnTo>
                    <a:pt x="301752" y="132588"/>
                  </a:lnTo>
                  <a:lnTo>
                    <a:pt x="219456" y="195072"/>
                  </a:lnTo>
                  <a:lnTo>
                    <a:pt x="172212" y="242316"/>
                  </a:lnTo>
                  <a:lnTo>
                    <a:pt x="128016" y="294132"/>
                  </a:lnTo>
                  <a:lnTo>
                    <a:pt x="89916" y="348996"/>
                  </a:lnTo>
                  <a:lnTo>
                    <a:pt x="57912" y="408432"/>
                  </a:lnTo>
                  <a:lnTo>
                    <a:pt x="33528" y="469392"/>
                  </a:lnTo>
                  <a:lnTo>
                    <a:pt x="15240" y="533400"/>
                  </a:lnTo>
                  <a:lnTo>
                    <a:pt x="3048" y="600456"/>
                  </a:lnTo>
                  <a:lnTo>
                    <a:pt x="0" y="633984"/>
                  </a:lnTo>
                  <a:lnTo>
                    <a:pt x="0" y="702564"/>
                  </a:lnTo>
                  <a:lnTo>
                    <a:pt x="3048" y="737616"/>
                  </a:lnTo>
                  <a:lnTo>
                    <a:pt x="7620" y="771144"/>
                  </a:lnTo>
                  <a:lnTo>
                    <a:pt x="12192" y="790346"/>
                  </a:lnTo>
                  <a:lnTo>
                    <a:pt x="12192" y="667512"/>
                  </a:lnTo>
                  <a:lnTo>
                    <a:pt x="15240" y="601980"/>
                  </a:lnTo>
                  <a:lnTo>
                    <a:pt x="35052" y="504444"/>
                  </a:lnTo>
                  <a:lnTo>
                    <a:pt x="56388" y="443484"/>
                  </a:lnTo>
                  <a:lnTo>
                    <a:pt x="85344" y="384048"/>
                  </a:lnTo>
                  <a:lnTo>
                    <a:pt x="102108" y="356616"/>
                  </a:lnTo>
                  <a:lnTo>
                    <a:pt x="118872" y="327660"/>
                  </a:lnTo>
                  <a:lnTo>
                    <a:pt x="158496" y="275844"/>
                  </a:lnTo>
                  <a:lnTo>
                    <a:pt x="204216" y="227076"/>
                  </a:lnTo>
                  <a:lnTo>
                    <a:pt x="254508" y="182880"/>
                  </a:lnTo>
                  <a:lnTo>
                    <a:pt x="309372" y="143256"/>
                  </a:lnTo>
                  <a:lnTo>
                    <a:pt x="399288" y="91440"/>
                  </a:lnTo>
                  <a:lnTo>
                    <a:pt x="464820" y="64008"/>
                  </a:lnTo>
                  <a:lnTo>
                    <a:pt x="531876" y="42672"/>
                  </a:lnTo>
                  <a:lnTo>
                    <a:pt x="603504" y="25908"/>
                  </a:lnTo>
                  <a:lnTo>
                    <a:pt x="676656" y="15240"/>
                  </a:lnTo>
                  <a:lnTo>
                    <a:pt x="752856" y="12192"/>
                  </a:lnTo>
                  <a:lnTo>
                    <a:pt x="829056" y="15240"/>
                  </a:lnTo>
                  <a:lnTo>
                    <a:pt x="902208" y="25908"/>
                  </a:lnTo>
                  <a:lnTo>
                    <a:pt x="973836" y="42672"/>
                  </a:lnTo>
                  <a:lnTo>
                    <a:pt x="1040892" y="64008"/>
                  </a:lnTo>
                  <a:lnTo>
                    <a:pt x="1106424" y="91440"/>
                  </a:lnTo>
                  <a:lnTo>
                    <a:pt x="1167384" y="124968"/>
                  </a:lnTo>
                  <a:lnTo>
                    <a:pt x="1251204" y="182880"/>
                  </a:lnTo>
                  <a:lnTo>
                    <a:pt x="1301496" y="227076"/>
                  </a:lnTo>
                  <a:lnTo>
                    <a:pt x="1347216" y="275844"/>
                  </a:lnTo>
                  <a:lnTo>
                    <a:pt x="1386840" y="329184"/>
                  </a:lnTo>
                  <a:lnTo>
                    <a:pt x="1420368" y="384048"/>
                  </a:lnTo>
                  <a:lnTo>
                    <a:pt x="1449324" y="443484"/>
                  </a:lnTo>
                  <a:lnTo>
                    <a:pt x="1470660" y="504444"/>
                  </a:lnTo>
                  <a:lnTo>
                    <a:pt x="1484376" y="568452"/>
                  </a:lnTo>
                  <a:lnTo>
                    <a:pt x="1491996" y="635508"/>
                  </a:lnTo>
                  <a:lnTo>
                    <a:pt x="1493520" y="669036"/>
                  </a:lnTo>
                  <a:lnTo>
                    <a:pt x="1493520" y="789736"/>
                  </a:lnTo>
                  <a:lnTo>
                    <a:pt x="1498092" y="769620"/>
                  </a:lnTo>
                  <a:lnTo>
                    <a:pt x="1502664" y="736092"/>
                  </a:lnTo>
                  <a:lnTo>
                    <a:pt x="1505712" y="702564"/>
                  </a:lnTo>
                  <a:close/>
                </a:path>
                <a:path w="1506220" h="826135">
                  <a:moveTo>
                    <a:pt x="33600" y="826008"/>
                  </a:moveTo>
                  <a:lnTo>
                    <a:pt x="19812" y="768096"/>
                  </a:lnTo>
                  <a:lnTo>
                    <a:pt x="15240" y="734568"/>
                  </a:lnTo>
                  <a:lnTo>
                    <a:pt x="12192" y="702564"/>
                  </a:lnTo>
                  <a:lnTo>
                    <a:pt x="12192" y="790346"/>
                  </a:lnTo>
                  <a:lnTo>
                    <a:pt x="20682" y="826008"/>
                  </a:lnTo>
                  <a:lnTo>
                    <a:pt x="33600" y="826008"/>
                  </a:lnTo>
                  <a:close/>
                </a:path>
                <a:path w="1506220" h="826135">
                  <a:moveTo>
                    <a:pt x="1493520" y="789736"/>
                  </a:moveTo>
                  <a:lnTo>
                    <a:pt x="1493520" y="669036"/>
                  </a:lnTo>
                  <a:lnTo>
                    <a:pt x="1491996" y="702564"/>
                  </a:lnTo>
                  <a:lnTo>
                    <a:pt x="1488948" y="736092"/>
                  </a:lnTo>
                  <a:lnTo>
                    <a:pt x="1484376" y="768096"/>
                  </a:lnTo>
                  <a:lnTo>
                    <a:pt x="1478280" y="800100"/>
                  </a:lnTo>
                  <a:lnTo>
                    <a:pt x="1472111" y="826008"/>
                  </a:lnTo>
                  <a:lnTo>
                    <a:pt x="1485029" y="826008"/>
                  </a:lnTo>
                  <a:lnTo>
                    <a:pt x="1490472" y="803148"/>
                  </a:lnTo>
                  <a:lnTo>
                    <a:pt x="1493520" y="789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28931" y="3454398"/>
            <a:ext cx="10013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Gramática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33978" y="3393948"/>
            <a:ext cx="3683635" cy="384175"/>
            <a:chOff x="6133978" y="3393948"/>
            <a:chExt cx="3683635" cy="384175"/>
          </a:xfrm>
        </p:grpSpPr>
        <p:sp>
          <p:nvSpPr>
            <p:cNvPr id="15" name="object 15"/>
            <p:cNvSpPr/>
            <p:nvPr/>
          </p:nvSpPr>
          <p:spPr>
            <a:xfrm>
              <a:off x="6133978" y="3526536"/>
              <a:ext cx="2240280" cy="76200"/>
            </a:xfrm>
            <a:custGeom>
              <a:avLst/>
              <a:gdLst/>
              <a:ahLst/>
              <a:cxnLst/>
              <a:rect l="l" t="t" r="r" b="b"/>
              <a:pathLst>
                <a:path w="2240279" h="76200">
                  <a:moveTo>
                    <a:pt x="2177796" y="45720"/>
                  </a:moveTo>
                  <a:lnTo>
                    <a:pt x="2177796" y="32004"/>
                  </a:lnTo>
                  <a:lnTo>
                    <a:pt x="0" y="32004"/>
                  </a:lnTo>
                  <a:lnTo>
                    <a:pt x="0" y="45720"/>
                  </a:lnTo>
                  <a:lnTo>
                    <a:pt x="2177796" y="45720"/>
                  </a:lnTo>
                  <a:close/>
                </a:path>
                <a:path w="2240279" h="76200">
                  <a:moveTo>
                    <a:pt x="2240280" y="38100"/>
                  </a:moveTo>
                  <a:lnTo>
                    <a:pt x="2164080" y="0"/>
                  </a:lnTo>
                  <a:lnTo>
                    <a:pt x="2164080" y="32004"/>
                  </a:lnTo>
                  <a:lnTo>
                    <a:pt x="2177796" y="32004"/>
                  </a:lnTo>
                  <a:lnTo>
                    <a:pt x="2177796" y="69342"/>
                  </a:lnTo>
                  <a:lnTo>
                    <a:pt x="2240280" y="38100"/>
                  </a:lnTo>
                  <a:close/>
                </a:path>
                <a:path w="2240279" h="76200">
                  <a:moveTo>
                    <a:pt x="2177796" y="69342"/>
                  </a:moveTo>
                  <a:lnTo>
                    <a:pt x="2177796" y="45720"/>
                  </a:lnTo>
                  <a:lnTo>
                    <a:pt x="2164080" y="45720"/>
                  </a:lnTo>
                  <a:lnTo>
                    <a:pt x="2164080" y="76200"/>
                  </a:lnTo>
                  <a:lnTo>
                    <a:pt x="2177796" y="69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74258" y="3400044"/>
              <a:ext cx="1437640" cy="378460"/>
            </a:xfrm>
            <a:custGeom>
              <a:avLst/>
              <a:gdLst/>
              <a:ahLst/>
              <a:cxnLst/>
              <a:rect l="l" t="t" r="r" b="b"/>
              <a:pathLst>
                <a:path w="1437640" h="378460">
                  <a:moveTo>
                    <a:pt x="0" y="0"/>
                  </a:moveTo>
                  <a:lnTo>
                    <a:pt x="0" y="377952"/>
                  </a:lnTo>
                  <a:lnTo>
                    <a:pt x="1437132" y="377952"/>
                  </a:lnTo>
                  <a:lnTo>
                    <a:pt x="1437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68162" y="3393948"/>
              <a:ext cx="1449705" cy="384175"/>
            </a:xfrm>
            <a:custGeom>
              <a:avLst/>
              <a:gdLst/>
              <a:ahLst/>
              <a:cxnLst/>
              <a:rect l="l" t="t" r="r" b="b"/>
              <a:pathLst>
                <a:path w="1449704" h="384175">
                  <a:moveTo>
                    <a:pt x="1449324" y="384048"/>
                  </a:moveTo>
                  <a:lnTo>
                    <a:pt x="1449324" y="0"/>
                  </a:lnTo>
                  <a:lnTo>
                    <a:pt x="0" y="0"/>
                  </a:lnTo>
                  <a:lnTo>
                    <a:pt x="0" y="384048"/>
                  </a:lnTo>
                  <a:lnTo>
                    <a:pt x="6096" y="384048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1437132" y="12192"/>
                  </a:lnTo>
                  <a:lnTo>
                    <a:pt x="1437132" y="6096"/>
                  </a:lnTo>
                  <a:lnTo>
                    <a:pt x="1443228" y="12192"/>
                  </a:lnTo>
                  <a:lnTo>
                    <a:pt x="1443228" y="384048"/>
                  </a:lnTo>
                  <a:lnTo>
                    <a:pt x="1449324" y="384048"/>
                  </a:lnTo>
                  <a:close/>
                </a:path>
                <a:path w="1449704" h="384175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1449704" h="384175">
                  <a:moveTo>
                    <a:pt x="12192" y="384048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384048"/>
                  </a:lnTo>
                  <a:lnTo>
                    <a:pt x="12192" y="384048"/>
                  </a:lnTo>
                  <a:close/>
                </a:path>
                <a:path w="1449704" h="384175">
                  <a:moveTo>
                    <a:pt x="1443228" y="12192"/>
                  </a:moveTo>
                  <a:lnTo>
                    <a:pt x="1437132" y="6096"/>
                  </a:lnTo>
                  <a:lnTo>
                    <a:pt x="1437132" y="12192"/>
                  </a:lnTo>
                  <a:lnTo>
                    <a:pt x="1443228" y="12192"/>
                  </a:lnTo>
                  <a:close/>
                </a:path>
                <a:path w="1449704" h="384175">
                  <a:moveTo>
                    <a:pt x="1443228" y="384048"/>
                  </a:moveTo>
                  <a:lnTo>
                    <a:pt x="1443228" y="12192"/>
                  </a:lnTo>
                  <a:lnTo>
                    <a:pt x="1437132" y="12192"/>
                  </a:lnTo>
                  <a:lnTo>
                    <a:pt x="1437132" y="384048"/>
                  </a:lnTo>
                  <a:lnTo>
                    <a:pt x="1443228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74258" y="3426966"/>
            <a:ext cx="143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palavra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2535" y="3260850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Regra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produção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67696" y="4114290"/>
            <a:ext cx="6325870" cy="190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95"/>
              </a:spcBef>
              <a:tabLst>
                <a:tab pos="2345690" algn="l"/>
              </a:tabLst>
            </a:pP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Comic Sans MS"/>
                <a:cs typeface="Comic Sans MS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}</a:t>
            </a:r>
            <a:endParaRPr sz="2800">
              <a:latin typeface="Comic Sans MS"/>
              <a:cs typeface="Comic Sans MS"/>
            </a:endParaRPr>
          </a:p>
          <a:p>
            <a:pPr marL="137160" indent="-125095">
              <a:lnSpc>
                <a:spcPct val="100000"/>
              </a:lnSpc>
              <a:spcBef>
                <a:spcPts val="2350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dirty="0">
                <a:latin typeface="Comic Sans MS"/>
                <a:cs typeface="Comic Sans MS"/>
              </a:rPr>
              <a:t>Passos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para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gerar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palavra: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0032CC"/>
                </a:solidFill>
                <a:latin typeface="Comic Sans MS"/>
                <a:cs typeface="Comic Sans MS"/>
              </a:rPr>
              <a:t>abb</a:t>
            </a:r>
            <a:endParaRPr sz="2800">
              <a:latin typeface="Comic Sans MS"/>
              <a:cs typeface="Comic Sans MS"/>
            </a:endParaRPr>
          </a:p>
          <a:p>
            <a:pPr marL="137160" indent="-125095">
              <a:lnSpc>
                <a:spcPct val="100000"/>
              </a:lnSpc>
              <a:spcBef>
                <a:spcPts val="2355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dirty="0">
                <a:latin typeface="Comic Sans MS"/>
                <a:cs typeface="Comic Sans MS"/>
              </a:rPr>
              <a:t>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AB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BB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ab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sz="2800" spc="-20" dirty="0">
                <a:latin typeface="Comic Sans MS"/>
                <a:cs typeface="Comic Sans MS"/>
              </a:rPr>
              <a:t>.</a:t>
            </a:r>
            <a:endParaRPr sz="280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97133" y="3777996"/>
            <a:ext cx="5220970" cy="510540"/>
            <a:chOff x="4597133" y="3777996"/>
            <a:chExt cx="5220970" cy="510540"/>
          </a:xfrm>
        </p:grpSpPr>
        <p:sp>
          <p:nvSpPr>
            <p:cNvPr id="23" name="object 23"/>
            <p:cNvSpPr/>
            <p:nvPr/>
          </p:nvSpPr>
          <p:spPr>
            <a:xfrm>
              <a:off x="4604047" y="3777996"/>
              <a:ext cx="1450975" cy="504825"/>
            </a:xfrm>
            <a:custGeom>
              <a:avLst/>
              <a:gdLst/>
              <a:ahLst/>
              <a:cxnLst/>
              <a:rect l="l" t="t" r="r" b="b"/>
              <a:pathLst>
                <a:path w="1450975" h="504825">
                  <a:moveTo>
                    <a:pt x="1450518" y="0"/>
                  </a:moveTo>
                  <a:lnTo>
                    <a:pt x="0" y="0"/>
                  </a:lnTo>
                  <a:lnTo>
                    <a:pt x="5133" y="19021"/>
                  </a:lnTo>
                  <a:lnTo>
                    <a:pt x="19655" y="60460"/>
                  </a:lnTo>
                  <a:lnTo>
                    <a:pt x="37101" y="100678"/>
                  </a:lnTo>
                  <a:lnTo>
                    <a:pt x="57361" y="139580"/>
                  </a:lnTo>
                  <a:lnTo>
                    <a:pt x="80324" y="177065"/>
                  </a:lnTo>
                  <a:lnTo>
                    <a:pt x="105881" y="213038"/>
                  </a:lnTo>
                  <a:lnTo>
                    <a:pt x="133919" y="247399"/>
                  </a:lnTo>
                  <a:lnTo>
                    <a:pt x="164330" y="280050"/>
                  </a:lnTo>
                  <a:lnTo>
                    <a:pt x="197002" y="310895"/>
                  </a:lnTo>
                  <a:lnTo>
                    <a:pt x="231825" y="339835"/>
                  </a:lnTo>
                  <a:lnTo>
                    <a:pt x="268689" y="366772"/>
                  </a:lnTo>
                  <a:lnTo>
                    <a:pt x="307483" y="391608"/>
                  </a:lnTo>
                  <a:lnTo>
                    <a:pt x="348097" y="414245"/>
                  </a:lnTo>
                  <a:lnTo>
                    <a:pt x="390420" y="434586"/>
                  </a:lnTo>
                  <a:lnTo>
                    <a:pt x="434341" y="452532"/>
                  </a:lnTo>
                  <a:lnTo>
                    <a:pt x="479751" y="467986"/>
                  </a:lnTo>
                  <a:lnTo>
                    <a:pt x="526539" y="480849"/>
                  </a:lnTo>
                  <a:lnTo>
                    <a:pt x="574594" y="491025"/>
                  </a:lnTo>
                  <a:lnTo>
                    <a:pt x="623806" y="498414"/>
                  </a:lnTo>
                  <a:lnTo>
                    <a:pt x="674064" y="502920"/>
                  </a:lnTo>
                  <a:lnTo>
                    <a:pt x="725259" y="504443"/>
                  </a:lnTo>
                  <a:lnTo>
                    <a:pt x="776453" y="502920"/>
                  </a:lnTo>
                  <a:lnTo>
                    <a:pt x="826711" y="498414"/>
                  </a:lnTo>
                  <a:lnTo>
                    <a:pt x="875923" y="491025"/>
                  </a:lnTo>
                  <a:lnTo>
                    <a:pt x="923978" y="480849"/>
                  </a:lnTo>
                  <a:lnTo>
                    <a:pt x="970766" y="467986"/>
                  </a:lnTo>
                  <a:lnTo>
                    <a:pt x="1016176" y="452532"/>
                  </a:lnTo>
                  <a:lnTo>
                    <a:pt x="1060098" y="434586"/>
                  </a:lnTo>
                  <a:lnTo>
                    <a:pt x="1102420" y="414245"/>
                  </a:lnTo>
                  <a:lnTo>
                    <a:pt x="1143034" y="391608"/>
                  </a:lnTo>
                  <a:lnTo>
                    <a:pt x="1181828" y="366772"/>
                  </a:lnTo>
                  <a:lnTo>
                    <a:pt x="1218692" y="339835"/>
                  </a:lnTo>
                  <a:lnTo>
                    <a:pt x="1253515" y="310895"/>
                  </a:lnTo>
                  <a:lnTo>
                    <a:pt x="1286187" y="280050"/>
                  </a:lnTo>
                  <a:lnTo>
                    <a:pt x="1316598" y="247399"/>
                  </a:lnTo>
                  <a:lnTo>
                    <a:pt x="1344637" y="213038"/>
                  </a:lnTo>
                  <a:lnTo>
                    <a:pt x="1370193" y="177065"/>
                  </a:lnTo>
                  <a:lnTo>
                    <a:pt x="1393156" y="139580"/>
                  </a:lnTo>
                  <a:lnTo>
                    <a:pt x="1413416" y="100678"/>
                  </a:lnTo>
                  <a:lnTo>
                    <a:pt x="1430862" y="60460"/>
                  </a:lnTo>
                  <a:lnTo>
                    <a:pt x="1445384" y="19021"/>
                  </a:lnTo>
                  <a:lnTo>
                    <a:pt x="1450518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97133" y="3777996"/>
              <a:ext cx="1464945" cy="510540"/>
            </a:xfrm>
            <a:custGeom>
              <a:avLst/>
              <a:gdLst/>
              <a:ahLst/>
              <a:cxnLst/>
              <a:rect l="l" t="t" r="r" b="b"/>
              <a:pathLst>
                <a:path w="1464945" h="510539">
                  <a:moveTo>
                    <a:pt x="1464346" y="0"/>
                  </a:moveTo>
                  <a:lnTo>
                    <a:pt x="1451428" y="0"/>
                  </a:lnTo>
                  <a:lnTo>
                    <a:pt x="1449977" y="6095"/>
                  </a:lnTo>
                  <a:lnTo>
                    <a:pt x="1439309" y="38099"/>
                  </a:lnTo>
                  <a:lnTo>
                    <a:pt x="1414925" y="97535"/>
                  </a:lnTo>
                  <a:lnTo>
                    <a:pt x="1382921" y="155447"/>
                  </a:lnTo>
                  <a:lnTo>
                    <a:pt x="1346345" y="208787"/>
                  </a:lnTo>
                  <a:lnTo>
                    <a:pt x="1303673" y="259079"/>
                  </a:lnTo>
                  <a:lnTo>
                    <a:pt x="1256429" y="306323"/>
                  </a:lnTo>
                  <a:lnTo>
                    <a:pt x="1203089" y="348995"/>
                  </a:lnTo>
                  <a:lnTo>
                    <a:pt x="1146701" y="385571"/>
                  </a:lnTo>
                  <a:lnTo>
                    <a:pt x="1085741" y="419099"/>
                  </a:lnTo>
                  <a:lnTo>
                    <a:pt x="986681" y="458723"/>
                  </a:lnTo>
                  <a:lnTo>
                    <a:pt x="881525" y="484631"/>
                  </a:lnTo>
                  <a:lnTo>
                    <a:pt x="808373" y="495299"/>
                  </a:lnTo>
                  <a:lnTo>
                    <a:pt x="732173" y="498347"/>
                  </a:lnTo>
                  <a:lnTo>
                    <a:pt x="655973" y="495299"/>
                  </a:lnTo>
                  <a:lnTo>
                    <a:pt x="582821" y="484631"/>
                  </a:lnTo>
                  <a:lnTo>
                    <a:pt x="511193" y="469391"/>
                  </a:lnTo>
                  <a:lnTo>
                    <a:pt x="442613" y="446531"/>
                  </a:lnTo>
                  <a:lnTo>
                    <a:pt x="378605" y="419099"/>
                  </a:lnTo>
                  <a:lnTo>
                    <a:pt x="317645" y="385571"/>
                  </a:lnTo>
                  <a:lnTo>
                    <a:pt x="259733" y="348995"/>
                  </a:lnTo>
                  <a:lnTo>
                    <a:pt x="207917" y="306323"/>
                  </a:lnTo>
                  <a:lnTo>
                    <a:pt x="137813" y="234695"/>
                  </a:lnTo>
                  <a:lnTo>
                    <a:pt x="98189" y="182879"/>
                  </a:lnTo>
                  <a:lnTo>
                    <a:pt x="49421" y="97535"/>
                  </a:lnTo>
                  <a:lnTo>
                    <a:pt x="14369" y="6095"/>
                  </a:lnTo>
                  <a:lnTo>
                    <a:pt x="12917" y="0"/>
                  </a:lnTo>
                  <a:lnTo>
                    <a:pt x="0" y="0"/>
                  </a:lnTo>
                  <a:lnTo>
                    <a:pt x="12845" y="41147"/>
                  </a:lnTo>
                  <a:lnTo>
                    <a:pt x="38753" y="103631"/>
                  </a:lnTo>
                  <a:lnTo>
                    <a:pt x="69233" y="161543"/>
                  </a:lnTo>
                  <a:lnTo>
                    <a:pt x="107333" y="216407"/>
                  </a:lnTo>
                  <a:lnTo>
                    <a:pt x="151529" y="268223"/>
                  </a:lnTo>
                  <a:lnTo>
                    <a:pt x="226205" y="338327"/>
                  </a:lnTo>
                  <a:lnTo>
                    <a:pt x="281069" y="377951"/>
                  </a:lnTo>
                  <a:lnTo>
                    <a:pt x="342029" y="414527"/>
                  </a:lnTo>
                  <a:lnTo>
                    <a:pt x="406037" y="445007"/>
                  </a:lnTo>
                  <a:lnTo>
                    <a:pt x="473093" y="470915"/>
                  </a:lnTo>
                  <a:lnTo>
                    <a:pt x="544721" y="490727"/>
                  </a:lnTo>
                  <a:lnTo>
                    <a:pt x="617873" y="502919"/>
                  </a:lnTo>
                  <a:lnTo>
                    <a:pt x="654449" y="507491"/>
                  </a:lnTo>
                  <a:lnTo>
                    <a:pt x="694073" y="510539"/>
                  </a:lnTo>
                  <a:lnTo>
                    <a:pt x="770273" y="510539"/>
                  </a:lnTo>
                  <a:lnTo>
                    <a:pt x="808373" y="507491"/>
                  </a:lnTo>
                  <a:lnTo>
                    <a:pt x="846473" y="502919"/>
                  </a:lnTo>
                  <a:lnTo>
                    <a:pt x="919625" y="490727"/>
                  </a:lnTo>
                  <a:lnTo>
                    <a:pt x="991253" y="470915"/>
                  </a:lnTo>
                  <a:lnTo>
                    <a:pt x="1058309" y="445007"/>
                  </a:lnTo>
                  <a:lnTo>
                    <a:pt x="1122317" y="414527"/>
                  </a:lnTo>
                  <a:lnTo>
                    <a:pt x="1183277" y="377951"/>
                  </a:lnTo>
                  <a:lnTo>
                    <a:pt x="1238141" y="338327"/>
                  </a:lnTo>
                  <a:lnTo>
                    <a:pt x="1289957" y="292607"/>
                  </a:lnTo>
                  <a:lnTo>
                    <a:pt x="1335677" y="242315"/>
                  </a:lnTo>
                  <a:lnTo>
                    <a:pt x="1376825" y="188975"/>
                  </a:lnTo>
                  <a:lnTo>
                    <a:pt x="1410353" y="132587"/>
                  </a:lnTo>
                  <a:lnTo>
                    <a:pt x="1439309" y="73151"/>
                  </a:lnTo>
                  <a:lnTo>
                    <a:pt x="1462169" y="9143"/>
                  </a:lnTo>
                  <a:lnTo>
                    <a:pt x="1464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74258" y="3777996"/>
              <a:ext cx="1437640" cy="7620"/>
            </a:xfrm>
            <a:custGeom>
              <a:avLst/>
              <a:gdLst/>
              <a:ahLst/>
              <a:cxnLst/>
              <a:rect l="l" t="t" r="r" b="b"/>
              <a:pathLst>
                <a:path w="1437640" h="7620">
                  <a:moveTo>
                    <a:pt x="1437131" y="7619"/>
                  </a:moveTo>
                  <a:lnTo>
                    <a:pt x="1437131" y="0"/>
                  </a:lnTo>
                  <a:lnTo>
                    <a:pt x="0" y="0"/>
                  </a:lnTo>
                  <a:lnTo>
                    <a:pt x="0" y="7619"/>
                  </a:lnTo>
                  <a:lnTo>
                    <a:pt x="1437131" y="7619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68162" y="3777996"/>
              <a:ext cx="1449705" cy="13970"/>
            </a:xfrm>
            <a:custGeom>
              <a:avLst/>
              <a:gdLst/>
              <a:ahLst/>
              <a:cxnLst/>
              <a:rect l="l" t="t" r="r" b="b"/>
              <a:pathLst>
                <a:path w="1449704" h="13970">
                  <a:moveTo>
                    <a:pt x="12192" y="1523"/>
                  </a:moveTo>
                  <a:lnTo>
                    <a:pt x="12192" y="0"/>
                  </a:lnTo>
                  <a:lnTo>
                    <a:pt x="0" y="0"/>
                  </a:lnTo>
                  <a:lnTo>
                    <a:pt x="0" y="13715"/>
                  </a:lnTo>
                  <a:lnTo>
                    <a:pt x="6096" y="13715"/>
                  </a:lnTo>
                  <a:lnTo>
                    <a:pt x="6096" y="1523"/>
                  </a:lnTo>
                  <a:lnTo>
                    <a:pt x="12192" y="1523"/>
                  </a:lnTo>
                  <a:close/>
                </a:path>
                <a:path w="1449704" h="13970">
                  <a:moveTo>
                    <a:pt x="1443228" y="1523"/>
                  </a:moveTo>
                  <a:lnTo>
                    <a:pt x="6096" y="1523"/>
                  </a:lnTo>
                  <a:lnTo>
                    <a:pt x="12192" y="7619"/>
                  </a:lnTo>
                  <a:lnTo>
                    <a:pt x="12192" y="13715"/>
                  </a:lnTo>
                  <a:lnTo>
                    <a:pt x="1437132" y="13715"/>
                  </a:lnTo>
                  <a:lnTo>
                    <a:pt x="1437132" y="7619"/>
                  </a:lnTo>
                  <a:lnTo>
                    <a:pt x="1443228" y="1523"/>
                  </a:lnTo>
                  <a:close/>
                </a:path>
                <a:path w="1449704" h="13970">
                  <a:moveTo>
                    <a:pt x="12192" y="13715"/>
                  </a:moveTo>
                  <a:lnTo>
                    <a:pt x="12192" y="7619"/>
                  </a:lnTo>
                  <a:lnTo>
                    <a:pt x="6096" y="1523"/>
                  </a:lnTo>
                  <a:lnTo>
                    <a:pt x="6096" y="13715"/>
                  </a:lnTo>
                  <a:lnTo>
                    <a:pt x="12192" y="13715"/>
                  </a:lnTo>
                  <a:close/>
                </a:path>
                <a:path w="1449704" h="13970">
                  <a:moveTo>
                    <a:pt x="1449324" y="13715"/>
                  </a:moveTo>
                  <a:lnTo>
                    <a:pt x="1449324" y="0"/>
                  </a:lnTo>
                  <a:lnTo>
                    <a:pt x="1437132" y="0"/>
                  </a:lnTo>
                  <a:lnTo>
                    <a:pt x="1437132" y="1523"/>
                  </a:lnTo>
                  <a:lnTo>
                    <a:pt x="1443228" y="1523"/>
                  </a:lnTo>
                  <a:lnTo>
                    <a:pt x="1443228" y="13715"/>
                  </a:lnTo>
                  <a:lnTo>
                    <a:pt x="1449324" y="13715"/>
                  </a:lnTo>
                  <a:close/>
                </a:path>
                <a:path w="1449704" h="13970">
                  <a:moveTo>
                    <a:pt x="1443228" y="13715"/>
                  </a:moveTo>
                  <a:lnTo>
                    <a:pt x="1443228" y="1523"/>
                  </a:lnTo>
                  <a:lnTo>
                    <a:pt x="1437132" y="7619"/>
                  </a:lnTo>
                  <a:lnTo>
                    <a:pt x="1437132" y="13715"/>
                  </a:lnTo>
                  <a:lnTo>
                    <a:pt x="1443228" y="13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9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30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37919"/>
            <a:ext cx="36785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Gramática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no</a:t>
            </a:r>
            <a:r>
              <a:rPr sz="32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JFlap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0396" y="1914481"/>
            <a:ext cx="8350250" cy="19462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•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G</a:t>
            </a:r>
            <a:r>
              <a:rPr sz="28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28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{S,A,B},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{a,b},</a:t>
            </a:r>
            <a:r>
              <a:rPr sz="28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P,</a:t>
            </a:r>
            <a:r>
              <a:rPr sz="28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350"/>
              </a:spcBef>
              <a:tabLst>
                <a:tab pos="1125855" algn="l"/>
              </a:tabLst>
            </a:pPr>
            <a:r>
              <a:rPr sz="2800" spc="-20" dirty="0">
                <a:latin typeface="Arial"/>
                <a:cs typeface="Arial"/>
              </a:rPr>
              <a:t>•</a:t>
            </a:r>
            <a:r>
              <a:rPr sz="2800" spc="-20" dirty="0">
                <a:latin typeface="Comic Sans MS"/>
                <a:cs typeface="Comic Sans MS"/>
              </a:rPr>
              <a:t>P={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Comic Sans MS"/>
                <a:cs typeface="Comic Sans MS"/>
              </a:rPr>
              <a:t>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Wingdings"/>
                <a:cs typeface="Wingdings"/>
              </a:rPr>
              <a:t></a:t>
            </a:r>
            <a:r>
              <a:rPr sz="2800" spc="-25" dirty="0">
                <a:latin typeface="Comic Sans MS"/>
                <a:cs typeface="Comic Sans MS"/>
              </a:rPr>
              <a:t>AB</a:t>
            </a:r>
            <a:endParaRPr sz="2800">
              <a:latin typeface="Comic Sans MS"/>
              <a:cs typeface="Comic Sans MS"/>
            </a:endParaRPr>
          </a:p>
          <a:p>
            <a:pPr marL="1125855">
              <a:lnSpc>
                <a:spcPct val="100000"/>
              </a:lnSpc>
              <a:spcBef>
                <a:spcPts val="350"/>
              </a:spcBef>
              <a:tabLst>
                <a:tab pos="3761104" algn="l"/>
                <a:tab pos="5164455" algn="l"/>
                <a:tab pos="7672705" algn="l"/>
              </a:tabLst>
            </a:pPr>
            <a:r>
              <a:rPr sz="4200" baseline="-39682" dirty="0">
                <a:latin typeface="Comic Sans MS"/>
                <a:cs typeface="Comic Sans MS"/>
              </a:rPr>
              <a:t>A</a:t>
            </a:r>
            <a:r>
              <a:rPr sz="4200" spc="165" baseline="-39682" dirty="0">
                <a:latin typeface="Times New Roman"/>
                <a:cs typeface="Times New Roman"/>
              </a:rPr>
              <a:t> </a:t>
            </a:r>
            <a:r>
              <a:rPr sz="4200" baseline="-39682" dirty="0">
                <a:latin typeface="Wingdings"/>
                <a:cs typeface="Wingdings"/>
              </a:rPr>
              <a:t></a:t>
            </a:r>
            <a:r>
              <a:rPr sz="4200" spc="172" baseline="-39682" dirty="0">
                <a:latin typeface="Times New Roman"/>
                <a:cs typeface="Times New Roman"/>
              </a:rPr>
              <a:t> </a:t>
            </a:r>
            <a:r>
              <a:rPr sz="4200" baseline="-39682" dirty="0">
                <a:latin typeface="Comic Sans MS"/>
                <a:cs typeface="Comic Sans MS"/>
              </a:rPr>
              <a:t>a</a:t>
            </a:r>
            <a:r>
              <a:rPr sz="4200" spc="187" baseline="-39682" dirty="0">
                <a:latin typeface="Times New Roman"/>
                <a:cs typeface="Times New Roman"/>
              </a:rPr>
              <a:t> </a:t>
            </a:r>
            <a:r>
              <a:rPr sz="4200" baseline="-39682" dirty="0">
                <a:latin typeface="Comic Sans MS"/>
                <a:cs typeface="Comic Sans MS"/>
              </a:rPr>
              <a:t>|</a:t>
            </a:r>
            <a:r>
              <a:rPr sz="4200" spc="165" baseline="-39682" dirty="0">
                <a:latin typeface="Times New Roman"/>
                <a:cs typeface="Times New Roman"/>
              </a:rPr>
              <a:t> </a:t>
            </a:r>
            <a:r>
              <a:rPr sz="4200" spc="-37" baseline="-39682" dirty="0">
                <a:latin typeface="Comic Sans MS"/>
                <a:cs typeface="Comic Sans MS"/>
              </a:rPr>
              <a:t>AB</a:t>
            </a:r>
            <a:r>
              <a:rPr sz="4200" baseline="-39682" dirty="0">
                <a:latin typeface="Times New Roman"/>
                <a:cs typeface="Times New Roman"/>
              </a:rPr>
              <a:t>	</a:t>
            </a:r>
            <a:r>
              <a:rPr sz="2700" b="1" spc="-15" baseline="-46296" dirty="0">
                <a:latin typeface="Calibri"/>
                <a:cs typeface="Calibri"/>
              </a:rPr>
              <a:t>Gramática</a:t>
            </a:r>
            <a:r>
              <a:rPr sz="2700" baseline="-46296" dirty="0">
                <a:latin typeface="Times New Roman"/>
                <a:cs typeface="Times New Roman"/>
              </a:rPr>
              <a:t>	</a:t>
            </a:r>
            <a:r>
              <a:rPr sz="1800" i="1" dirty="0">
                <a:latin typeface="Calibri"/>
                <a:cs typeface="Calibri"/>
              </a:rPr>
              <a:t>Regra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produção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2700" spc="-30" baseline="-40123" dirty="0">
                <a:latin typeface="Calibri"/>
                <a:cs typeface="Calibri"/>
              </a:rPr>
              <a:t>palavra</a:t>
            </a:r>
            <a:endParaRPr sz="2700" baseline="-40123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6450" y="2951988"/>
            <a:ext cx="5241290" cy="826135"/>
            <a:chOff x="4576450" y="2951988"/>
            <a:chExt cx="5241290" cy="826135"/>
          </a:xfrm>
        </p:grpSpPr>
        <p:sp>
          <p:nvSpPr>
            <p:cNvPr id="9" name="object 9"/>
            <p:cNvSpPr/>
            <p:nvPr/>
          </p:nvSpPr>
          <p:spPr>
            <a:xfrm>
              <a:off x="4582546" y="2958084"/>
              <a:ext cx="1493520" cy="820419"/>
            </a:xfrm>
            <a:custGeom>
              <a:avLst/>
              <a:gdLst/>
              <a:ahLst/>
              <a:cxnLst/>
              <a:rect l="l" t="t" r="r" b="b"/>
              <a:pathLst>
                <a:path w="1493520" h="820420">
                  <a:moveTo>
                    <a:pt x="1493520" y="662940"/>
                  </a:moveTo>
                  <a:lnTo>
                    <a:pt x="1491800" y="617593"/>
                  </a:lnTo>
                  <a:lnTo>
                    <a:pt x="1486714" y="573061"/>
                  </a:lnTo>
                  <a:lnTo>
                    <a:pt x="1478372" y="529441"/>
                  </a:lnTo>
                  <a:lnTo>
                    <a:pt x="1466885" y="486833"/>
                  </a:lnTo>
                  <a:lnTo>
                    <a:pt x="1452363" y="445336"/>
                  </a:lnTo>
                  <a:lnTo>
                    <a:pt x="1434917" y="405050"/>
                  </a:lnTo>
                  <a:lnTo>
                    <a:pt x="1414657" y="366074"/>
                  </a:lnTo>
                  <a:lnTo>
                    <a:pt x="1391694" y="328506"/>
                  </a:lnTo>
                  <a:lnTo>
                    <a:pt x="1366138" y="292447"/>
                  </a:lnTo>
                  <a:lnTo>
                    <a:pt x="1338099" y="257995"/>
                  </a:lnTo>
                  <a:lnTo>
                    <a:pt x="1307688" y="225249"/>
                  </a:lnTo>
                  <a:lnTo>
                    <a:pt x="1275016" y="194310"/>
                  </a:lnTo>
                  <a:lnTo>
                    <a:pt x="1240193" y="165275"/>
                  </a:lnTo>
                  <a:lnTo>
                    <a:pt x="1203329" y="138244"/>
                  </a:lnTo>
                  <a:lnTo>
                    <a:pt x="1164535" y="113317"/>
                  </a:lnTo>
                  <a:lnTo>
                    <a:pt x="1123921" y="90593"/>
                  </a:lnTo>
                  <a:lnTo>
                    <a:pt x="1081598" y="70170"/>
                  </a:lnTo>
                  <a:lnTo>
                    <a:pt x="1037677" y="52149"/>
                  </a:lnTo>
                  <a:lnTo>
                    <a:pt x="992267" y="36628"/>
                  </a:lnTo>
                  <a:lnTo>
                    <a:pt x="945479" y="23706"/>
                  </a:lnTo>
                  <a:lnTo>
                    <a:pt x="897424" y="13483"/>
                  </a:lnTo>
                  <a:lnTo>
                    <a:pt x="848212" y="6058"/>
                  </a:lnTo>
                  <a:lnTo>
                    <a:pt x="797954" y="1531"/>
                  </a:lnTo>
                  <a:lnTo>
                    <a:pt x="746760" y="0"/>
                  </a:lnTo>
                  <a:lnTo>
                    <a:pt x="695565" y="1531"/>
                  </a:lnTo>
                  <a:lnTo>
                    <a:pt x="645307" y="6058"/>
                  </a:lnTo>
                  <a:lnTo>
                    <a:pt x="596095" y="13483"/>
                  </a:lnTo>
                  <a:lnTo>
                    <a:pt x="548040" y="23706"/>
                  </a:lnTo>
                  <a:lnTo>
                    <a:pt x="501252" y="36628"/>
                  </a:lnTo>
                  <a:lnTo>
                    <a:pt x="455842" y="52149"/>
                  </a:lnTo>
                  <a:lnTo>
                    <a:pt x="411921" y="70170"/>
                  </a:lnTo>
                  <a:lnTo>
                    <a:pt x="369598" y="90593"/>
                  </a:lnTo>
                  <a:lnTo>
                    <a:pt x="328984" y="113317"/>
                  </a:lnTo>
                  <a:lnTo>
                    <a:pt x="290190" y="138244"/>
                  </a:lnTo>
                  <a:lnTo>
                    <a:pt x="253326" y="165275"/>
                  </a:lnTo>
                  <a:lnTo>
                    <a:pt x="218503" y="194310"/>
                  </a:lnTo>
                  <a:lnTo>
                    <a:pt x="185831" y="225249"/>
                  </a:lnTo>
                  <a:lnTo>
                    <a:pt x="155420" y="257995"/>
                  </a:lnTo>
                  <a:lnTo>
                    <a:pt x="127381" y="292447"/>
                  </a:lnTo>
                  <a:lnTo>
                    <a:pt x="101825" y="328506"/>
                  </a:lnTo>
                  <a:lnTo>
                    <a:pt x="78862" y="366074"/>
                  </a:lnTo>
                  <a:lnTo>
                    <a:pt x="58602" y="405050"/>
                  </a:lnTo>
                  <a:lnTo>
                    <a:pt x="41156" y="445336"/>
                  </a:lnTo>
                  <a:lnTo>
                    <a:pt x="26634" y="486833"/>
                  </a:lnTo>
                  <a:lnTo>
                    <a:pt x="15147" y="529441"/>
                  </a:lnTo>
                  <a:lnTo>
                    <a:pt x="6805" y="573061"/>
                  </a:lnTo>
                  <a:lnTo>
                    <a:pt x="1719" y="617593"/>
                  </a:lnTo>
                  <a:lnTo>
                    <a:pt x="0" y="662940"/>
                  </a:lnTo>
                  <a:lnTo>
                    <a:pt x="1719" y="708278"/>
                  </a:lnTo>
                  <a:lnTo>
                    <a:pt x="6805" y="752788"/>
                  </a:lnTo>
                  <a:lnTo>
                    <a:pt x="15147" y="796373"/>
                  </a:lnTo>
                  <a:lnTo>
                    <a:pt x="21500" y="819912"/>
                  </a:lnTo>
                  <a:lnTo>
                    <a:pt x="1472019" y="819912"/>
                  </a:lnTo>
                  <a:lnTo>
                    <a:pt x="1478372" y="796373"/>
                  </a:lnTo>
                  <a:lnTo>
                    <a:pt x="1486714" y="752788"/>
                  </a:lnTo>
                  <a:lnTo>
                    <a:pt x="1491800" y="708278"/>
                  </a:lnTo>
                  <a:lnTo>
                    <a:pt x="1493520" y="66294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6445" y="2952000"/>
              <a:ext cx="3797935" cy="826135"/>
            </a:xfrm>
            <a:custGeom>
              <a:avLst/>
              <a:gdLst/>
              <a:ahLst/>
              <a:cxnLst/>
              <a:rect l="l" t="t" r="r" b="b"/>
              <a:pathLst>
                <a:path w="3797934" h="826135">
                  <a:moveTo>
                    <a:pt x="1505712" y="633984"/>
                  </a:moveTo>
                  <a:lnTo>
                    <a:pt x="1490472" y="533400"/>
                  </a:lnTo>
                  <a:lnTo>
                    <a:pt x="1472184" y="469392"/>
                  </a:lnTo>
                  <a:lnTo>
                    <a:pt x="1446276" y="408432"/>
                  </a:lnTo>
                  <a:lnTo>
                    <a:pt x="1414272" y="348996"/>
                  </a:lnTo>
                  <a:lnTo>
                    <a:pt x="1377696" y="294132"/>
                  </a:lnTo>
                  <a:lnTo>
                    <a:pt x="1333500" y="242316"/>
                  </a:lnTo>
                  <a:lnTo>
                    <a:pt x="1284732" y="195072"/>
                  </a:lnTo>
                  <a:lnTo>
                    <a:pt x="1231392" y="152400"/>
                  </a:lnTo>
                  <a:lnTo>
                    <a:pt x="1173480" y="114300"/>
                  </a:lnTo>
                  <a:lnTo>
                    <a:pt x="1078992" y="65532"/>
                  </a:lnTo>
                  <a:lnTo>
                    <a:pt x="1011936" y="39624"/>
                  </a:lnTo>
                  <a:lnTo>
                    <a:pt x="903732" y="13716"/>
                  </a:lnTo>
                  <a:lnTo>
                    <a:pt x="829056" y="3048"/>
                  </a:lnTo>
                  <a:lnTo>
                    <a:pt x="790956" y="0"/>
                  </a:lnTo>
                  <a:lnTo>
                    <a:pt x="713232" y="0"/>
                  </a:lnTo>
                  <a:lnTo>
                    <a:pt x="675132" y="3048"/>
                  </a:lnTo>
                  <a:lnTo>
                    <a:pt x="600456" y="13716"/>
                  </a:lnTo>
                  <a:lnTo>
                    <a:pt x="493776" y="39624"/>
                  </a:lnTo>
                  <a:lnTo>
                    <a:pt x="426720" y="65532"/>
                  </a:lnTo>
                  <a:lnTo>
                    <a:pt x="362712" y="96012"/>
                  </a:lnTo>
                  <a:lnTo>
                    <a:pt x="301752" y="132588"/>
                  </a:lnTo>
                  <a:lnTo>
                    <a:pt x="219456" y="195072"/>
                  </a:lnTo>
                  <a:lnTo>
                    <a:pt x="172212" y="242316"/>
                  </a:lnTo>
                  <a:lnTo>
                    <a:pt x="128016" y="294132"/>
                  </a:lnTo>
                  <a:lnTo>
                    <a:pt x="89916" y="348996"/>
                  </a:lnTo>
                  <a:lnTo>
                    <a:pt x="57912" y="408432"/>
                  </a:lnTo>
                  <a:lnTo>
                    <a:pt x="33528" y="469392"/>
                  </a:lnTo>
                  <a:lnTo>
                    <a:pt x="15240" y="533400"/>
                  </a:lnTo>
                  <a:lnTo>
                    <a:pt x="3048" y="600456"/>
                  </a:lnTo>
                  <a:lnTo>
                    <a:pt x="0" y="633984"/>
                  </a:lnTo>
                  <a:lnTo>
                    <a:pt x="0" y="702564"/>
                  </a:lnTo>
                  <a:lnTo>
                    <a:pt x="3048" y="737616"/>
                  </a:lnTo>
                  <a:lnTo>
                    <a:pt x="7620" y="771144"/>
                  </a:lnTo>
                  <a:lnTo>
                    <a:pt x="12192" y="790346"/>
                  </a:lnTo>
                  <a:lnTo>
                    <a:pt x="20675" y="826008"/>
                  </a:lnTo>
                  <a:lnTo>
                    <a:pt x="33604" y="826008"/>
                  </a:lnTo>
                  <a:lnTo>
                    <a:pt x="19812" y="768096"/>
                  </a:lnTo>
                  <a:lnTo>
                    <a:pt x="15240" y="734568"/>
                  </a:lnTo>
                  <a:lnTo>
                    <a:pt x="12192" y="702564"/>
                  </a:lnTo>
                  <a:lnTo>
                    <a:pt x="12192" y="667512"/>
                  </a:lnTo>
                  <a:lnTo>
                    <a:pt x="15240" y="601980"/>
                  </a:lnTo>
                  <a:lnTo>
                    <a:pt x="35052" y="504444"/>
                  </a:lnTo>
                  <a:lnTo>
                    <a:pt x="56388" y="443484"/>
                  </a:lnTo>
                  <a:lnTo>
                    <a:pt x="85344" y="384048"/>
                  </a:lnTo>
                  <a:lnTo>
                    <a:pt x="102108" y="356616"/>
                  </a:lnTo>
                  <a:lnTo>
                    <a:pt x="118872" y="327660"/>
                  </a:lnTo>
                  <a:lnTo>
                    <a:pt x="158496" y="275844"/>
                  </a:lnTo>
                  <a:lnTo>
                    <a:pt x="204216" y="227076"/>
                  </a:lnTo>
                  <a:lnTo>
                    <a:pt x="254508" y="182880"/>
                  </a:lnTo>
                  <a:lnTo>
                    <a:pt x="309372" y="143256"/>
                  </a:lnTo>
                  <a:lnTo>
                    <a:pt x="399288" y="91440"/>
                  </a:lnTo>
                  <a:lnTo>
                    <a:pt x="464820" y="64008"/>
                  </a:lnTo>
                  <a:lnTo>
                    <a:pt x="531876" y="42672"/>
                  </a:lnTo>
                  <a:lnTo>
                    <a:pt x="603504" y="25908"/>
                  </a:lnTo>
                  <a:lnTo>
                    <a:pt x="676656" y="15240"/>
                  </a:lnTo>
                  <a:lnTo>
                    <a:pt x="752856" y="12192"/>
                  </a:lnTo>
                  <a:lnTo>
                    <a:pt x="829056" y="15240"/>
                  </a:lnTo>
                  <a:lnTo>
                    <a:pt x="902208" y="25908"/>
                  </a:lnTo>
                  <a:lnTo>
                    <a:pt x="973836" y="42672"/>
                  </a:lnTo>
                  <a:lnTo>
                    <a:pt x="1040892" y="64008"/>
                  </a:lnTo>
                  <a:lnTo>
                    <a:pt x="1106424" y="91440"/>
                  </a:lnTo>
                  <a:lnTo>
                    <a:pt x="1167384" y="124968"/>
                  </a:lnTo>
                  <a:lnTo>
                    <a:pt x="1251204" y="182880"/>
                  </a:lnTo>
                  <a:lnTo>
                    <a:pt x="1301496" y="227076"/>
                  </a:lnTo>
                  <a:lnTo>
                    <a:pt x="1347216" y="275844"/>
                  </a:lnTo>
                  <a:lnTo>
                    <a:pt x="1386840" y="329184"/>
                  </a:lnTo>
                  <a:lnTo>
                    <a:pt x="1420368" y="384048"/>
                  </a:lnTo>
                  <a:lnTo>
                    <a:pt x="1449324" y="443484"/>
                  </a:lnTo>
                  <a:lnTo>
                    <a:pt x="1470660" y="504444"/>
                  </a:lnTo>
                  <a:lnTo>
                    <a:pt x="1484376" y="568452"/>
                  </a:lnTo>
                  <a:lnTo>
                    <a:pt x="1491996" y="635508"/>
                  </a:lnTo>
                  <a:lnTo>
                    <a:pt x="1493520" y="669036"/>
                  </a:lnTo>
                  <a:lnTo>
                    <a:pt x="1491996" y="702564"/>
                  </a:lnTo>
                  <a:lnTo>
                    <a:pt x="1488948" y="736092"/>
                  </a:lnTo>
                  <a:lnTo>
                    <a:pt x="1484376" y="768096"/>
                  </a:lnTo>
                  <a:lnTo>
                    <a:pt x="1478280" y="800100"/>
                  </a:lnTo>
                  <a:lnTo>
                    <a:pt x="1472107" y="826008"/>
                  </a:lnTo>
                  <a:lnTo>
                    <a:pt x="1485023" y="826008"/>
                  </a:lnTo>
                  <a:lnTo>
                    <a:pt x="1490472" y="803148"/>
                  </a:lnTo>
                  <a:lnTo>
                    <a:pt x="1493520" y="789736"/>
                  </a:lnTo>
                  <a:lnTo>
                    <a:pt x="1498092" y="769620"/>
                  </a:lnTo>
                  <a:lnTo>
                    <a:pt x="1502664" y="736092"/>
                  </a:lnTo>
                  <a:lnTo>
                    <a:pt x="1505712" y="702564"/>
                  </a:lnTo>
                  <a:lnTo>
                    <a:pt x="1505712" y="633984"/>
                  </a:lnTo>
                  <a:close/>
                </a:path>
                <a:path w="3797934" h="826135">
                  <a:moveTo>
                    <a:pt x="3797808" y="612648"/>
                  </a:moveTo>
                  <a:lnTo>
                    <a:pt x="3721608" y="574548"/>
                  </a:lnTo>
                  <a:lnTo>
                    <a:pt x="3721608" y="606552"/>
                  </a:lnTo>
                  <a:lnTo>
                    <a:pt x="1557528" y="606552"/>
                  </a:lnTo>
                  <a:lnTo>
                    <a:pt x="1557528" y="620268"/>
                  </a:lnTo>
                  <a:lnTo>
                    <a:pt x="3721608" y="620268"/>
                  </a:lnTo>
                  <a:lnTo>
                    <a:pt x="3721608" y="650748"/>
                  </a:lnTo>
                  <a:lnTo>
                    <a:pt x="3735324" y="643890"/>
                  </a:lnTo>
                  <a:lnTo>
                    <a:pt x="3797808" y="612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74258" y="3400044"/>
              <a:ext cx="1437640" cy="378460"/>
            </a:xfrm>
            <a:custGeom>
              <a:avLst/>
              <a:gdLst/>
              <a:ahLst/>
              <a:cxnLst/>
              <a:rect l="l" t="t" r="r" b="b"/>
              <a:pathLst>
                <a:path w="1437640" h="378460">
                  <a:moveTo>
                    <a:pt x="0" y="0"/>
                  </a:moveTo>
                  <a:lnTo>
                    <a:pt x="0" y="377952"/>
                  </a:lnTo>
                  <a:lnTo>
                    <a:pt x="1437132" y="377952"/>
                  </a:lnTo>
                  <a:lnTo>
                    <a:pt x="1437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68162" y="3393948"/>
              <a:ext cx="1449705" cy="384175"/>
            </a:xfrm>
            <a:custGeom>
              <a:avLst/>
              <a:gdLst/>
              <a:ahLst/>
              <a:cxnLst/>
              <a:rect l="l" t="t" r="r" b="b"/>
              <a:pathLst>
                <a:path w="1449704" h="384175">
                  <a:moveTo>
                    <a:pt x="1449324" y="384048"/>
                  </a:moveTo>
                  <a:lnTo>
                    <a:pt x="1449324" y="0"/>
                  </a:lnTo>
                  <a:lnTo>
                    <a:pt x="0" y="0"/>
                  </a:lnTo>
                  <a:lnTo>
                    <a:pt x="0" y="384048"/>
                  </a:lnTo>
                  <a:lnTo>
                    <a:pt x="6096" y="384048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1437132" y="12192"/>
                  </a:lnTo>
                  <a:lnTo>
                    <a:pt x="1437132" y="6096"/>
                  </a:lnTo>
                  <a:lnTo>
                    <a:pt x="1443228" y="12192"/>
                  </a:lnTo>
                  <a:lnTo>
                    <a:pt x="1443228" y="384048"/>
                  </a:lnTo>
                  <a:lnTo>
                    <a:pt x="1449324" y="384048"/>
                  </a:lnTo>
                  <a:close/>
                </a:path>
                <a:path w="1449704" h="384175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1449704" h="384175">
                  <a:moveTo>
                    <a:pt x="12192" y="384048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384048"/>
                  </a:lnTo>
                  <a:lnTo>
                    <a:pt x="12192" y="384048"/>
                  </a:lnTo>
                  <a:close/>
                </a:path>
                <a:path w="1449704" h="384175">
                  <a:moveTo>
                    <a:pt x="1443228" y="12192"/>
                  </a:moveTo>
                  <a:lnTo>
                    <a:pt x="1437132" y="6096"/>
                  </a:lnTo>
                  <a:lnTo>
                    <a:pt x="1437132" y="12192"/>
                  </a:lnTo>
                  <a:lnTo>
                    <a:pt x="1443228" y="12192"/>
                  </a:lnTo>
                  <a:close/>
                </a:path>
                <a:path w="1449704" h="384175">
                  <a:moveTo>
                    <a:pt x="1443228" y="384048"/>
                  </a:moveTo>
                  <a:lnTo>
                    <a:pt x="1443228" y="12192"/>
                  </a:lnTo>
                  <a:lnTo>
                    <a:pt x="1437132" y="12192"/>
                  </a:lnTo>
                  <a:lnTo>
                    <a:pt x="1437132" y="384048"/>
                  </a:lnTo>
                  <a:lnTo>
                    <a:pt x="1443228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74073" y="1906523"/>
            <a:ext cx="9144000" cy="5300980"/>
            <a:chOff x="774073" y="1906523"/>
            <a:chExt cx="9144000" cy="53009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411" y="1906523"/>
              <a:ext cx="9026652" cy="187147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0" y="0"/>
                  </a:moveTo>
                  <a:lnTo>
                    <a:pt x="0" y="3428999"/>
                  </a:lnTo>
                  <a:lnTo>
                    <a:pt x="9143999" y="3428999"/>
                  </a:lnTo>
                  <a:lnTo>
                    <a:pt x="9143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67696" y="4114290"/>
            <a:ext cx="6325870" cy="190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95"/>
              </a:spcBef>
              <a:tabLst>
                <a:tab pos="2345690" algn="l"/>
              </a:tabLst>
            </a:pP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Comic Sans MS"/>
                <a:cs typeface="Comic Sans MS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}</a:t>
            </a:r>
            <a:endParaRPr sz="2800">
              <a:latin typeface="Comic Sans MS"/>
              <a:cs typeface="Comic Sans MS"/>
            </a:endParaRPr>
          </a:p>
          <a:p>
            <a:pPr marL="137160" indent="-125095">
              <a:lnSpc>
                <a:spcPct val="100000"/>
              </a:lnSpc>
              <a:spcBef>
                <a:spcPts val="2350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dirty="0">
                <a:latin typeface="Comic Sans MS"/>
                <a:cs typeface="Comic Sans MS"/>
              </a:rPr>
              <a:t>Passos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para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gerar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palavra: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0032CC"/>
                </a:solidFill>
                <a:latin typeface="Comic Sans MS"/>
                <a:cs typeface="Comic Sans MS"/>
              </a:rPr>
              <a:t>abb</a:t>
            </a:r>
            <a:endParaRPr sz="2800">
              <a:latin typeface="Comic Sans MS"/>
              <a:cs typeface="Comic Sans MS"/>
            </a:endParaRPr>
          </a:p>
          <a:p>
            <a:pPr marL="137160" indent="-125095">
              <a:lnSpc>
                <a:spcPct val="100000"/>
              </a:lnSpc>
              <a:spcBef>
                <a:spcPts val="2355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dirty="0">
                <a:latin typeface="Comic Sans MS"/>
                <a:cs typeface="Comic Sans MS"/>
              </a:rPr>
              <a:t>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AB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BB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sz="2800" dirty="0">
                <a:latin typeface="Comic Sans MS"/>
                <a:cs typeface="Comic Sans MS"/>
              </a:rPr>
              <a:t>B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ab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sz="2800" spc="-20" dirty="0">
                <a:latin typeface="Comic Sans MS"/>
                <a:cs typeface="Comic Sans MS"/>
              </a:rPr>
              <a:t>.</a:t>
            </a:r>
            <a:endParaRPr sz="2800">
              <a:latin typeface="Comic Sans MS"/>
              <a:cs typeface="Comic Sans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7411" y="3777995"/>
            <a:ext cx="9027160" cy="3168650"/>
            <a:chOff x="827411" y="3777995"/>
            <a:chExt cx="9027160" cy="3168650"/>
          </a:xfrm>
        </p:grpSpPr>
        <p:sp>
          <p:nvSpPr>
            <p:cNvPr id="18" name="object 18"/>
            <p:cNvSpPr/>
            <p:nvPr/>
          </p:nvSpPr>
          <p:spPr>
            <a:xfrm>
              <a:off x="4604046" y="3777996"/>
              <a:ext cx="1450975" cy="504825"/>
            </a:xfrm>
            <a:custGeom>
              <a:avLst/>
              <a:gdLst/>
              <a:ahLst/>
              <a:cxnLst/>
              <a:rect l="l" t="t" r="r" b="b"/>
              <a:pathLst>
                <a:path w="1450975" h="504825">
                  <a:moveTo>
                    <a:pt x="1450518" y="0"/>
                  </a:moveTo>
                  <a:lnTo>
                    <a:pt x="0" y="0"/>
                  </a:lnTo>
                  <a:lnTo>
                    <a:pt x="5133" y="19021"/>
                  </a:lnTo>
                  <a:lnTo>
                    <a:pt x="19655" y="60460"/>
                  </a:lnTo>
                  <a:lnTo>
                    <a:pt x="37101" y="100678"/>
                  </a:lnTo>
                  <a:lnTo>
                    <a:pt x="57361" y="139580"/>
                  </a:lnTo>
                  <a:lnTo>
                    <a:pt x="80324" y="177065"/>
                  </a:lnTo>
                  <a:lnTo>
                    <a:pt x="105881" y="213038"/>
                  </a:lnTo>
                  <a:lnTo>
                    <a:pt x="133919" y="247399"/>
                  </a:lnTo>
                  <a:lnTo>
                    <a:pt x="164330" y="280050"/>
                  </a:lnTo>
                  <a:lnTo>
                    <a:pt x="197002" y="310895"/>
                  </a:lnTo>
                  <a:lnTo>
                    <a:pt x="231825" y="339835"/>
                  </a:lnTo>
                  <a:lnTo>
                    <a:pt x="268689" y="366772"/>
                  </a:lnTo>
                  <a:lnTo>
                    <a:pt x="307483" y="391608"/>
                  </a:lnTo>
                  <a:lnTo>
                    <a:pt x="348097" y="414245"/>
                  </a:lnTo>
                  <a:lnTo>
                    <a:pt x="390420" y="434586"/>
                  </a:lnTo>
                  <a:lnTo>
                    <a:pt x="434341" y="452532"/>
                  </a:lnTo>
                  <a:lnTo>
                    <a:pt x="479751" y="467986"/>
                  </a:lnTo>
                  <a:lnTo>
                    <a:pt x="526539" y="480849"/>
                  </a:lnTo>
                  <a:lnTo>
                    <a:pt x="574594" y="491025"/>
                  </a:lnTo>
                  <a:lnTo>
                    <a:pt x="623806" y="498414"/>
                  </a:lnTo>
                  <a:lnTo>
                    <a:pt x="674064" y="502920"/>
                  </a:lnTo>
                  <a:lnTo>
                    <a:pt x="725259" y="504443"/>
                  </a:lnTo>
                  <a:lnTo>
                    <a:pt x="776453" y="502920"/>
                  </a:lnTo>
                  <a:lnTo>
                    <a:pt x="826711" y="498414"/>
                  </a:lnTo>
                  <a:lnTo>
                    <a:pt x="875923" y="491025"/>
                  </a:lnTo>
                  <a:lnTo>
                    <a:pt x="923978" y="480849"/>
                  </a:lnTo>
                  <a:lnTo>
                    <a:pt x="970766" y="467986"/>
                  </a:lnTo>
                  <a:lnTo>
                    <a:pt x="1016176" y="452532"/>
                  </a:lnTo>
                  <a:lnTo>
                    <a:pt x="1060098" y="434586"/>
                  </a:lnTo>
                  <a:lnTo>
                    <a:pt x="1102420" y="414245"/>
                  </a:lnTo>
                  <a:lnTo>
                    <a:pt x="1143034" y="391608"/>
                  </a:lnTo>
                  <a:lnTo>
                    <a:pt x="1181828" y="366772"/>
                  </a:lnTo>
                  <a:lnTo>
                    <a:pt x="1218692" y="339835"/>
                  </a:lnTo>
                  <a:lnTo>
                    <a:pt x="1253515" y="310895"/>
                  </a:lnTo>
                  <a:lnTo>
                    <a:pt x="1286187" y="280050"/>
                  </a:lnTo>
                  <a:lnTo>
                    <a:pt x="1316598" y="247399"/>
                  </a:lnTo>
                  <a:lnTo>
                    <a:pt x="1344637" y="213038"/>
                  </a:lnTo>
                  <a:lnTo>
                    <a:pt x="1370193" y="177065"/>
                  </a:lnTo>
                  <a:lnTo>
                    <a:pt x="1393156" y="139580"/>
                  </a:lnTo>
                  <a:lnTo>
                    <a:pt x="1413416" y="100678"/>
                  </a:lnTo>
                  <a:lnTo>
                    <a:pt x="1430862" y="60460"/>
                  </a:lnTo>
                  <a:lnTo>
                    <a:pt x="1445384" y="19021"/>
                  </a:lnTo>
                  <a:lnTo>
                    <a:pt x="1450518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97133" y="3777996"/>
              <a:ext cx="1464945" cy="510540"/>
            </a:xfrm>
            <a:custGeom>
              <a:avLst/>
              <a:gdLst/>
              <a:ahLst/>
              <a:cxnLst/>
              <a:rect l="l" t="t" r="r" b="b"/>
              <a:pathLst>
                <a:path w="1464945" h="510539">
                  <a:moveTo>
                    <a:pt x="1464346" y="0"/>
                  </a:moveTo>
                  <a:lnTo>
                    <a:pt x="1451428" y="0"/>
                  </a:lnTo>
                  <a:lnTo>
                    <a:pt x="1449977" y="6095"/>
                  </a:lnTo>
                  <a:lnTo>
                    <a:pt x="1439309" y="38099"/>
                  </a:lnTo>
                  <a:lnTo>
                    <a:pt x="1414925" y="97535"/>
                  </a:lnTo>
                  <a:lnTo>
                    <a:pt x="1382921" y="155447"/>
                  </a:lnTo>
                  <a:lnTo>
                    <a:pt x="1346345" y="208787"/>
                  </a:lnTo>
                  <a:lnTo>
                    <a:pt x="1303673" y="259079"/>
                  </a:lnTo>
                  <a:lnTo>
                    <a:pt x="1256429" y="306323"/>
                  </a:lnTo>
                  <a:lnTo>
                    <a:pt x="1203089" y="348995"/>
                  </a:lnTo>
                  <a:lnTo>
                    <a:pt x="1146701" y="385571"/>
                  </a:lnTo>
                  <a:lnTo>
                    <a:pt x="1085741" y="419099"/>
                  </a:lnTo>
                  <a:lnTo>
                    <a:pt x="986681" y="458723"/>
                  </a:lnTo>
                  <a:lnTo>
                    <a:pt x="881525" y="484631"/>
                  </a:lnTo>
                  <a:lnTo>
                    <a:pt x="808373" y="495299"/>
                  </a:lnTo>
                  <a:lnTo>
                    <a:pt x="732173" y="498347"/>
                  </a:lnTo>
                  <a:lnTo>
                    <a:pt x="655973" y="495299"/>
                  </a:lnTo>
                  <a:lnTo>
                    <a:pt x="582821" y="484631"/>
                  </a:lnTo>
                  <a:lnTo>
                    <a:pt x="511193" y="469391"/>
                  </a:lnTo>
                  <a:lnTo>
                    <a:pt x="442613" y="446531"/>
                  </a:lnTo>
                  <a:lnTo>
                    <a:pt x="378605" y="419099"/>
                  </a:lnTo>
                  <a:lnTo>
                    <a:pt x="317645" y="385571"/>
                  </a:lnTo>
                  <a:lnTo>
                    <a:pt x="259733" y="348995"/>
                  </a:lnTo>
                  <a:lnTo>
                    <a:pt x="207917" y="306323"/>
                  </a:lnTo>
                  <a:lnTo>
                    <a:pt x="137813" y="234695"/>
                  </a:lnTo>
                  <a:lnTo>
                    <a:pt x="98189" y="182879"/>
                  </a:lnTo>
                  <a:lnTo>
                    <a:pt x="49421" y="97535"/>
                  </a:lnTo>
                  <a:lnTo>
                    <a:pt x="14369" y="6095"/>
                  </a:lnTo>
                  <a:lnTo>
                    <a:pt x="12917" y="0"/>
                  </a:lnTo>
                  <a:lnTo>
                    <a:pt x="0" y="0"/>
                  </a:lnTo>
                  <a:lnTo>
                    <a:pt x="12845" y="41147"/>
                  </a:lnTo>
                  <a:lnTo>
                    <a:pt x="38753" y="103631"/>
                  </a:lnTo>
                  <a:lnTo>
                    <a:pt x="69233" y="161543"/>
                  </a:lnTo>
                  <a:lnTo>
                    <a:pt x="107333" y="216407"/>
                  </a:lnTo>
                  <a:lnTo>
                    <a:pt x="151529" y="268223"/>
                  </a:lnTo>
                  <a:lnTo>
                    <a:pt x="226205" y="338327"/>
                  </a:lnTo>
                  <a:lnTo>
                    <a:pt x="281069" y="377951"/>
                  </a:lnTo>
                  <a:lnTo>
                    <a:pt x="342029" y="414527"/>
                  </a:lnTo>
                  <a:lnTo>
                    <a:pt x="406037" y="445007"/>
                  </a:lnTo>
                  <a:lnTo>
                    <a:pt x="473093" y="470915"/>
                  </a:lnTo>
                  <a:lnTo>
                    <a:pt x="544721" y="490727"/>
                  </a:lnTo>
                  <a:lnTo>
                    <a:pt x="617873" y="502919"/>
                  </a:lnTo>
                  <a:lnTo>
                    <a:pt x="654449" y="507491"/>
                  </a:lnTo>
                  <a:lnTo>
                    <a:pt x="694073" y="510539"/>
                  </a:lnTo>
                  <a:lnTo>
                    <a:pt x="770273" y="510539"/>
                  </a:lnTo>
                  <a:lnTo>
                    <a:pt x="808373" y="507491"/>
                  </a:lnTo>
                  <a:lnTo>
                    <a:pt x="846473" y="502919"/>
                  </a:lnTo>
                  <a:lnTo>
                    <a:pt x="919625" y="490727"/>
                  </a:lnTo>
                  <a:lnTo>
                    <a:pt x="991253" y="470915"/>
                  </a:lnTo>
                  <a:lnTo>
                    <a:pt x="1058309" y="445007"/>
                  </a:lnTo>
                  <a:lnTo>
                    <a:pt x="1122317" y="414527"/>
                  </a:lnTo>
                  <a:lnTo>
                    <a:pt x="1183277" y="377951"/>
                  </a:lnTo>
                  <a:lnTo>
                    <a:pt x="1238141" y="338327"/>
                  </a:lnTo>
                  <a:lnTo>
                    <a:pt x="1289957" y="292607"/>
                  </a:lnTo>
                  <a:lnTo>
                    <a:pt x="1335677" y="242315"/>
                  </a:lnTo>
                  <a:lnTo>
                    <a:pt x="1376825" y="188975"/>
                  </a:lnTo>
                  <a:lnTo>
                    <a:pt x="1410353" y="132587"/>
                  </a:lnTo>
                  <a:lnTo>
                    <a:pt x="1439309" y="73151"/>
                  </a:lnTo>
                  <a:lnTo>
                    <a:pt x="1462169" y="9143"/>
                  </a:lnTo>
                  <a:lnTo>
                    <a:pt x="1464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74257" y="3777996"/>
              <a:ext cx="1437640" cy="7620"/>
            </a:xfrm>
            <a:custGeom>
              <a:avLst/>
              <a:gdLst/>
              <a:ahLst/>
              <a:cxnLst/>
              <a:rect l="l" t="t" r="r" b="b"/>
              <a:pathLst>
                <a:path w="1437640" h="7620">
                  <a:moveTo>
                    <a:pt x="1437131" y="7619"/>
                  </a:moveTo>
                  <a:lnTo>
                    <a:pt x="1437131" y="0"/>
                  </a:lnTo>
                  <a:lnTo>
                    <a:pt x="0" y="0"/>
                  </a:lnTo>
                  <a:lnTo>
                    <a:pt x="0" y="7619"/>
                  </a:lnTo>
                  <a:lnTo>
                    <a:pt x="1437131" y="7619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68162" y="3777996"/>
              <a:ext cx="1449705" cy="13970"/>
            </a:xfrm>
            <a:custGeom>
              <a:avLst/>
              <a:gdLst/>
              <a:ahLst/>
              <a:cxnLst/>
              <a:rect l="l" t="t" r="r" b="b"/>
              <a:pathLst>
                <a:path w="1449704" h="13970">
                  <a:moveTo>
                    <a:pt x="12192" y="1523"/>
                  </a:moveTo>
                  <a:lnTo>
                    <a:pt x="12192" y="0"/>
                  </a:lnTo>
                  <a:lnTo>
                    <a:pt x="0" y="0"/>
                  </a:lnTo>
                  <a:lnTo>
                    <a:pt x="0" y="13715"/>
                  </a:lnTo>
                  <a:lnTo>
                    <a:pt x="6096" y="13715"/>
                  </a:lnTo>
                  <a:lnTo>
                    <a:pt x="6096" y="1523"/>
                  </a:lnTo>
                  <a:lnTo>
                    <a:pt x="12192" y="1523"/>
                  </a:lnTo>
                  <a:close/>
                </a:path>
                <a:path w="1449704" h="13970">
                  <a:moveTo>
                    <a:pt x="1443228" y="1523"/>
                  </a:moveTo>
                  <a:lnTo>
                    <a:pt x="6096" y="1523"/>
                  </a:lnTo>
                  <a:lnTo>
                    <a:pt x="12192" y="7619"/>
                  </a:lnTo>
                  <a:lnTo>
                    <a:pt x="12192" y="13715"/>
                  </a:lnTo>
                  <a:lnTo>
                    <a:pt x="1437132" y="13715"/>
                  </a:lnTo>
                  <a:lnTo>
                    <a:pt x="1437132" y="7619"/>
                  </a:lnTo>
                  <a:lnTo>
                    <a:pt x="1443228" y="1523"/>
                  </a:lnTo>
                  <a:close/>
                </a:path>
                <a:path w="1449704" h="13970">
                  <a:moveTo>
                    <a:pt x="12192" y="13715"/>
                  </a:moveTo>
                  <a:lnTo>
                    <a:pt x="12192" y="7619"/>
                  </a:lnTo>
                  <a:lnTo>
                    <a:pt x="6096" y="1523"/>
                  </a:lnTo>
                  <a:lnTo>
                    <a:pt x="6096" y="13715"/>
                  </a:lnTo>
                  <a:lnTo>
                    <a:pt x="12192" y="13715"/>
                  </a:lnTo>
                  <a:close/>
                </a:path>
                <a:path w="1449704" h="13970">
                  <a:moveTo>
                    <a:pt x="1449324" y="13715"/>
                  </a:moveTo>
                  <a:lnTo>
                    <a:pt x="1449324" y="0"/>
                  </a:lnTo>
                  <a:lnTo>
                    <a:pt x="1437132" y="0"/>
                  </a:lnTo>
                  <a:lnTo>
                    <a:pt x="1437132" y="1523"/>
                  </a:lnTo>
                  <a:lnTo>
                    <a:pt x="1443228" y="1523"/>
                  </a:lnTo>
                  <a:lnTo>
                    <a:pt x="1443228" y="13715"/>
                  </a:lnTo>
                  <a:lnTo>
                    <a:pt x="1449324" y="13715"/>
                  </a:lnTo>
                  <a:close/>
                </a:path>
                <a:path w="1449704" h="13970">
                  <a:moveTo>
                    <a:pt x="1443228" y="13715"/>
                  </a:moveTo>
                  <a:lnTo>
                    <a:pt x="1443228" y="1523"/>
                  </a:lnTo>
                  <a:lnTo>
                    <a:pt x="1437132" y="7619"/>
                  </a:lnTo>
                  <a:lnTo>
                    <a:pt x="1437132" y="13715"/>
                  </a:lnTo>
                  <a:lnTo>
                    <a:pt x="1443228" y="13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411" y="3777995"/>
              <a:ext cx="9026652" cy="3168396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56207"/>
            <a:ext cx="2415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00"/>
                </a:solidFill>
              </a:rPr>
              <a:t>Gramáticas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048193" y="2544571"/>
            <a:ext cx="3575685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8800" algn="l"/>
              </a:tabLst>
            </a:pPr>
            <a:r>
              <a:rPr sz="2800" spc="-10" dirty="0">
                <a:latin typeface="Comic Sans MS"/>
                <a:cs typeface="Comic Sans MS"/>
              </a:rPr>
              <a:t>alfabeto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maiúsculas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850">
              <a:latin typeface="Comic Sans MS"/>
              <a:cs typeface="Comic Sans MS"/>
            </a:endParaRPr>
          </a:p>
          <a:p>
            <a:pPr marL="100965">
              <a:lnSpc>
                <a:spcPct val="100000"/>
              </a:lnSpc>
              <a:tabLst>
                <a:tab pos="1358265" algn="l"/>
                <a:tab pos="2159635" algn="l"/>
              </a:tabLst>
            </a:pPr>
            <a:r>
              <a:rPr sz="2800" spc="-10" dirty="0">
                <a:latin typeface="Comic Sans MS"/>
                <a:cs typeface="Comic Sans MS"/>
              </a:rPr>
              <a:t>início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do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alfabeto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7696" y="1841744"/>
            <a:ext cx="4690110" cy="209359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478155" marR="19050" indent="-478790" algn="r">
              <a:lnSpc>
                <a:spcPct val="100000"/>
              </a:lnSpc>
              <a:spcBef>
                <a:spcPts val="1005"/>
              </a:spcBef>
              <a:buClr>
                <a:srgbClr val="3232CC"/>
              </a:buClr>
              <a:buSzPct val="67187"/>
              <a:buFont typeface="Wingdings"/>
              <a:buChar char=""/>
              <a:tabLst>
                <a:tab pos="478155" algn="l"/>
                <a:tab pos="478790" algn="l"/>
              </a:tabLst>
            </a:pPr>
            <a:r>
              <a:rPr sz="3200" dirty="0">
                <a:latin typeface="Comic Sans MS"/>
                <a:cs typeface="Comic Sans MS"/>
              </a:rPr>
              <a:t>Notação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/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Convenções</a:t>
            </a:r>
            <a:endParaRPr sz="3200">
              <a:latin typeface="Comic Sans MS"/>
              <a:cs typeface="Comic Sans MS"/>
            </a:endParaRPr>
          </a:p>
          <a:p>
            <a:pPr marL="286385" marR="100965" lvl="1" indent="-287020" algn="r">
              <a:lnSpc>
                <a:spcPct val="100000"/>
              </a:lnSpc>
              <a:spcBef>
                <a:spcPts val="785"/>
              </a:spcBef>
              <a:buClr>
                <a:srgbClr val="FF0000"/>
              </a:buClr>
              <a:buSzPct val="53571"/>
              <a:buFont typeface="Wingdings"/>
              <a:buChar char=""/>
              <a:tabLst>
                <a:tab pos="286385" algn="l"/>
                <a:tab pos="287020" algn="l"/>
                <a:tab pos="2316480" algn="l"/>
                <a:tab pos="3715385" algn="l"/>
              </a:tabLst>
            </a:pPr>
            <a:r>
              <a:rPr sz="2800" spc="-10" dirty="0">
                <a:latin typeface="Comic Sans MS"/>
                <a:cs typeface="Comic Sans MS"/>
              </a:rPr>
              <a:t>Variáveis: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letras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do</a:t>
            </a:r>
            <a:endParaRPr sz="2800">
              <a:latin typeface="Comic Sans MS"/>
              <a:cs typeface="Comic Sans MS"/>
            </a:endParaRPr>
          </a:p>
          <a:p>
            <a:pPr marL="756285">
              <a:lnSpc>
                <a:spcPct val="100000"/>
              </a:lnSpc>
            </a:pPr>
            <a:r>
              <a:rPr sz="2800" spc="-10" dirty="0">
                <a:latin typeface="Comic Sans MS"/>
                <a:cs typeface="Comic Sans MS"/>
              </a:rPr>
              <a:t>{A,B,…,Z}</a:t>
            </a:r>
            <a:endParaRPr sz="2800">
              <a:latin typeface="Comic Sans MS"/>
              <a:cs typeface="Comic Sans MS"/>
            </a:endParaRPr>
          </a:p>
          <a:p>
            <a:pPr marL="286385" marR="5080" lvl="1" indent="-287020" algn="r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Wingdings"/>
              <a:buChar char=""/>
              <a:tabLst>
                <a:tab pos="286385" algn="l"/>
                <a:tab pos="287020" algn="l"/>
                <a:tab pos="2421255" algn="l"/>
                <a:tab pos="3811270" algn="l"/>
              </a:tabLst>
            </a:pPr>
            <a:r>
              <a:rPr sz="2800" spc="-10" dirty="0">
                <a:latin typeface="Comic Sans MS"/>
                <a:cs typeface="Comic Sans MS"/>
              </a:rPr>
              <a:t>Terminais: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letras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do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524901" y="3910074"/>
            <a:ext cx="8100059" cy="224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omic Sans MS"/>
                <a:cs typeface="Comic Sans MS"/>
              </a:rPr>
              <a:t>minúsculas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{a,b,c…},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dígitos</a:t>
            </a:r>
            <a:r>
              <a:rPr sz="2800" spc="3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{0..9}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e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Comic Sans MS"/>
                <a:cs typeface="Comic Sans MS"/>
              </a:rPr>
              <a:t>outros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caracteres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como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+,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-</a:t>
            </a:r>
            <a:r>
              <a:rPr sz="2800" dirty="0">
                <a:latin typeface="Comic Sans MS"/>
                <a:cs typeface="Comic Sans MS"/>
              </a:rPr>
              <a:t>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*,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Comic Sans MS"/>
                <a:cs typeface="Comic Sans MS"/>
              </a:rPr>
              <a:t>/</a:t>
            </a:r>
            <a:endParaRPr sz="2800">
              <a:latin typeface="Comic Sans MS"/>
              <a:cs typeface="Comic Sans MS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Wingdings"/>
              <a:buChar char=""/>
              <a:tabLst>
                <a:tab pos="299720" algn="l"/>
              </a:tabLst>
            </a:pPr>
            <a:r>
              <a:rPr sz="2800" spc="-25" dirty="0">
                <a:latin typeface="Comic Sans MS"/>
                <a:cs typeface="Comic Sans MS"/>
              </a:rPr>
              <a:t>Não-</a:t>
            </a:r>
            <a:r>
              <a:rPr sz="2800" dirty="0">
                <a:latin typeface="Comic Sans MS"/>
                <a:cs typeface="Comic Sans MS"/>
              </a:rPr>
              <a:t>Terminais:</a:t>
            </a:r>
            <a:r>
              <a:rPr sz="2800" spc="4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letras</a:t>
            </a:r>
            <a:r>
              <a:rPr sz="2800" spc="4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do</a:t>
            </a:r>
            <a:r>
              <a:rPr sz="2800" spc="4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fim</a:t>
            </a:r>
            <a:r>
              <a:rPr sz="2800" spc="4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do</a:t>
            </a:r>
            <a:r>
              <a:rPr sz="2800" spc="47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Comic Sans MS"/>
                <a:cs typeface="Comic Sans MS"/>
              </a:rPr>
              <a:t>alfabeto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maiúsculas,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como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X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ou</a:t>
            </a:r>
            <a:r>
              <a:rPr sz="2800" spc="2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Y,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são</a:t>
            </a:r>
            <a:r>
              <a:rPr sz="2800" spc="229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Comic Sans MS"/>
                <a:cs typeface="Comic Sans MS"/>
              </a:rPr>
              <a:t>terminais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Comic Sans MS"/>
                <a:cs typeface="Comic Sans MS"/>
              </a:rPr>
              <a:t>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variáveis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3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4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095247"/>
            <a:ext cx="8559165" cy="457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omic Sans MS"/>
                <a:cs typeface="Comic Sans MS"/>
              </a:rPr>
              <a:t>Gramáticas</a:t>
            </a:r>
            <a:endParaRPr sz="3000">
              <a:latin typeface="Comic Sans MS"/>
              <a:cs typeface="Comic Sans MS"/>
            </a:endParaRPr>
          </a:p>
          <a:p>
            <a:pPr marL="12700" marR="5080" algn="just">
              <a:lnSpc>
                <a:spcPct val="140000"/>
              </a:lnSpc>
              <a:spcBef>
                <a:spcPts val="720"/>
              </a:spcBef>
              <a:buFont typeface="Arial"/>
              <a:buChar char="•"/>
              <a:tabLst>
                <a:tab pos="261620" algn="l"/>
              </a:tabLst>
            </a:pPr>
            <a:r>
              <a:rPr sz="3000" dirty="0">
                <a:latin typeface="Comic Sans MS"/>
                <a:cs typeface="Comic Sans MS"/>
              </a:rPr>
              <a:t>podem</a:t>
            </a:r>
            <a:r>
              <a:rPr sz="3000" spc="45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Comic Sans MS"/>
                <a:cs typeface="Comic Sans MS"/>
              </a:rPr>
              <a:t>ser</a:t>
            </a:r>
            <a:r>
              <a:rPr sz="3000" spc="47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Comic Sans MS"/>
                <a:cs typeface="Comic Sans MS"/>
              </a:rPr>
              <a:t>classificadas</a:t>
            </a:r>
            <a:r>
              <a:rPr sz="3000" spc="47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Comic Sans MS"/>
                <a:cs typeface="Comic Sans MS"/>
              </a:rPr>
              <a:t>em</a:t>
            </a:r>
            <a:r>
              <a:rPr sz="3000" spc="475" dirty="0">
                <a:latin typeface="Times New Roman"/>
                <a:cs typeface="Times New Roman"/>
              </a:rPr>
              <a:t>   </a:t>
            </a:r>
            <a:r>
              <a:rPr sz="3000" spc="-10" dirty="0">
                <a:latin typeface="Comic Sans MS"/>
                <a:cs typeface="Comic Sans MS"/>
              </a:rPr>
              <a:t>gramáticas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Comic Sans MS"/>
                <a:cs typeface="Comic Sans MS"/>
              </a:rPr>
              <a:t>lineares</a:t>
            </a:r>
            <a:r>
              <a:rPr sz="3000" spc="3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Comic Sans MS"/>
                <a:cs typeface="Comic Sans MS"/>
              </a:rPr>
              <a:t>à</a:t>
            </a:r>
            <a:r>
              <a:rPr sz="3000" spc="50" dirty="0"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0032CC"/>
                </a:solidFill>
                <a:latin typeface="Comic Sans MS"/>
                <a:cs typeface="Comic Sans MS"/>
              </a:rPr>
              <a:t>direita</a:t>
            </a:r>
            <a:r>
              <a:rPr sz="3000" spc="50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latin typeface="Comic Sans MS"/>
                <a:cs typeface="Comic Sans MS"/>
              </a:rPr>
              <a:t>(</a:t>
            </a:r>
            <a:r>
              <a:rPr sz="3000" dirty="0">
                <a:solidFill>
                  <a:srgbClr val="0032CC"/>
                </a:solidFill>
                <a:latin typeface="Comic Sans MS"/>
                <a:cs typeface="Comic Sans MS"/>
              </a:rPr>
              <a:t>GLD</a:t>
            </a:r>
            <a:r>
              <a:rPr sz="3000" dirty="0">
                <a:latin typeface="Comic Sans MS"/>
                <a:cs typeface="Comic Sans MS"/>
              </a:rPr>
              <a:t>)</a:t>
            </a:r>
            <a:r>
              <a:rPr sz="3000" spc="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Comic Sans MS"/>
                <a:cs typeface="Comic Sans MS"/>
              </a:rPr>
              <a:t>ou</a:t>
            </a:r>
            <a:r>
              <a:rPr sz="3000" spc="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Comic Sans MS"/>
                <a:cs typeface="Comic Sans MS"/>
              </a:rPr>
              <a:t>à</a:t>
            </a:r>
            <a:r>
              <a:rPr sz="3000" spc="55" dirty="0"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E46B09"/>
                </a:solidFill>
                <a:latin typeface="Comic Sans MS"/>
                <a:cs typeface="Comic Sans MS"/>
              </a:rPr>
              <a:t>esquerda</a:t>
            </a:r>
            <a:r>
              <a:rPr sz="3000" spc="50" dirty="0">
                <a:solidFill>
                  <a:srgbClr val="E46B09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Comic Sans MS"/>
                <a:cs typeface="Comic Sans MS"/>
              </a:rPr>
              <a:t>(</a:t>
            </a:r>
            <a:r>
              <a:rPr sz="3000" spc="-10" dirty="0">
                <a:solidFill>
                  <a:srgbClr val="E46B09"/>
                </a:solidFill>
                <a:latin typeface="Comic Sans MS"/>
                <a:cs typeface="Comic Sans MS"/>
              </a:rPr>
              <a:t>GLE</a:t>
            </a:r>
            <a:r>
              <a:rPr sz="3000" spc="-10" dirty="0">
                <a:latin typeface="Comic Sans MS"/>
                <a:cs typeface="Comic Sans MS"/>
              </a:rPr>
              <a:t>),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Comic Sans MS"/>
                <a:cs typeface="Comic Sans MS"/>
              </a:rPr>
              <a:t>cujas</a:t>
            </a:r>
            <a:r>
              <a:rPr sz="3000" spc="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Comic Sans MS"/>
                <a:cs typeface="Comic Sans MS"/>
              </a:rPr>
              <a:t>regras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32CC"/>
                </a:solidFill>
                <a:latin typeface="Symbol"/>
                <a:cs typeface="Symbol"/>
              </a:rPr>
              <a:t></a:t>
            </a:r>
            <a:r>
              <a:rPr sz="3000" spc="13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3000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sz="3000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Comic Sans MS"/>
                <a:cs typeface="Comic Sans MS"/>
              </a:rPr>
              <a:t>são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Comic Sans MS"/>
                <a:cs typeface="Comic Sans MS"/>
              </a:rPr>
              <a:t>da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omic Sans MS"/>
                <a:cs typeface="Comic Sans MS"/>
              </a:rPr>
              <a:t>forma:</a:t>
            </a:r>
            <a:endParaRPr sz="3000">
              <a:latin typeface="Comic Sans MS"/>
              <a:cs typeface="Comic Sans MS"/>
            </a:endParaRPr>
          </a:p>
          <a:p>
            <a:pPr marL="684530" lvl="1" indent="-215265" algn="just">
              <a:lnSpc>
                <a:spcPct val="100000"/>
              </a:lnSpc>
              <a:spcBef>
                <a:spcPts val="2170"/>
              </a:spcBef>
              <a:buClr>
                <a:srgbClr val="000000"/>
              </a:buClr>
              <a:buSzPct val="86666"/>
              <a:buFont typeface="Arial"/>
              <a:buChar char="•"/>
              <a:tabLst>
                <a:tab pos="685165" algn="l"/>
              </a:tabLst>
            </a:pPr>
            <a:r>
              <a:rPr sz="3000" dirty="0">
                <a:solidFill>
                  <a:srgbClr val="0032CC"/>
                </a:solidFill>
                <a:latin typeface="Symbol"/>
                <a:cs typeface="Symbol"/>
              </a:rPr>
              <a:t></a:t>
            </a:r>
            <a:r>
              <a:rPr sz="3000" spc="50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3000" spc="4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omic Sans MS"/>
                <a:cs typeface="Comic Sans MS"/>
              </a:rPr>
              <a:t>V</a:t>
            </a:r>
            <a:r>
              <a:rPr sz="3000" spc="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latin typeface="Comic Sans MS"/>
                <a:cs typeface="Comic Sans MS"/>
              </a:rPr>
              <a:t>-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32CC"/>
                </a:solidFill>
                <a:latin typeface="Symbol"/>
                <a:cs typeface="Symbol"/>
              </a:rPr>
              <a:t></a:t>
            </a:r>
            <a:r>
              <a:rPr sz="3000" spc="3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é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um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2CC"/>
                </a:solidFill>
                <a:latin typeface="Comic Sans MS"/>
                <a:cs typeface="Comic Sans MS"/>
              </a:rPr>
              <a:t>não</a:t>
            </a:r>
            <a:r>
              <a:rPr sz="1900" spc="7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2CC"/>
                </a:solidFill>
                <a:latin typeface="Comic Sans MS"/>
                <a:cs typeface="Comic Sans MS"/>
              </a:rPr>
              <a:t>terminal</a:t>
            </a:r>
            <a:r>
              <a:rPr sz="1900" spc="8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(Lado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esquerdo</a:t>
            </a:r>
            <a:r>
              <a:rPr sz="1900" spc="3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deve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ter</a:t>
            </a:r>
            <a:r>
              <a:rPr sz="1900" spc="34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apenas</a:t>
            </a:r>
            <a:endParaRPr sz="1900">
              <a:latin typeface="Comic Sans MS"/>
              <a:cs typeface="Comic Sans MS"/>
            </a:endParaRPr>
          </a:p>
          <a:p>
            <a:pPr marL="4897120">
              <a:lnSpc>
                <a:spcPct val="100000"/>
              </a:lnSpc>
              <a:spcBef>
                <a:spcPts val="1605"/>
              </a:spcBef>
            </a:pPr>
            <a:r>
              <a:rPr sz="1900" b="1" dirty="0">
                <a:latin typeface="Comic Sans MS"/>
                <a:cs typeface="Comic Sans MS"/>
              </a:rPr>
              <a:t>não</a:t>
            </a:r>
            <a:r>
              <a:rPr sz="1900" spc="31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terminais)</a:t>
            </a:r>
            <a:endParaRPr sz="1900">
              <a:latin typeface="Comic Sans MS"/>
              <a:cs typeface="Comic Sans MS"/>
            </a:endParaRPr>
          </a:p>
          <a:p>
            <a:pPr marL="683260" lvl="1" indent="-213360" algn="just">
              <a:lnSpc>
                <a:spcPct val="100000"/>
              </a:lnSpc>
              <a:spcBef>
                <a:spcPts val="2280"/>
              </a:spcBef>
              <a:buFont typeface="Arial"/>
              <a:buChar char="•"/>
              <a:tabLst>
                <a:tab pos="683260" algn="l"/>
              </a:tabLst>
            </a:pPr>
            <a:r>
              <a:rPr sz="2600" dirty="0">
                <a:solidFill>
                  <a:srgbClr val="0032CC"/>
                </a:solidFill>
                <a:latin typeface="Comic Sans MS"/>
                <a:cs typeface="Comic Sans MS"/>
              </a:rPr>
              <a:t>GLD:</a:t>
            </a:r>
            <a:r>
              <a:rPr sz="2600" spc="10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sz="33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(T</a:t>
            </a:r>
            <a:r>
              <a:rPr sz="2600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600" spc="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37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600" spc="4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(V</a:t>
            </a:r>
            <a:r>
              <a:rPr sz="2600" spc="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600" spc="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33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6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600" spc="45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latin typeface="Comic Sans MS"/>
                <a:cs typeface="Comic Sans MS"/>
              </a:rPr>
              <a:t>-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Comic Sans MS"/>
                <a:cs typeface="Comic Sans MS"/>
              </a:rPr>
              <a:t>A</a:t>
            </a:r>
            <a:r>
              <a:rPr sz="2600" dirty="0">
                <a:latin typeface="Symbol"/>
                <a:cs typeface="Symbol"/>
              </a:rPr>
              <a:t></a:t>
            </a:r>
            <a:r>
              <a:rPr sz="2600" b="1" dirty="0">
                <a:latin typeface="Comic Sans MS"/>
                <a:cs typeface="Comic Sans MS"/>
              </a:rPr>
              <a:t>wB</a:t>
            </a:r>
            <a:r>
              <a:rPr sz="2600" spc="434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Comic Sans MS"/>
                <a:cs typeface="Comic Sans MS"/>
              </a:rPr>
              <a:t>ou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Comic Sans MS"/>
                <a:cs typeface="Comic Sans MS"/>
              </a:rPr>
              <a:t>A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Symbol"/>
                <a:cs typeface="Symbol"/>
              </a:rPr>
              <a:t></a:t>
            </a:r>
            <a:r>
              <a:rPr sz="2600" b="1" spc="-25" dirty="0">
                <a:latin typeface="Comic Sans MS"/>
                <a:cs typeface="Comic Sans MS"/>
              </a:rPr>
              <a:t>w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901" y="5956805"/>
            <a:ext cx="50863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26060" algn="l"/>
                <a:tab pos="1736089" algn="l"/>
                <a:tab pos="2223770" algn="l"/>
                <a:tab pos="2618105" algn="l"/>
                <a:tab pos="3308985" algn="l"/>
                <a:tab pos="3802379" algn="l"/>
                <a:tab pos="4198620" algn="l"/>
                <a:tab pos="4871085" algn="l"/>
              </a:tabLst>
            </a:pPr>
            <a:r>
              <a:rPr sz="2600" dirty="0">
                <a:solidFill>
                  <a:srgbClr val="E46B09"/>
                </a:solidFill>
                <a:latin typeface="Comic Sans MS"/>
                <a:cs typeface="Comic Sans MS"/>
              </a:rPr>
              <a:t>GLE:</a:t>
            </a:r>
            <a:r>
              <a:rPr sz="2600" spc="10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sz="3000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25" dirty="0">
                <a:solidFill>
                  <a:srgbClr val="FF0000"/>
                </a:solidFill>
                <a:latin typeface="Comic Sans MS"/>
                <a:cs typeface="Comic Sans MS"/>
              </a:rPr>
              <a:t>(V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20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3300" spc="-2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600" b="1" spc="-20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25" dirty="0">
                <a:solidFill>
                  <a:srgbClr val="FF0000"/>
                </a:solidFill>
                <a:latin typeface="Comic Sans MS"/>
                <a:cs typeface="Comic Sans MS"/>
              </a:rPr>
              <a:t>(T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20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3000" spc="-2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600" b="1" spc="-20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50" dirty="0">
                <a:latin typeface="Comic Sans MS"/>
                <a:cs typeface="Comic Sans MS"/>
              </a:rPr>
              <a:t>-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6869450" y="6045197"/>
            <a:ext cx="2736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5700" algn="l"/>
                <a:tab pos="1643380" algn="l"/>
                <a:tab pos="2028825" algn="l"/>
              </a:tabLst>
            </a:pPr>
            <a:r>
              <a:rPr sz="2600" b="1" spc="-20" dirty="0">
                <a:latin typeface="Comic Sans MS"/>
                <a:cs typeface="Comic Sans MS"/>
              </a:rPr>
              <a:t>A</a:t>
            </a:r>
            <a:r>
              <a:rPr sz="2600" spc="-20" dirty="0">
                <a:latin typeface="Symbol"/>
                <a:cs typeface="Symbol"/>
              </a:rPr>
              <a:t></a:t>
            </a:r>
            <a:r>
              <a:rPr sz="2600" b="1" spc="-20" dirty="0">
                <a:latin typeface="Comic Sans MS"/>
                <a:cs typeface="Comic Sans MS"/>
              </a:rPr>
              <a:t>Bw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Comic Sans MS"/>
                <a:cs typeface="Comic Sans MS"/>
              </a:rPr>
              <a:t>ou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spc="-50" dirty="0">
                <a:latin typeface="Comic Sans MS"/>
                <a:cs typeface="Comic Sans MS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Symbol"/>
                <a:cs typeface="Symbol"/>
              </a:rPr>
              <a:t></a:t>
            </a:r>
            <a:r>
              <a:rPr sz="2600" b="1" spc="-25" dirty="0">
                <a:latin typeface="Comic Sans MS"/>
                <a:cs typeface="Comic Sans MS"/>
              </a:rPr>
              <a:t>w.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4091" y="428854"/>
            <a:ext cx="8555990" cy="4422493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endParaRPr lang="pt-BR" sz="2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700" dirty="0" err="1">
                <a:latin typeface="Comic Sans MS"/>
                <a:cs typeface="Comic Sans MS"/>
              </a:rPr>
              <a:t>Gramáticas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lineares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obedecem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regra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Symbol"/>
                <a:cs typeface="Symbol"/>
              </a:rPr>
              <a:t></a:t>
            </a:r>
            <a:r>
              <a:rPr sz="27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7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endParaRPr sz="2700" dirty="0">
              <a:latin typeface="Symbol"/>
              <a:cs typeface="Symbol"/>
            </a:endParaRPr>
          </a:p>
          <a:p>
            <a:pPr marL="728980" indent="-259079">
              <a:lnSpc>
                <a:spcPct val="100000"/>
              </a:lnSpc>
              <a:spcBef>
                <a:spcPts val="1900"/>
              </a:spcBef>
              <a:buFont typeface="Arial"/>
              <a:buChar char="•"/>
              <a:tabLst>
                <a:tab pos="728345" algn="l"/>
                <a:tab pos="728980" algn="l"/>
                <a:tab pos="1078865" algn="l"/>
                <a:tab pos="1455420" algn="l"/>
              </a:tabLst>
            </a:pP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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spc="-50" dirty="0">
                <a:solidFill>
                  <a:srgbClr val="FF0000"/>
                </a:solidFill>
                <a:latin typeface="Comic Sans MS"/>
                <a:cs typeface="Comic Sans MS"/>
              </a:rPr>
              <a:t>V</a:t>
            </a:r>
            <a:endParaRPr sz="2600" dirty="0">
              <a:latin typeface="Comic Sans MS"/>
              <a:cs typeface="Comic Sans MS"/>
            </a:endParaRPr>
          </a:p>
          <a:p>
            <a:pPr marL="1080770" lvl="1" indent="-154305" algn="just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1081405" algn="l"/>
              </a:tabLst>
            </a:pPr>
            <a:r>
              <a:rPr sz="1900" dirty="0">
                <a:latin typeface="Comic Sans MS"/>
                <a:cs typeface="Comic Sans MS"/>
              </a:rPr>
              <a:t>o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lado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esquerdo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da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regra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é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formado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por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um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símbolo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não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terminal</a:t>
            </a:r>
            <a:endParaRPr sz="1900" dirty="0">
              <a:latin typeface="Comic Sans MS"/>
              <a:cs typeface="Comic Sans MS"/>
            </a:endParaRPr>
          </a:p>
          <a:p>
            <a:pPr marL="559435" indent="-90170">
              <a:lnSpc>
                <a:spcPct val="100000"/>
              </a:lnSpc>
              <a:spcBef>
                <a:spcPts val="1980"/>
              </a:spcBef>
              <a:buSzPct val="95000"/>
              <a:buFont typeface="Arial"/>
              <a:buChar char="•"/>
              <a:tabLst>
                <a:tab pos="560070" algn="l"/>
              </a:tabLst>
            </a:pPr>
            <a:r>
              <a:rPr sz="2000" dirty="0">
                <a:solidFill>
                  <a:srgbClr val="0032CC"/>
                </a:solidFill>
                <a:latin typeface="Comic Sans MS"/>
                <a:cs typeface="Comic Sans MS"/>
              </a:rPr>
              <a:t>GLD:</a:t>
            </a:r>
            <a:r>
              <a:rPr sz="2000" spc="6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sz="2700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000" spc="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(T</a:t>
            </a:r>
            <a:r>
              <a:rPr sz="20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31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0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(V</a:t>
            </a:r>
            <a:r>
              <a:rPr sz="20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27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000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-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A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b="1" dirty="0">
                <a:latin typeface="Comic Sans MS"/>
                <a:cs typeface="Comic Sans MS"/>
              </a:rPr>
              <a:t>wB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ou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A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b="1" dirty="0">
                <a:latin typeface="Comic Sans MS"/>
                <a:cs typeface="Comic Sans MS"/>
              </a:rPr>
              <a:t>w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com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|w|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&gt;=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Comic Sans MS"/>
                <a:cs typeface="Comic Sans MS"/>
              </a:rPr>
              <a:t>0</a:t>
            </a:r>
            <a:endParaRPr sz="2000" dirty="0">
              <a:latin typeface="Comic Sans MS"/>
              <a:cs typeface="Comic Sans MS"/>
            </a:endParaRPr>
          </a:p>
          <a:p>
            <a:pPr marL="927100" marR="5080" lvl="1" algn="just">
              <a:lnSpc>
                <a:spcPct val="140000"/>
              </a:lnSpc>
              <a:spcBef>
                <a:spcPts val="705"/>
              </a:spcBef>
              <a:buSzPct val="84210"/>
              <a:buFont typeface="Arial"/>
              <a:buChar char="•"/>
              <a:tabLst>
                <a:tab pos="1087120" algn="l"/>
              </a:tabLst>
            </a:pPr>
            <a:r>
              <a:rPr sz="1900" dirty="0">
                <a:latin typeface="Comic Sans MS"/>
                <a:cs typeface="Comic Sans MS"/>
              </a:rPr>
              <a:t>o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 err="1">
                <a:latin typeface="Comic Sans MS"/>
                <a:cs typeface="Comic Sans MS"/>
              </a:rPr>
              <a:t>lado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lang="pt-BR" sz="1900" dirty="0">
                <a:latin typeface="Comic Sans MS"/>
                <a:cs typeface="Comic Sans MS"/>
              </a:rPr>
              <a:t>direito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Comic Sans MS"/>
                <a:cs typeface="Comic Sans MS"/>
              </a:rPr>
              <a:t>da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Comic Sans MS"/>
                <a:cs typeface="Comic Sans MS"/>
              </a:rPr>
              <a:t>regra</a:t>
            </a:r>
            <a:r>
              <a:rPr sz="1900" spc="12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Comic Sans MS"/>
                <a:cs typeface="Comic Sans MS"/>
              </a:rPr>
              <a:t>é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Comic Sans MS"/>
                <a:cs typeface="Comic Sans MS"/>
              </a:rPr>
              <a:t>formado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Comic Sans MS"/>
                <a:cs typeface="Comic Sans MS"/>
              </a:rPr>
              <a:t>por</a:t>
            </a:r>
            <a:r>
              <a:rPr sz="1900" spc="12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Comic Sans MS"/>
                <a:cs typeface="Comic Sans MS"/>
              </a:rPr>
              <a:t>N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Comic Sans MS"/>
                <a:cs typeface="Comic Sans MS"/>
              </a:rPr>
              <a:t>símbolos</a:t>
            </a:r>
            <a:r>
              <a:rPr sz="1900" spc="125" dirty="0">
                <a:latin typeface="Times New Roman"/>
                <a:cs typeface="Times New Roman"/>
              </a:rPr>
              <a:t>  </a:t>
            </a:r>
            <a:r>
              <a:rPr sz="1900" b="1" spc="-10" dirty="0">
                <a:latin typeface="Comic Sans MS"/>
                <a:cs typeface="Comic Sans MS"/>
              </a:rPr>
              <a:t>terminais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seguido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de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UM</a:t>
            </a:r>
            <a:r>
              <a:rPr sz="1900" spc="49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símbolo</a:t>
            </a:r>
            <a:r>
              <a:rPr sz="1900" spc="50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não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terminal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2CC"/>
                </a:solidFill>
                <a:latin typeface="Comic Sans MS"/>
                <a:cs typeface="Comic Sans MS"/>
              </a:rPr>
              <a:t>OU</a:t>
            </a:r>
            <a:r>
              <a:rPr sz="1900" spc="49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formado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apenas</a:t>
            </a:r>
            <a:r>
              <a:rPr sz="1900" spc="5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por</a:t>
            </a:r>
            <a:r>
              <a:rPr sz="1900" spc="500" dirty="0">
                <a:latin typeface="Times New Roman"/>
                <a:cs typeface="Times New Roman"/>
              </a:rPr>
              <a:t> </a:t>
            </a:r>
            <a:r>
              <a:rPr sz="1900" b="1" spc="-50" dirty="0">
                <a:latin typeface="Comic Sans MS"/>
                <a:cs typeface="Comic Sans MS"/>
              </a:rPr>
              <a:t>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símbolos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terminais</a:t>
            </a:r>
            <a:endParaRPr sz="1900" dirty="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smtClean="0"/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524901" y="4879338"/>
            <a:ext cx="3860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95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GLE:</a:t>
            </a:r>
            <a:r>
              <a:rPr sz="2000" spc="7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sz="28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(V</a:t>
            </a:r>
            <a:r>
              <a:rPr sz="2000" spc="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000" spc="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27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000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(T</a:t>
            </a:r>
            <a:r>
              <a:rPr sz="20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</a:t>
            </a:r>
            <a:r>
              <a:rPr sz="2000" b="1" dirty="0">
                <a:solidFill>
                  <a:srgbClr val="FF0000"/>
                </a:solidFill>
                <a:latin typeface="Comic Sans MS"/>
                <a:cs typeface="Comic Sans MS"/>
              </a:rPr>
              <a:t>})</a:t>
            </a:r>
            <a:r>
              <a:rPr sz="2000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Comic Sans MS"/>
                <a:cs typeface="Comic Sans MS"/>
              </a:rPr>
              <a:t>-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8649" y="4979922"/>
            <a:ext cx="3750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mic Sans MS"/>
                <a:cs typeface="Comic Sans MS"/>
              </a:rPr>
              <a:t>A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b="1" dirty="0">
                <a:latin typeface="Comic Sans MS"/>
                <a:cs typeface="Comic Sans MS"/>
              </a:rPr>
              <a:t>Bw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ou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A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b="1" dirty="0">
                <a:latin typeface="Comic Sans MS"/>
                <a:cs typeface="Comic Sans MS"/>
              </a:rPr>
              <a:t>w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com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|w|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omic Sans MS"/>
                <a:cs typeface="Comic Sans MS"/>
              </a:rPr>
              <a:t>&gt;=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Comic Sans MS"/>
                <a:cs typeface="Comic Sans MS"/>
              </a:rPr>
              <a:t>0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2100" y="5387439"/>
            <a:ext cx="7643495" cy="707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buFont typeface="Arial"/>
              <a:buChar char="•"/>
              <a:tabLst>
                <a:tab pos="265430" algn="l"/>
                <a:tab pos="266065" algn="l"/>
              </a:tabLst>
            </a:pPr>
            <a:r>
              <a:rPr sz="1700" dirty="0">
                <a:latin typeface="Comic Sans MS"/>
                <a:cs typeface="Comic Sans MS"/>
              </a:rPr>
              <a:t>o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 err="1">
                <a:latin typeface="Comic Sans MS"/>
                <a:cs typeface="Comic Sans MS"/>
              </a:rPr>
              <a:t>lado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lang="pt-BR" sz="1700" dirty="0">
                <a:latin typeface="Comic Sans MS"/>
                <a:cs typeface="Comic Sans MS"/>
              </a:rPr>
              <a:t>direito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da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regra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é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formado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por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UM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símbolo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não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terminal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seguido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de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N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símbolos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terminais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E46B09"/>
                </a:solidFill>
                <a:latin typeface="Comic Sans MS"/>
                <a:cs typeface="Comic Sans MS"/>
              </a:rPr>
              <a:t>OU</a:t>
            </a:r>
            <a:r>
              <a:rPr sz="1700" spc="7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formado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apenas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por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N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omic Sans MS"/>
                <a:cs typeface="Comic Sans MS"/>
              </a:rPr>
              <a:t>símbolos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terminais</a:t>
            </a:r>
            <a:endParaRPr sz="1700" dirty="0">
              <a:latin typeface="Comic Sans MS"/>
              <a:cs typeface="Comic Sans MS"/>
            </a:endParaRPr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02867"/>
            <a:ext cx="8557895" cy="490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Gramáticas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lineares</a:t>
            </a:r>
            <a:endParaRPr sz="240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210820" algn="l"/>
              </a:tabLst>
            </a:pP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GLD</a:t>
            </a:r>
            <a:r>
              <a:rPr sz="2400" spc="455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e</a:t>
            </a:r>
            <a:r>
              <a:rPr sz="2400" spc="459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GLE</a:t>
            </a:r>
            <a:r>
              <a:rPr sz="2400" spc="459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geram</a:t>
            </a:r>
            <a:r>
              <a:rPr sz="2400" spc="455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exatamente</a:t>
            </a:r>
            <a:r>
              <a:rPr sz="2400" spc="459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400" spc="445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mesma</a:t>
            </a:r>
            <a:r>
              <a:rPr sz="2400" spc="459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classe</a:t>
            </a:r>
            <a:r>
              <a:rPr sz="2400" spc="455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0032CC"/>
                </a:solidFill>
                <a:latin typeface="Comic Sans MS"/>
                <a:cs typeface="Comic Sans MS"/>
              </a:rPr>
              <a:t>de</a:t>
            </a:r>
            <a:r>
              <a:rPr sz="2400" spc="-2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linguagens</a:t>
            </a:r>
            <a:r>
              <a:rPr sz="2400" dirty="0">
                <a:latin typeface="Comic Sans MS"/>
                <a:cs typeface="Comic Sans MS"/>
              </a:rPr>
              <a:t>.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Portanto,</a:t>
            </a:r>
            <a:r>
              <a:rPr sz="2400" spc="6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é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indiferente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o</a:t>
            </a:r>
            <a:r>
              <a:rPr sz="2400" spc="6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emprego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de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uma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Comic Sans MS"/>
                <a:cs typeface="Comic Sans MS"/>
              </a:rPr>
              <a:t>ou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outra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dessas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duas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variantes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de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gramática,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já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que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Comic Sans MS"/>
                <a:cs typeface="Comic Sans MS"/>
              </a:rPr>
              <a:t>ambas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possuem</a:t>
            </a:r>
            <a:r>
              <a:rPr sz="2400" spc="6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6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mesma</a:t>
            </a:r>
            <a:r>
              <a:rPr sz="2400" spc="6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capacidade</a:t>
            </a:r>
            <a:r>
              <a:rPr sz="2400" spc="6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de</a:t>
            </a:r>
            <a:r>
              <a:rPr sz="2400" spc="6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representação</a:t>
            </a:r>
            <a:r>
              <a:rPr sz="2400" spc="68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Comic Sans MS"/>
                <a:cs typeface="Comic Sans MS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linguagens.</a:t>
            </a:r>
            <a:endParaRPr sz="2400">
              <a:latin typeface="Comic Sans MS"/>
              <a:cs typeface="Comic Sans MS"/>
            </a:endParaRPr>
          </a:p>
          <a:p>
            <a:pPr marL="12700" marR="6985" algn="just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210820" algn="l"/>
              </a:tabLst>
            </a:pP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As</a:t>
            </a:r>
            <a:r>
              <a:rPr sz="2400" spc="59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linguagens</a:t>
            </a:r>
            <a:r>
              <a:rPr sz="2400" spc="61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geradas</a:t>
            </a:r>
            <a:r>
              <a:rPr sz="2400" spc="62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por</a:t>
            </a:r>
            <a:r>
              <a:rPr sz="2400" spc="61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GLD</a:t>
            </a:r>
            <a:r>
              <a:rPr sz="2400" spc="62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e</a:t>
            </a:r>
            <a:r>
              <a:rPr sz="2400" spc="6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GLE</a:t>
            </a:r>
            <a:r>
              <a:rPr sz="2400" spc="62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são</a:t>
            </a:r>
            <a:r>
              <a:rPr sz="2400" spc="60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Comic Sans MS"/>
                <a:cs typeface="Comic Sans MS"/>
              </a:rPr>
              <a:t>as</a:t>
            </a:r>
            <a:r>
              <a:rPr sz="2400" spc="60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linguagens</a:t>
            </a:r>
            <a:r>
              <a:rPr sz="2400" spc="-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32CC"/>
                </a:solidFill>
                <a:latin typeface="Comic Sans MS"/>
                <a:cs typeface="Comic Sans MS"/>
              </a:rPr>
              <a:t>regulares</a:t>
            </a:r>
            <a:endParaRPr sz="2400">
              <a:latin typeface="Comic Sans MS"/>
              <a:cs typeface="Comic Sans MS"/>
            </a:endParaRPr>
          </a:p>
          <a:p>
            <a:pPr marL="632460" lvl="1" indent="-163195" algn="just">
              <a:lnSpc>
                <a:spcPct val="100000"/>
              </a:lnSpc>
              <a:spcBef>
                <a:spcPts val="1780"/>
              </a:spcBef>
              <a:buFont typeface="Arial"/>
              <a:buChar char="•"/>
              <a:tabLst>
                <a:tab pos="633095" algn="l"/>
              </a:tabLst>
            </a:pP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Logo,</a:t>
            </a:r>
            <a:r>
              <a:rPr sz="2000" spc="5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GLD</a:t>
            </a:r>
            <a:r>
              <a:rPr sz="2000" spc="8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e</a:t>
            </a:r>
            <a:r>
              <a:rPr sz="2000" spc="10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GLE</a:t>
            </a:r>
            <a:r>
              <a:rPr sz="2000" spc="8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são</a:t>
            </a:r>
            <a:r>
              <a:rPr sz="2000" spc="10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46B09"/>
                </a:solidFill>
                <a:latin typeface="Comic Sans MS"/>
                <a:cs typeface="Comic Sans MS"/>
              </a:rPr>
              <a:t>equivalentes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37919"/>
            <a:ext cx="8556625" cy="290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Gramáticas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regulares</a:t>
            </a:r>
            <a:endParaRPr sz="3200">
              <a:latin typeface="Comic Sans MS"/>
              <a:cs typeface="Comic Sans MS"/>
            </a:endParaRPr>
          </a:p>
          <a:p>
            <a:pPr marL="277495" indent="-26543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8130" algn="l"/>
                <a:tab pos="1047115" algn="l"/>
                <a:tab pos="2094230" algn="l"/>
                <a:tab pos="2456815" algn="l"/>
                <a:tab pos="7121525" algn="l"/>
                <a:tab pos="8034655" algn="l"/>
              </a:tabLst>
            </a:pPr>
            <a:r>
              <a:rPr sz="3200" spc="-25" dirty="0">
                <a:latin typeface="Comic Sans MS"/>
                <a:cs typeface="Comic Sans MS"/>
              </a:rPr>
              <a:t>Ex: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dada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Comic Sans MS"/>
                <a:cs typeface="Comic Sans MS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representada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pela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ER</a:t>
            </a:r>
            <a:endParaRPr sz="3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b="1" spc="-10" dirty="0">
                <a:latin typeface="Comic Sans MS"/>
                <a:cs typeface="Comic Sans MS"/>
              </a:rPr>
              <a:t>(a+b)*(aa+bb)</a:t>
            </a:r>
            <a:endParaRPr sz="3200">
              <a:latin typeface="Comic Sans MS"/>
              <a:cs typeface="Comic Sans MS"/>
            </a:endParaRPr>
          </a:p>
          <a:p>
            <a:pPr marL="132715">
              <a:lnSpc>
                <a:spcPct val="100000"/>
              </a:lnSpc>
              <a:spcBef>
                <a:spcPts val="2690"/>
              </a:spcBef>
            </a:pPr>
            <a:r>
              <a:rPr sz="3200" dirty="0">
                <a:latin typeface="Comic Sans MS"/>
                <a:cs typeface="Comic Sans MS"/>
              </a:rPr>
              <a:t>qual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gramática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reconhece?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37919"/>
            <a:ext cx="8556625" cy="465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Gramáticas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regulares</a:t>
            </a:r>
            <a:endParaRPr sz="3200">
              <a:latin typeface="Comic Sans MS"/>
              <a:cs typeface="Comic Sans MS"/>
            </a:endParaRPr>
          </a:p>
          <a:p>
            <a:pPr marL="277495" indent="-26543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8130" algn="l"/>
                <a:tab pos="1047115" algn="l"/>
                <a:tab pos="2094230" algn="l"/>
                <a:tab pos="2456815" algn="l"/>
                <a:tab pos="7121525" algn="l"/>
                <a:tab pos="8034655" algn="l"/>
              </a:tabLst>
            </a:pPr>
            <a:r>
              <a:rPr sz="3200" spc="-25" dirty="0">
                <a:latin typeface="Comic Sans MS"/>
                <a:cs typeface="Comic Sans MS"/>
              </a:rPr>
              <a:t>Ex: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dada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Comic Sans MS"/>
                <a:cs typeface="Comic Sans MS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representada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pela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ER</a:t>
            </a:r>
            <a:endParaRPr sz="3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b="1" spc="-10" dirty="0">
                <a:latin typeface="Comic Sans MS"/>
                <a:cs typeface="Comic Sans MS"/>
              </a:rPr>
              <a:t>(a+b)*(aa+bb)</a:t>
            </a:r>
            <a:endParaRPr sz="3200">
              <a:latin typeface="Comic Sans MS"/>
              <a:cs typeface="Comic Sans MS"/>
            </a:endParaRPr>
          </a:p>
          <a:p>
            <a:pPr marL="132715">
              <a:lnSpc>
                <a:spcPct val="100000"/>
              </a:lnSpc>
              <a:spcBef>
                <a:spcPts val="2690"/>
              </a:spcBef>
            </a:pPr>
            <a:r>
              <a:rPr sz="3200" dirty="0">
                <a:latin typeface="Comic Sans MS"/>
                <a:cs typeface="Comic Sans MS"/>
              </a:rPr>
              <a:t>qual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gramática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reconhece?</a:t>
            </a:r>
            <a:endParaRPr sz="3200">
              <a:latin typeface="Comic Sans MS"/>
              <a:cs typeface="Comic Sans MS"/>
            </a:endParaRPr>
          </a:p>
          <a:p>
            <a:pPr marL="2054860">
              <a:lnSpc>
                <a:spcPct val="100000"/>
              </a:lnSpc>
              <a:spcBef>
                <a:spcPts val="2265"/>
              </a:spcBef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066415" marR="3041015" indent="-1012190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latin typeface="Calibri"/>
                <a:cs typeface="Calibri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bb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86103"/>
            <a:ext cx="34232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Gramáticas</a:t>
            </a:r>
            <a:r>
              <a:rPr sz="27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regulares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579879"/>
            <a:ext cx="6783070" cy="183642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35585" algn="l"/>
                <a:tab pos="1106805" algn="l"/>
                <a:tab pos="2212975" algn="l"/>
                <a:tab pos="2738755" algn="l"/>
                <a:tab pos="4634865" algn="l"/>
              </a:tabLst>
            </a:pPr>
            <a:r>
              <a:rPr sz="2700" spc="-25" dirty="0">
                <a:latin typeface="Comic Sans MS"/>
                <a:cs typeface="Comic Sans MS"/>
              </a:rPr>
              <a:t>Ex: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0" dirty="0">
                <a:latin typeface="Comic Sans MS"/>
                <a:cs typeface="Comic Sans MS"/>
              </a:rPr>
              <a:t>dada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latin typeface="Comic Sans MS"/>
                <a:cs typeface="Comic Sans MS"/>
              </a:rPr>
              <a:t>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0" dirty="0">
                <a:latin typeface="Comic Sans MS"/>
                <a:cs typeface="Comic Sans MS"/>
              </a:rPr>
              <a:t>linguagem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0" dirty="0">
                <a:latin typeface="Comic Sans MS"/>
                <a:cs typeface="Comic Sans MS"/>
              </a:rPr>
              <a:t>representada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700" b="1" spc="-10" dirty="0">
                <a:latin typeface="Comic Sans MS"/>
                <a:cs typeface="Comic Sans MS"/>
              </a:rPr>
              <a:t>(a+b)*(aa+bb)</a:t>
            </a:r>
            <a:endParaRPr sz="270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45"/>
              </a:spcBef>
            </a:pPr>
            <a:r>
              <a:rPr sz="2700" dirty="0">
                <a:latin typeface="Comic Sans MS"/>
                <a:cs typeface="Comic Sans MS"/>
              </a:rPr>
              <a:t>qual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gramática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reconhece?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5204" y="1744471"/>
            <a:ext cx="1446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2700" spc="-20" dirty="0">
                <a:latin typeface="Comic Sans MS"/>
                <a:cs typeface="Comic Sans MS"/>
              </a:rPr>
              <a:t>pela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5" dirty="0">
                <a:latin typeface="Comic Sans MS"/>
                <a:cs typeface="Comic Sans MS"/>
              </a:rPr>
              <a:t>ER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696" y="3800346"/>
            <a:ext cx="8101965" cy="224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053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066415" marR="2586355" indent="-1012190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latin typeface="Calibri"/>
                <a:cs typeface="Calibri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bb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  <a:p>
            <a:pPr marL="234950" indent="-222885">
              <a:lnSpc>
                <a:spcPct val="100000"/>
              </a:lnSpc>
              <a:spcBef>
                <a:spcPts val="2720"/>
              </a:spcBef>
              <a:buFont typeface="Arial"/>
              <a:buChar char="•"/>
              <a:tabLst>
                <a:tab pos="235585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55" dirty="0"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E46B09"/>
                </a:solidFill>
                <a:latin typeface="Comic Sans MS"/>
                <a:cs typeface="Comic Sans MS"/>
              </a:rPr>
              <a:t>babb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86103"/>
            <a:ext cx="34232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Gramáticas</a:t>
            </a:r>
            <a:r>
              <a:rPr sz="27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regulares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579879"/>
            <a:ext cx="6783070" cy="183642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35585" algn="l"/>
                <a:tab pos="1106805" algn="l"/>
                <a:tab pos="2212975" algn="l"/>
                <a:tab pos="2738755" algn="l"/>
                <a:tab pos="4634865" algn="l"/>
              </a:tabLst>
            </a:pPr>
            <a:r>
              <a:rPr sz="2700" spc="-25" dirty="0">
                <a:latin typeface="Comic Sans MS"/>
                <a:cs typeface="Comic Sans MS"/>
              </a:rPr>
              <a:t>Ex: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0" dirty="0">
                <a:latin typeface="Comic Sans MS"/>
                <a:cs typeface="Comic Sans MS"/>
              </a:rPr>
              <a:t>dada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latin typeface="Comic Sans MS"/>
                <a:cs typeface="Comic Sans MS"/>
              </a:rPr>
              <a:t>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0" dirty="0">
                <a:latin typeface="Comic Sans MS"/>
                <a:cs typeface="Comic Sans MS"/>
              </a:rPr>
              <a:t>linguagem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0" dirty="0">
                <a:latin typeface="Comic Sans MS"/>
                <a:cs typeface="Comic Sans MS"/>
              </a:rPr>
              <a:t>representada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700" b="1" spc="-10" dirty="0">
                <a:latin typeface="Comic Sans MS"/>
                <a:cs typeface="Comic Sans MS"/>
              </a:rPr>
              <a:t>(a+b)*(aa+bb)</a:t>
            </a:r>
            <a:endParaRPr sz="270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45"/>
              </a:spcBef>
            </a:pPr>
            <a:r>
              <a:rPr sz="2700" dirty="0">
                <a:latin typeface="Comic Sans MS"/>
                <a:cs typeface="Comic Sans MS"/>
              </a:rPr>
              <a:t>qual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gramática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reconhece?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5204" y="1744471"/>
            <a:ext cx="1446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2700" spc="-20" dirty="0">
                <a:latin typeface="Comic Sans MS"/>
                <a:cs typeface="Comic Sans MS"/>
              </a:rPr>
              <a:t>pela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5" dirty="0">
                <a:latin typeface="Comic Sans MS"/>
                <a:cs typeface="Comic Sans MS"/>
              </a:rPr>
              <a:t>ER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696" y="3800346"/>
            <a:ext cx="8101965" cy="282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053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066415" marR="2586355" indent="-1012190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latin typeface="Calibri"/>
                <a:cs typeface="Calibri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bb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40400"/>
              </a:lnSpc>
              <a:spcBef>
                <a:spcPts val="1415"/>
              </a:spcBef>
              <a:buFont typeface="Arial"/>
              <a:buChar char="•"/>
              <a:tabLst>
                <a:tab pos="235585" algn="l"/>
                <a:tab pos="1177925" algn="l"/>
                <a:tab pos="1661160" algn="l"/>
                <a:tab pos="2444750" algn="l"/>
                <a:tab pos="2929255" algn="l"/>
                <a:tab pos="3723004" algn="l"/>
                <a:tab pos="4208145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55" dirty="0"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E46B09"/>
                </a:solidFill>
                <a:latin typeface="Comic Sans MS"/>
                <a:cs typeface="Comic Sans MS"/>
              </a:rPr>
              <a:t>babb</a:t>
            </a:r>
            <a:r>
              <a:rPr sz="2700" spc="-2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S</a:t>
            </a:r>
            <a:r>
              <a:rPr sz="2700" spc="-2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b</a:t>
            </a:r>
            <a:r>
              <a:rPr sz="2700" b="1" spc="-20" dirty="0">
                <a:latin typeface="Comic Sans MS"/>
                <a:cs typeface="Comic Sans MS"/>
              </a:rPr>
              <a:t>S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5" dirty="0">
                <a:solidFill>
                  <a:srgbClr val="0032CC"/>
                </a:solidFill>
                <a:latin typeface="Comic Sans MS"/>
                <a:cs typeface="Comic Sans MS"/>
              </a:rPr>
              <a:t>ba</a:t>
            </a:r>
            <a:r>
              <a:rPr sz="2700" b="1" spc="-25" dirty="0">
                <a:latin typeface="Comic Sans MS"/>
                <a:cs typeface="Comic Sans MS"/>
              </a:rPr>
              <a:t>S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5" dirty="0">
                <a:solidFill>
                  <a:srgbClr val="0032CC"/>
                </a:solidFill>
                <a:latin typeface="Comic Sans MS"/>
                <a:cs typeface="Comic Sans MS"/>
              </a:rPr>
              <a:t>ba</a:t>
            </a:r>
            <a:r>
              <a:rPr sz="2700" b="1" spc="-25" dirty="0">
                <a:latin typeface="Comic Sans MS"/>
                <a:cs typeface="Comic Sans MS"/>
              </a:rPr>
              <a:t>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babb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01343"/>
            <a:ext cx="50666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Extensões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para</a:t>
            </a:r>
            <a:r>
              <a:rPr sz="32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GLD</a:t>
            </a:r>
            <a:r>
              <a:rPr sz="3200" spc="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e</a:t>
            </a:r>
            <a:r>
              <a:rPr sz="32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00"/>
                </a:solidFill>
              </a:rPr>
              <a:t>GLE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881631"/>
            <a:ext cx="8770620" cy="120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Gramática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Linear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Unitária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à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Direita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(</a:t>
            </a: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GLUD</a:t>
            </a:r>
            <a:r>
              <a:rPr sz="3200" spc="-10" dirty="0">
                <a:latin typeface="Comic Sans MS"/>
                <a:cs typeface="Comic Sans MS"/>
              </a:rPr>
              <a:t>)</a:t>
            </a:r>
            <a:endParaRPr sz="3200">
              <a:latin typeface="Comic Sans MS"/>
              <a:cs typeface="Comic Sans MS"/>
            </a:endParaRPr>
          </a:p>
          <a:p>
            <a:pPr marL="699770" lvl="1" indent="-230504">
              <a:lnSpc>
                <a:spcPct val="100000"/>
              </a:lnSpc>
              <a:spcBef>
                <a:spcPts val="2105"/>
              </a:spcBef>
              <a:buFont typeface="Arial"/>
              <a:buChar char="•"/>
              <a:tabLst>
                <a:tab pos="700405" algn="l"/>
                <a:tab pos="2110740" algn="l"/>
                <a:tab pos="3057525" algn="l"/>
                <a:tab pos="5271770" algn="l"/>
                <a:tab pos="6781800" algn="l"/>
                <a:tab pos="7542530" algn="l"/>
              </a:tabLst>
            </a:pPr>
            <a:r>
              <a:rPr sz="2800" spc="-20" dirty="0">
                <a:latin typeface="Comic Sans MS"/>
                <a:cs typeface="Comic Sans MS"/>
              </a:rPr>
              <a:t>como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na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gramática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linear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à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direita.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5355" y="3349242"/>
            <a:ext cx="39027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5450" algn="l"/>
                <a:tab pos="1421765" algn="l"/>
                <a:tab pos="1896110" algn="l"/>
                <a:tab pos="3004185" algn="l"/>
                <a:tab pos="3432175" algn="l"/>
              </a:tabLst>
            </a:pPr>
            <a:r>
              <a:rPr sz="1900" spc="-25" dirty="0">
                <a:solidFill>
                  <a:srgbClr val="3232FF"/>
                </a:solidFill>
                <a:latin typeface="Comic Sans MS"/>
                <a:cs typeface="Comic Sans MS"/>
              </a:rPr>
              <a:t>no</a:t>
            </a:r>
            <a:r>
              <a:rPr sz="19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232FF"/>
                </a:solidFill>
                <a:latin typeface="Comic Sans MS"/>
                <a:cs typeface="Comic Sans MS"/>
              </a:rPr>
              <a:t>máximo</a:t>
            </a:r>
            <a:r>
              <a:rPr sz="19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1900" b="1" spc="-25" dirty="0">
                <a:solidFill>
                  <a:srgbClr val="3232FF"/>
                </a:solidFill>
                <a:latin typeface="Comic Sans MS"/>
                <a:cs typeface="Comic Sans MS"/>
              </a:rPr>
              <a:t>um</a:t>
            </a:r>
            <a:r>
              <a:rPr sz="19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1900" b="1" spc="-10" dirty="0">
                <a:solidFill>
                  <a:srgbClr val="3232FF"/>
                </a:solidFill>
                <a:latin typeface="Comic Sans MS"/>
                <a:cs typeface="Comic Sans MS"/>
              </a:rPr>
              <a:t>terminal</a:t>
            </a:r>
            <a:r>
              <a:rPr sz="19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232FF"/>
                </a:solidFill>
                <a:latin typeface="Comic Sans MS"/>
                <a:cs typeface="Comic Sans MS"/>
              </a:rPr>
              <a:t>do</a:t>
            </a:r>
            <a:r>
              <a:rPr sz="19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3232FF"/>
                </a:solidFill>
                <a:latin typeface="Comic Sans MS"/>
                <a:cs typeface="Comic Sans MS"/>
              </a:rPr>
              <a:t>lado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696" y="3025034"/>
            <a:ext cx="8726170" cy="183642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745"/>
              </a:spcBef>
              <a:tabLst>
                <a:tab pos="3211195" algn="l"/>
                <a:tab pos="3970020" algn="l"/>
                <a:tab pos="4503420" algn="l"/>
              </a:tabLst>
            </a:pPr>
            <a:r>
              <a:rPr sz="2800" spc="-10" dirty="0">
                <a:latin typeface="Comic Sans MS"/>
                <a:cs typeface="Comic Sans MS"/>
              </a:rPr>
              <a:t>Adicionalmente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|w|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&lt;=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1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1120"/>
              </a:spcBef>
            </a:pPr>
            <a:r>
              <a:rPr sz="1900" dirty="0">
                <a:solidFill>
                  <a:srgbClr val="3232FF"/>
                </a:solidFill>
                <a:latin typeface="Comic Sans MS"/>
                <a:cs typeface="Comic Sans MS"/>
              </a:rPr>
              <a:t>direito</a:t>
            </a:r>
            <a:r>
              <a:rPr sz="1900" spc="4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232FF"/>
                </a:solidFill>
                <a:latin typeface="Comic Sans MS"/>
                <a:cs typeface="Comic Sans MS"/>
              </a:rPr>
              <a:t>da</a:t>
            </a:r>
            <a:r>
              <a:rPr sz="1900" spc="4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3232FF"/>
                </a:solidFill>
                <a:latin typeface="Comic Sans MS"/>
                <a:cs typeface="Comic Sans MS"/>
              </a:rPr>
              <a:t>regra</a:t>
            </a:r>
            <a:endParaRPr sz="1900">
              <a:latin typeface="Comic Sans MS"/>
              <a:cs typeface="Comic Sans MS"/>
            </a:endParaRPr>
          </a:p>
          <a:p>
            <a:pPr marL="155575" indent="-143510">
              <a:lnSpc>
                <a:spcPct val="100000"/>
              </a:lnSpc>
              <a:spcBef>
                <a:spcPts val="2010"/>
              </a:spcBef>
              <a:buSzPct val="96875"/>
              <a:buFont typeface="Arial"/>
              <a:buChar char="•"/>
              <a:tabLst>
                <a:tab pos="156210" algn="l"/>
              </a:tabLst>
            </a:pPr>
            <a:r>
              <a:rPr sz="3200" dirty="0">
                <a:latin typeface="Comic Sans MS"/>
                <a:cs typeface="Comic Sans MS"/>
              </a:rPr>
              <a:t>Gramática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Linear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Unitária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à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Esquerda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(</a:t>
            </a:r>
            <a:r>
              <a:rPr sz="3200" spc="-10" dirty="0">
                <a:solidFill>
                  <a:srgbClr val="E46B09"/>
                </a:solidFill>
                <a:latin typeface="Comic Sans MS"/>
                <a:cs typeface="Comic Sans MS"/>
              </a:rPr>
              <a:t>GLUE</a:t>
            </a:r>
            <a:r>
              <a:rPr sz="3200" spc="-10" dirty="0">
                <a:latin typeface="Comic Sans MS"/>
                <a:cs typeface="Comic Sans MS"/>
              </a:rPr>
              <a:t>)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901" y="4932068"/>
            <a:ext cx="8313420" cy="181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dirty="0">
                <a:latin typeface="Comic Sans MS"/>
                <a:cs typeface="Comic Sans MS"/>
              </a:rPr>
              <a:t>como</a:t>
            </a:r>
            <a:r>
              <a:rPr sz="2800" spc="66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Comic Sans MS"/>
                <a:cs typeface="Comic Sans MS"/>
              </a:rPr>
              <a:t>na</a:t>
            </a:r>
            <a:r>
              <a:rPr sz="2800" spc="66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Comic Sans MS"/>
                <a:cs typeface="Comic Sans MS"/>
              </a:rPr>
              <a:t>gramática</a:t>
            </a:r>
            <a:r>
              <a:rPr sz="2800" spc="66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Comic Sans MS"/>
                <a:cs typeface="Comic Sans MS"/>
              </a:rPr>
              <a:t>linear</a:t>
            </a:r>
            <a:r>
              <a:rPr sz="2800" spc="665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Comic Sans MS"/>
                <a:cs typeface="Comic Sans MS"/>
              </a:rPr>
              <a:t>à</a:t>
            </a:r>
            <a:r>
              <a:rPr sz="2800" spc="660" dirty="0">
                <a:latin typeface="Times New Roman"/>
                <a:cs typeface="Times New Roman"/>
              </a:rPr>
              <a:t>   </a:t>
            </a:r>
            <a:r>
              <a:rPr sz="2800" spc="-10" dirty="0">
                <a:latin typeface="Comic Sans MS"/>
                <a:cs typeface="Comic Sans MS"/>
              </a:rPr>
              <a:t>esquerda.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Adicionalmente</a:t>
            </a:r>
            <a:r>
              <a:rPr sz="2800" spc="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|w|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&lt;=</a:t>
            </a:r>
            <a:r>
              <a:rPr sz="2800" spc="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1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232FF"/>
                </a:solidFill>
                <a:latin typeface="Comic Sans MS"/>
                <a:cs typeface="Comic Sans MS"/>
              </a:rPr>
              <a:t>no</a:t>
            </a:r>
            <a:r>
              <a:rPr sz="2800" spc="68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232FF"/>
                </a:solidFill>
                <a:latin typeface="Comic Sans MS"/>
                <a:cs typeface="Comic Sans MS"/>
              </a:rPr>
              <a:t>máximo</a:t>
            </a:r>
            <a:r>
              <a:rPr sz="2800" spc="69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232FF"/>
                </a:solidFill>
                <a:latin typeface="Comic Sans MS"/>
                <a:cs typeface="Comic Sans MS"/>
              </a:rPr>
              <a:t>um</a:t>
            </a:r>
            <a:r>
              <a:rPr sz="2800" spc="66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3232FF"/>
                </a:solidFill>
                <a:latin typeface="Comic Sans MS"/>
                <a:cs typeface="Comic Sans MS"/>
              </a:rPr>
              <a:t>terminal</a:t>
            </a:r>
            <a:r>
              <a:rPr sz="2800" spc="-1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232FF"/>
                </a:solidFill>
                <a:latin typeface="Comic Sans MS"/>
                <a:cs typeface="Comic Sans MS"/>
              </a:rPr>
              <a:t>do</a:t>
            </a:r>
            <a:r>
              <a:rPr sz="2800" spc="7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3232FF"/>
                </a:solidFill>
                <a:latin typeface="Comic Sans MS"/>
                <a:cs typeface="Comic Sans MS"/>
              </a:rPr>
              <a:t>lado</a:t>
            </a:r>
            <a:r>
              <a:rPr sz="2800" spc="10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lang="pt-BR" sz="2800" dirty="0">
                <a:solidFill>
                  <a:srgbClr val="3232FF"/>
                </a:solidFill>
                <a:latin typeface="Comic Sans MS"/>
                <a:cs typeface="Comic Sans MS"/>
              </a:rPr>
              <a:t>esquerdo</a:t>
            </a:r>
            <a:r>
              <a:rPr sz="2800" spc="11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232FF"/>
                </a:solidFill>
                <a:latin typeface="Comic Sans MS"/>
                <a:cs typeface="Comic Sans MS"/>
              </a:rPr>
              <a:t>da</a:t>
            </a:r>
            <a:r>
              <a:rPr sz="2800" spc="9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232FF"/>
                </a:solidFill>
                <a:latin typeface="Comic Sans MS"/>
                <a:cs typeface="Comic Sans MS"/>
              </a:rPr>
              <a:t>regra</a:t>
            </a:r>
            <a:endParaRPr sz="2800" dirty="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086103"/>
            <a:ext cx="8187055" cy="175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omic Sans MS"/>
                <a:cs typeface="Comic Sans MS"/>
              </a:rPr>
              <a:t>Gramáticas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regulares</a:t>
            </a:r>
            <a:endParaRPr sz="2700">
              <a:latin typeface="Comic Sans MS"/>
              <a:cs typeface="Comic Sans MS"/>
            </a:endParaRPr>
          </a:p>
          <a:p>
            <a:pPr marL="234950" indent="-222885">
              <a:lnSpc>
                <a:spcPct val="100000"/>
              </a:lnSpc>
              <a:spcBef>
                <a:spcPts val="1939"/>
              </a:spcBef>
              <a:buFont typeface="Arial"/>
              <a:buChar char="•"/>
              <a:tabLst>
                <a:tab pos="235585" algn="l"/>
              </a:tabLst>
            </a:pPr>
            <a:r>
              <a:rPr sz="2700" dirty="0">
                <a:latin typeface="Comic Sans MS"/>
                <a:cs typeface="Comic Sans MS"/>
              </a:rPr>
              <a:t>Ex: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dada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linguagem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representada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pela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3232FF"/>
                </a:solidFill>
                <a:latin typeface="Comic Sans MS"/>
                <a:cs typeface="Comic Sans MS"/>
              </a:rPr>
              <a:t>a(ba)*</a:t>
            </a:r>
            <a:endParaRPr sz="270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45"/>
              </a:spcBef>
            </a:pPr>
            <a:r>
              <a:rPr sz="2700" dirty="0">
                <a:latin typeface="Comic Sans MS"/>
                <a:cs typeface="Comic Sans MS"/>
              </a:rPr>
              <a:t>dê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GLD,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GLE,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GLUD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reconhece.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7696" y="5694677"/>
            <a:ext cx="817625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 indent="-121285">
              <a:lnSpc>
                <a:spcPct val="100000"/>
              </a:lnSpc>
              <a:spcBef>
                <a:spcPts val="100"/>
              </a:spcBef>
              <a:buSzPct val="96296"/>
              <a:buFont typeface="Arial"/>
              <a:buChar char="•"/>
              <a:tabLst>
                <a:tab pos="133985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E46B09"/>
                </a:solidFill>
                <a:latin typeface="Comic Sans MS"/>
                <a:cs typeface="Comic Sans MS"/>
              </a:rPr>
              <a:t>ababa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7696" y="391449"/>
            <a:ext cx="8187055" cy="640342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endParaRPr lang="pt-BR" sz="2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700" dirty="0" err="1">
                <a:latin typeface="Comic Sans MS"/>
                <a:cs typeface="Comic Sans MS"/>
              </a:rPr>
              <a:t>Gramáticas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regulares</a:t>
            </a:r>
            <a:endParaRPr sz="2700" dirty="0">
              <a:latin typeface="Comic Sans MS"/>
              <a:cs typeface="Comic Sans MS"/>
            </a:endParaRPr>
          </a:p>
          <a:p>
            <a:pPr marL="234950" indent="-222885">
              <a:lnSpc>
                <a:spcPct val="100000"/>
              </a:lnSpc>
              <a:spcBef>
                <a:spcPts val="1939"/>
              </a:spcBef>
              <a:buFont typeface="Arial"/>
              <a:buChar char="•"/>
              <a:tabLst>
                <a:tab pos="235585" algn="l"/>
              </a:tabLst>
            </a:pPr>
            <a:r>
              <a:rPr sz="2700" dirty="0">
                <a:latin typeface="Comic Sans MS"/>
                <a:cs typeface="Comic Sans MS"/>
              </a:rPr>
              <a:t>Ex: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dada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linguagem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representada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pela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3232FF"/>
                </a:solidFill>
                <a:latin typeface="Comic Sans MS"/>
                <a:cs typeface="Comic Sans MS"/>
              </a:rPr>
              <a:t>a(ba)*</a:t>
            </a:r>
            <a:endParaRPr sz="2700" dirty="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45"/>
              </a:spcBef>
            </a:pPr>
            <a:r>
              <a:rPr sz="2700" dirty="0">
                <a:latin typeface="Comic Sans MS"/>
                <a:cs typeface="Comic Sans MS"/>
              </a:rPr>
              <a:t>dê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3232FF"/>
                </a:solidFill>
                <a:latin typeface="Comic Sans MS"/>
                <a:cs typeface="Comic Sans MS"/>
              </a:rPr>
              <a:t>GLD</a:t>
            </a:r>
            <a:r>
              <a:rPr sz="2700" dirty="0">
                <a:latin typeface="Comic Sans MS"/>
                <a:cs typeface="Comic Sans MS"/>
              </a:rPr>
              <a:t>,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GLE,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GLUD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</a:t>
            </a:r>
            <a:endParaRPr sz="27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Comic Sans MS"/>
              <a:cs typeface="Comic Sans MS"/>
            </a:endParaRPr>
          </a:p>
          <a:p>
            <a:pPr marL="2054860" marR="2569845">
              <a:lnSpc>
                <a:spcPct val="1006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P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aA</a:t>
            </a:r>
            <a:endParaRPr sz="3200" dirty="0">
              <a:latin typeface="Calibri"/>
              <a:cs typeface="Calibri"/>
            </a:endParaRPr>
          </a:p>
          <a:p>
            <a:pPr marR="182880" algn="ctr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baA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ymbol"/>
                <a:cs typeface="Symbol"/>
              </a:rPr>
              <a:t>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50" dirty="0">
              <a:latin typeface="Calibri"/>
              <a:cs typeface="Calibri"/>
            </a:endParaRPr>
          </a:p>
          <a:p>
            <a:pPr marL="12700" marR="15875">
              <a:lnSpc>
                <a:spcPct val="141000"/>
              </a:lnSpc>
              <a:buFont typeface="Arial"/>
              <a:buChar char="•"/>
              <a:tabLst>
                <a:tab pos="133985" algn="l"/>
                <a:tab pos="1177925" algn="l"/>
                <a:tab pos="1661160" algn="l"/>
                <a:tab pos="2647315" algn="l"/>
                <a:tab pos="3131820" algn="l"/>
                <a:tab pos="4511040" algn="l"/>
                <a:tab pos="4995545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E46B09"/>
                </a:solidFill>
                <a:latin typeface="Comic Sans MS"/>
                <a:cs typeface="Comic Sans MS"/>
              </a:rPr>
              <a:t>ababa</a:t>
            </a:r>
            <a:r>
              <a:rPr sz="2700" spc="-1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S</a:t>
            </a:r>
            <a:r>
              <a:rPr sz="2700" spc="-2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700" b="1" spc="-20" dirty="0">
                <a:latin typeface="Comic Sans MS"/>
                <a:cs typeface="Comic Sans MS"/>
              </a:rPr>
              <a:t>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700" b="1" spc="-20" dirty="0">
                <a:latin typeface="Comic Sans MS"/>
                <a:cs typeface="Comic Sans MS"/>
              </a:rPr>
              <a:t>baA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</a:t>
            </a:r>
            <a:r>
              <a:rPr sz="2700" b="1" spc="-10" dirty="0">
                <a:latin typeface="Comic Sans MS"/>
                <a:cs typeface="Comic Sans MS"/>
              </a:rPr>
              <a:t>baA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ababa</a:t>
            </a:r>
            <a:r>
              <a:rPr sz="2800" spc="-10" dirty="0">
                <a:latin typeface="Symbol"/>
                <a:cs typeface="Symbol"/>
              </a:rPr>
              <a:t>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86103"/>
            <a:ext cx="34232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Gramáticas</a:t>
            </a:r>
            <a:r>
              <a:rPr sz="27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regulares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696" y="5528561"/>
            <a:ext cx="8176259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400"/>
              </a:lnSpc>
              <a:spcBef>
                <a:spcPts val="100"/>
              </a:spcBef>
              <a:buSzPct val="96296"/>
              <a:buFont typeface="Arial"/>
              <a:buChar char="•"/>
              <a:tabLst>
                <a:tab pos="133985" algn="l"/>
                <a:tab pos="1368425" algn="l"/>
                <a:tab pos="1851660" algn="l"/>
                <a:tab pos="3028315" algn="l"/>
                <a:tab pos="3512820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E46B09"/>
                </a:solidFill>
                <a:latin typeface="Comic Sans MS"/>
                <a:cs typeface="Comic Sans MS"/>
              </a:rPr>
              <a:t>ababa</a:t>
            </a:r>
            <a:r>
              <a:rPr sz="2700" spc="-1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S</a:t>
            </a:r>
            <a:r>
              <a:rPr sz="2700" spc="-1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b="1" spc="-10" dirty="0">
                <a:latin typeface="Comic Sans MS"/>
                <a:cs typeface="Comic Sans MS"/>
              </a:rPr>
              <a:t>S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ba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0" dirty="0">
                <a:latin typeface="Comic Sans MS"/>
                <a:cs typeface="Comic Sans MS"/>
              </a:rPr>
              <a:t>S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baba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ababa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067696" y="1744471"/>
            <a:ext cx="8187055" cy="2627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5585" algn="l"/>
              </a:tabLst>
            </a:pPr>
            <a:r>
              <a:rPr sz="2700" dirty="0">
                <a:latin typeface="Comic Sans MS"/>
                <a:cs typeface="Comic Sans MS"/>
              </a:rPr>
              <a:t>Ex: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dada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linguagem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representada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pela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3232FF"/>
                </a:solidFill>
                <a:latin typeface="Comic Sans MS"/>
                <a:cs typeface="Comic Sans MS"/>
              </a:rPr>
              <a:t>a(ba)*</a:t>
            </a:r>
            <a:endParaRPr sz="270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39"/>
              </a:spcBef>
            </a:pPr>
            <a:r>
              <a:rPr sz="2700" dirty="0">
                <a:latin typeface="Comic Sans MS"/>
                <a:cs typeface="Comic Sans MS"/>
              </a:rPr>
              <a:t>dê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GLD,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3232FF"/>
                </a:solidFill>
                <a:latin typeface="Comic Sans MS"/>
                <a:cs typeface="Comic Sans MS"/>
              </a:rPr>
              <a:t>GLE</a:t>
            </a:r>
            <a:r>
              <a:rPr sz="2700" dirty="0">
                <a:latin typeface="Comic Sans MS"/>
                <a:cs typeface="Comic Sans MS"/>
              </a:rPr>
              <a:t>,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GLUD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Comic Sans MS"/>
              <a:cs typeface="Comic Sans MS"/>
            </a:endParaRPr>
          </a:p>
          <a:p>
            <a:pPr marL="205486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2054860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latin typeface="Calibri"/>
                <a:cs typeface="Calibri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Sba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9596" y="406039"/>
            <a:ext cx="8446135" cy="5649239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480"/>
              </a:spcBef>
            </a:pPr>
            <a:endParaRPr lang="pt-BR" sz="2500" dirty="0">
              <a:latin typeface="Comic Sans MS"/>
              <a:cs typeface="Comic Sans MS"/>
            </a:endParaRPr>
          </a:p>
          <a:p>
            <a:pPr marL="50165">
              <a:lnSpc>
                <a:spcPct val="100000"/>
              </a:lnSpc>
              <a:spcBef>
                <a:spcPts val="1480"/>
              </a:spcBef>
            </a:pPr>
            <a:r>
              <a:rPr sz="2500" dirty="0" err="1">
                <a:latin typeface="Comic Sans MS"/>
                <a:cs typeface="Comic Sans MS"/>
              </a:rPr>
              <a:t>Gramáticas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regulares</a:t>
            </a:r>
            <a:endParaRPr sz="2500" dirty="0">
              <a:latin typeface="Comic Sans MS"/>
              <a:cs typeface="Comic Sans MS"/>
            </a:endParaRPr>
          </a:p>
          <a:p>
            <a:pPr marL="254635" indent="-205104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255270" algn="l"/>
              </a:tabLst>
            </a:pPr>
            <a:r>
              <a:rPr sz="2500" dirty="0">
                <a:latin typeface="Comic Sans MS"/>
                <a:cs typeface="Comic Sans MS"/>
              </a:rPr>
              <a:t>Ex: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dada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a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linguagem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representada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pela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ER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3232FF"/>
                </a:solidFill>
                <a:latin typeface="Comic Sans MS"/>
                <a:cs typeface="Comic Sans MS"/>
              </a:rPr>
              <a:t>a(ba)*</a:t>
            </a:r>
            <a:endParaRPr sz="2500" dirty="0">
              <a:latin typeface="Comic Sans MS"/>
              <a:cs typeface="Comic Sans MS"/>
            </a:endParaRPr>
          </a:p>
          <a:p>
            <a:pPr marL="143510">
              <a:lnSpc>
                <a:spcPct val="100000"/>
              </a:lnSpc>
              <a:spcBef>
                <a:spcPts val="1500"/>
              </a:spcBef>
            </a:pPr>
            <a:r>
              <a:rPr sz="2500" dirty="0">
                <a:latin typeface="Comic Sans MS"/>
                <a:cs typeface="Comic Sans MS"/>
              </a:rPr>
              <a:t>dê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as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GLD,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GLE,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3232FF"/>
                </a:solidFill>
                <a:latin typeface="Comic Sans MS"/>
                <a:cs typeface="Comic Sans MS"/>
              </a:rPr>
              <a:t>GLUD</a:t>
            </a:r>
            <a:r>
              <a:rPr sz="2500" spc="7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e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GLUE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que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as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reconhece</a:t>
            </a:r>
            <a:endParaRPr sz="25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 dirty="0">
              <a:latin typeface="Comic Sans MS"/>
              <a:cs typeface="Comic Sans MS"/>
            </a:endParaRPr>
          </a:p>
          <a:p>
            <a:pPr marL="2092960" marR="2790825">
              <a:lnSpc>
                <a:spcPct val="100600"/>
              </a:lnSpc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P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aA</a:t>
            </a:r>
            <a:endParaRPr sz="3200" dirty="0">
              <a:latin typeface="Calibri"/>
              <a:cs typeface="Calibri"/>
            </a:endParaRPr>
          </a:p>
          <a:p>
            <a:pPr marL="2920365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bB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Symbol"/>
                <a:cs typeface="Symbol"/>
              </a:rPr>
              <a:t></a:t>
            </a:r>
            <a:endParaRPr sz="3200" dirty="0">
              <a:latin typeface="Symbol"/>
              <a:cs typeface="Symbol"/>
            </a:endParaRPr>
          </a:p>
          <a:p>
            <a:pPr marL="2917190">
              <a:lnSpc>
                <a:spcPts val="3610"/>
              </a:lnSpc>
            </a:pPr>
            <a:r>
              <a:rPr sz="3200" dirty="0">
                <a:latin typeface="Calibri"/>
                <a:cs typeface="Calibri"/>
              </a:rPr>
              <a:t>B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aA</a:t>
            </a:r>
            <a:endParaRPr sz="3200" dirty="0">
              <a:latin typeface="Calibri"/>
              <a:cs typeface="Calibri"/>
            </a:endParaRPr>
          </a:p>
          <a:p>
            <a:pPr marL="161925" indent="-111760">
              <a:lnSpc>
                <a:spcPts val="3610"/>
              </a:lnSpc>
              <a:buFont typeface="Arial"/>
              <a:buChar char="•"/>
              <a:tabLst>
                <a:tab pos="162560" algn="l"/>
              </a:tabLst>
            </a:pPr>
            <a:r>
              <a:rPr sz="2500" dirty="0">
                <a:latin typeface="Comic Sans MS"/>
                <a:cs typeface="Comic Sans MS"/>
              </a:rPr>
              <a:t>mostre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os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Comic Sans MS"/>
                <a:cs typeface="Comic Sans MS"/>
              </a:rPr>
              <a:t>p</a:t>
            </a:r>
            <a:r>
              <a:rPr sz="2500" spc="-30" dirty="0">
                <a:latin typeface="Comic Sans MS"/>
                <a:cs typeface="Comic Sans MS"/>
              </a:rPr>
              <a:t>a</a:t>
            </a:r>
            <a:r>
              <a:rPr sz="2500" spc="-25" dirty="0">
                <a:latin typeface="Comic Sans MS"/>
                <a:cs typeface="Comic Sans MS"/>
              </a:rPr>
              <a:t>sso</a:t>
            </a:r>
            <a:r>
              <a:rPr sz="2500" spc="-1000" dirty="0">
                <a:latin typeface="Comic Sans MS"/>
                <a:cs typeface="Comic Sans MS"/>
              </a:rPr>
              <a:t>s</a:t>
            </a:r>
            <a:r>
              <a:rPr sz="4800" spc="-7" baseline="-7812" dirty="0">
                <a:latin typeface="Calibri"/>
                <a:cs typeface="Calibri"/>
              </a:rPr>
              <a:t>}</a:t>
            </a:r>
            <a:r>
              <a:rPr sz="4800" spc="-104" baseline="-7812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para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reconhecer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a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Comic Sans MS"/>
                <a:cs typeface="Comic Sans MS"/>
              </a:rPr>
              <a:t>palavra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E46B09"/>
                </a:solidFill>
                <a:latin typeface="Comic Sans MS"/>
                <a:cs typeface="Comic Sans MS"/>
              </a:rPr>
              <a:t>ababa</a:t>
            </a:r>
            <a:endParaRPr sz="25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819"/>
              </a:spcBef>
              <a:tabLst>
                <a:tab pos="1127760" algn="l"/>
                <a:tab pos="1576070" algn="l"/>
                <a:tab pos="2281555" algn="l"/>
                <a:tab pos="2727960" algn="l"/>
                <a:tab pos="3641090" algn="l"/>
                <a:tab pos="4088765" algn="l"/>
                <a:tab pos="5158740" algn="l"/>
                <a:tab pos="5607050" algn="l"/>
                <a:tab pos="6884034" algn="l"/>
                <a:tab pos="7332345" algn="l"/>
              </a:tabLst>
            </a:pPr>
            <a:r>
              <a:rPr sz="2500" b="1" spc="-20" dirty="0">
                <a:solidFill>
                  <a:srgbClr val="0032CC"/>
                </a:solidFill>
                <a:latin typeface="Comic Sans MS"/>
                <a:cs typeface="Comic Sans MS"/>
              </a:rPr>
              <a:t>S</a:t>
            </a:r>
            <a:r>
              <a:rPr sz="2500" spc="-2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500" b="1" spc="-20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500" b="1" spc="-20" dirty="0">
                <a:latin typeface="Comic Sans MS"/>
                <a:cs typeface="Comic Sans MS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5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500" b="1" spc="-25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500" b="1" spc="-25" dirty="0">
                <a:latin typeface="Comic Sans MS"/>
                <a:cs typeface="Comic Sans MS"/>
              </a:rPr>
              <a:t>bB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5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500" b="1" spc="-20" dirty="0">
                <a:solidFill>
                  <a:srgbClr val="0032CC"/>
                </a:solidFill>
                <a:latin typeface="Comic Sans MS"/>
                <a:cs typeface="Comic Sans MS"/>
              </a:rPr>
              <a:t>ab</a:t>
            </a:r>
            <a:r>
              <a:rPr sz="2500" b="1" spc="-20" dirty="0">
                <a:latin typeface="Comic Sans MS"/>
                <a:cs typeface="Comic Sans MS"/>
              </a:rPr>
              <a:t>aA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5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5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</a:t>
            </a:r>
            <a:r>
              <a:rPr sz="2500" b="1" spc="-10" dirty="0">
                <a:latin typeface="Comic Sans MS"/>
                <a:cs typeface="Comic Sans MS"/>
              </a:rPr>
              <a:t>bB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5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5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abab</a:t>
            </a:r>
            <a:r>
              <a:rPr sz="2500" b="1" spc="-10" dirty="0">
                <a:latin typeface="Comic Sans MS"/>
                <a:cs typeface="Comic Sans MS"/>
              </a:rPr>
              <a:t>aA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latin typeface="Wingdings"/>
                <a:cs typeface="Wingdings"/>
              </a:rPr>
              <a:t>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ababa</a:t>
            </a:r>
            <a:r>
              <a:rPr sz="2800" spc="-10" dirty="0">
                <a:latin typeface="Symbol"/>
                <a:cs typeface="Symbol"/>
              </a:rPr>
              <a:t>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86103"/>
            <a:ext cx="34232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Gramáticas</a:t>
            </a:r>
            <a:r>
              <a:rPr sz="27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regulares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744471"/>
            <a:ext cx="8187055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5585" algn="l"/>
              </a:tabLst>
            </a:pPr>
            <a:r>
              <a:rPr sz="2700" dirty="0">
                <a:latin typeface="Comic Sans MS"/>
                <a:cs typeface="Comic Sans MS"/>
              </a:rPr>
              <a:t>Ex: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dada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linguagem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representada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pela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3232FF"/>
                </a:solidFill>
                <a:latin typeface="Comic Sans MS"/>
                <a:cs typeface="Comic Sans MS"/>
              </a:rPr>
              <a:t>a(ba)*</a:t>
            </a:r>
            <a:endParaRPr sz="2700">
              <a:latin typeface="Comic Sans MS"/>
              <a:cs typeface="Comic Sans MS"/>
            </a:endParaRPr>
          </a:p>
          <a:p>
            <a:pPr marL="114300">
              <a:lnSpc>
                <a:spcPct val="100000"/>
              </a:lnSpc>
              <a:spcBef>
                <a:spcPts val="1939"/>
              </a:spcBef>
            </a:pPr>
            <a:r>
              <a:rPr sz="2700" dirty="0">
                <a:latin typeface="Comic Sans MS"/>
                <a:cs typeface="Comic Sans MS"/>
              </a:rPr>
              <a:t>dê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GLD,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GLE,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GLUD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3232FF"/>
                </a:solidFill>
                <a:latin typeface="Comic Sans MS"/>
                <a:cs typeface="Comic Sans MS"/>
              </a:rPr>
              <a:t>GLUE</a:t>
            </a:r>
            <a:r>
              <a:rPr sz="2700" spc="13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que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as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Comic Sans MS"/>
                <a:cs typeface="Comic Sans MS"/>
              </a:rPr>
              <a:t>reconhece</a:t>
            </a:r>
            <a:endParaRPr sz="2700">
              <a:latin typeface="Comic Sans MS"/>
              <a:cs typeface="Comic Sans MS"/>
            </a:endParaRPr>
          </a:p>
          <a:p>
            <a:pPr marL="2054860">
              <a:lnSpc>
                <a:spcPct val="100000"/>
              </a:lnSpc>
              <a:spcBef>
                <a:spcPts val="1985"/>
              </a:spcBef>
            </a:pPr>
            <a:r>
              <a:rPr sz="3200" dirty="0">
                <a:latin typeface="Calibri"/>
                <a:cs typeface="Calibri"/>
              </a:rPr>
              <a:t>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{S,A},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{a,b},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Calibri"/>
                <a:cs typeface="Calibri"/>
              </a:rPr>
              <a:t>P,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2054860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latin typeface="Calibri"/>
                <a:cs typeface="Calibri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Aa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R="827405" algn="ctr">
              <a:lnSpc>
                <a:spcPct val="100000"/>
              </a:lnSpc>
              <a:tabLst>
                <a:tab pos="145796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alibri"/>
                <a:cs typeface="Calibri"/>
              </a:rPr>
              <a:t>Sb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700">
              <a:latin typeface="Calibri"/>
              <a:cs typeface="Calibri"/>
            </a:endParaRPr>
          </a:p>
          <a:p>
            <a:pPr marL="12700" marR="15875">
              <a:lnSpc>
                <a:spcPct val="140400"/>
              </a:lnSpc>
              <a:spcBef>
                <a:spcPts val="3325"/>
              </a:spcBef>
              <a:buFont typeface="Arial"/>
              <a:buChar char="•"/>
              <a:tabLst>
                <a:tab pos="133985" algn="l"/>
                <a:tab pos="1177925" algn="l"/>
                <a:tab pos="1661160" algn="l"/>
                <a:tab pos="2444750" algn="l"/>
                <a:tab pos="2929255" algn="l"/>
                <a:tab pos="3913504" algn="l"/>
                <a:tab pos="4398645" algn="l"/>
                <a:tab pos="5574665" algn="l"/>
                <a:tab pos="6059805" algn="l"/>
              </a:tabLst>
            </a:pPr>
            <a:r>
              <a:rPr sz="2700" dirty="0">
                <a:latin typeface="Comic Sans MS"/>
                <a:cs typeface="Comic Sans MS"/>
              </a:rPr>
              <a:t>mostre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os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passos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para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reconhecer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a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omic Sans MS"/>
                <a:cs typeface="Comic Sans MS"/>
              </a:rPr>
              <a:t>palavra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E46B09"/>
                </a:solidFill>
                <a:latin typeface="Comic Sans MS"/>
                <a:cs typeface="Comic Sans MS"/>
              </a:rPr>
              <a:t>ababa</a:t>
            </a:r>
            <a:r>
              <a:rPr sz="2700" spc="-1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S</a:t>
            </a:r>
            <a:r>
              <a:rPr sz="2700" spc="-2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b="1" spc="-20" dirty="0">
                <a:latin typeface="Comic Sans MS"/>
                <a:cs typeface="Comic Sans MS"/>
              </a:rPr>
              <a:t>A</a:t>
            </a:r>
            <a:r>
              <a:rPr sz="2700" b="1" spc="-20" dirty="0">
                <a:solidFill>
                  <a:srgbClr val="3232FF"/>
                </a:solidFill>
                <a:latin typeface="Comic Sans MS"/>
                <a:cs typeface="Comic Sans MS"/>
              </a:rPr>
              <a:t>a</a:t>
            </a:r>
            <a:r>
              <a:rPr sz="2700" dirty="0">
                <a:solidFill>
                  <a:srgbClr val="3232FF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5" dirty="0">
                <a:latin typeface="Comic Sans MS"/>
                <a:cs typeface="Comic Sans MS"/>
              </a:rPr>
              <a:t>Sb</a:t>
            </a:r>
            <a:r>
              <a:rPr sz="2700" b="1" spc="-25" dirty="0">
                <a:solidFill>
                  <a:srgbClr val="0032CC"/>
                </a:solidFill>
                <a:latin typeface="Comic Sans MS"/>
                <a:cs typeface="Comic Sans MS"/>
              </a:rPr>
              <a:t>a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20" dirty="0">
                <a:latin typeface="Comic Sans MS"/>
                <a:cs typeface="Comic Sans MS"/>
              </a:rPr>
              <a:t>Aa</a:t>
            </a:r>
            <a:r>
              <a:rPr sz="2700" b="1" spc="-20" dirty="0">
                <a:solidFill>
                  <a:srgbClr val="0032CC"/>
                </a:solidFill>
                <a:latin typeface="Comic Sans MS"/>
                <a:cs typeface="Comic Sans MS"/>
              </a:rPr>
              <a:t>ba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10" dirty="0">
                <a:latin typeface="Comic Sans MS"/>
                <a:cs typeface="Comic Sans MS"/>
              </a:rPr>
              <a:t>Sb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aba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spc="-50" dirty="0">
                <a:solidFill>
                  <a:srgbClr val="0032CC"/>
                </a:solidFill>
                <a:latin typeface="Wingdings"/>
                <a:cs typeface="Wingdings"/>
              </a:rPr>
              <a:t></a:t>
            </a:r>
            <a:r>
              <a:rPr sz="27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700" b="1" spc="-10" dirty="0">
                <a:latin typeface="Comic Sans MS"/>
                <a:cs typeface="Comic Sans MS"/>
              </a:rPr>
              <a:t>a</a:t>
            </a:r>
            <a:r>
              <a:rPr sz="2700" b="1" spc="-10" dirty="0">
                <a:solidFill>
                  <a:srgbClr val="0032CC"/>
                </a:solidFill>
                <a:latin typeface="Comic Sans MS"/>
                <a:cs typeface="Comic Sans MS"/>
              </a:rPr>
              <a:t>baba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7696" y="1137919"/>
            <a:ext cx="8558530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omic Sans MS"/>
                <a:cs typeface="Comic Sans MS"/>
              </a:rPr>
              <a:t>Exercícios</a:t>
            </a:r>
            <a:endParaRPr sz="320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278130" algn="l"/>
              </a:tabLst>
            </a:pPr>
            <a:r>
              <a:rPr sz="3200" dirty="0">
                <a:latin typeface="Comic Sans MS"/>
                <a:cs typeface="Comic Sans MS"/>
              </a:rPr>
              <a:t>Para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cada</a:t>
            </a:r>
            <a:r>
              <a:rPr sz="3200" spc="7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uma</a:t>
            </a:r>
            <a:r>
              <a:rPr sz="3200" spc="7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das</a:t>
            </a:r>
            <a:r>
              <a:rPr sz="3200" spc="7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linguagens,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construir</a:t>
            </a:r>
            <a:r>
              <a:rPr sz="3200" spc="7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omic Sans MS"/>
                <a:cs typeface="Comic Sans MS"/>
              </a:rPr>
              <a:t>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Gramática</a:t>
            </a:r>
            <a:r>
              <a:rPr sz="3200" spc="6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(indicar</a:t>
            </a:r>
            <a:r>
              <a:rPr sz="3200" spc="6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</a:t>
            </a:r>
            <a:r>
              <a:rPr sz="3200" spc="6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é</a:t>
            </a:r>
            <a:r>
              <a:rPr sz="3200" spc="6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GLE,</a:t>
            </a:r>
            <a:r>
              <a:rPr sz="3200" spc="6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GLD,</a:t>
            </a:r>
            <a:r>
              <a:rPr sz="3200" spc="6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GLUE</a:t>
            </a:r>
            <a:r>
              <a:rPr sz="3200" spc="6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Comic Sans MS"/>
                <a:cs typeface="Comic Sans MS"/>
              </a:rPr>
              <a:t>ou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GLUD)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Expressão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Regular.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As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gramáticas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podem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ser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resolvidas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com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o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JFlap.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454" y="348995"/>
            <a:ext cx="9143996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1735" y="761491"/>
            <a:ext cx="4888865" cy="6062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190" indent="-3651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77190" algn="l"/>
                <a:tab pos="377825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Comprimento: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Igual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Maior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(ou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igual)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Menor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(ou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igual)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Par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Ímpar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Múltiplo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Courier New"/>
              <a:buChar char="o"/>
            </a:pPr>
            <a:endParaRPr sz="1750">
              <a:latin typeface="Constantia"/>
              <a:cs typeface="Constantia"/>
            </a:endParaRPr>
          </a:p>
          <a:p>
            <a:pPr marL="367665" indent="-355600">
              <a:lnSpc>
                <a:spcPct val="100000"/>
              </a:lnSpc>
              <a:buFont typeface="Wingdings"/>
              <a:buChar char=""/>
              <a:tabLst>
                <a:tab pos="367665" algn="l"/>
                <a:tab pos="3683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Símbolos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e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subcadeias: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Começa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com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30" dirty="0">
                <a:solidFill>
                  <a:srgbClr val="FFFFFF"/>
                </a:solidFill>
                <a:latin typeface="Constantia"/>
                <a:cs typeface="Constantia"/>
              </a:rPr>
              <a:t>Termina</a:t>
            </a:r>
            <a:r>
              <a:rPr sz="1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com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Contém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Contém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exatamente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tantas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ocorrências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Contém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no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mínimo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tantas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ocorrências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Contém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no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máximo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tantas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ocorrências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Justaposição</a:t>
            </a:r>
            <a:endParaRPr sz="18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Courier New"/>
              <a:buChar char="o"/>
            </a:pPr>
            <a:endParaRPr sz="1750">
              <a:latin typeface="Constantia"/>
              <a:cs typeface="Constantia"/>
            </a:endParaRPr>
          </a:p>
          <a:p>
            <a:pPr marL="377190" indent="-365125">
              <a:lnSpc>
                <a:spcPct val="100000"/>
              </a:lnSpc>
              <a:buFont typeface="Wingdings"/>
              <a:buChar char=""/>
              <a:tabLst>
                <a:tab pos="376555" algn="l"/>
                <a:tab pos="377825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Combinações: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Negação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E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Ou</a:t>
            </a:r>
            <a:endParaRPr sz="1800">
              <a:latin typeface="Constantia"/>
              <a:cs typeface="Constantia"/>
            </a:endParaRPr>
          </a:p>
          <a:p>
            <a:pPr marL="824865" lvl="1" indent="-355600">
              <a:lnSpc>
                <a:spcPct val="100000"/>
              </a:lnSpc>
              <a:buFont typeface="Courier New"/>
              <a:buChar char="o"/>
              <a:tabLst>
                <a:tab pos="824865" algn="l"/>
                <a:tab pos="825500" algn="l"/>
              </a:tabLst>
            </a:pP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Ou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exclusivo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65010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134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qualquer,</a:t>
            </a:r>
            <a:r>
              <a:rPr sz="2800" spc="-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incluindo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zero.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Constantia"/>
              <a:cs typeface="Constantia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4093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32435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1592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qualquer,</a:t>
            </a:r>
            <a:r>
              <a:rPr sz="2800" spc="-10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maior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zero.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{a,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4093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502787"/>
            <a:ext cx="497903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{bca,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cab,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acc,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abb,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cbb,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baa,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4093" y="812037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0913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469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ED2124"/>
                </a:solidFill>
                <a:latin typeface="Constantia"/>
                <a:cs typeface="Constantia"/>
              </a:rPr>
              <a:t>diferente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{a,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bbcc,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bcabaab,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bcaa,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endParaRPr sz="2800">
              <a:latin typeface="Constantia"/>
              <a:cs typeface="Constantia"/>
            </a:endParaRPr>
          </a:p>
          <a:p>
            <a:pPr marL="12700" marR="501015">
              <a:lnSpc>
                <a:spcPct val="99500"/>
              </a:lnSpc>
              <a:spcBef>
                <a:spcPts val="50"/>
              </a:spcBef>
            </a:pP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acababab,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acaacabbab,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babac,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ba,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abaaa,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bbcb,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5340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1548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0167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maior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{bbcc,</a:t>
            </a:r>
            <a:r>
              <a:rPr sz="28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bcabaab,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bcaa,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cababab,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acaacabbab,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babac,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bbcb,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5340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1866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0421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maior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ou</a:t>
            </a:r>
            <a:r>
              <a:rPr sz="2800" spc="-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igual</a:t>
            </a:r>
            <a:r>
              <a:rPr sz="2800" spc="-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a</a:t>
            </a:r>
            <a:r>
              <a:rPr sz="2800" spc="-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{bbc,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bcabaab,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bcaa,</a:t>
            </a:r>
            <a:r>
              <a:rPr sz="28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cababab,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acaacabbab,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babac,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bcb,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5340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10654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927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menor</a:t>
            </a:r>
            <a:r>
              <a:rPr sz="2800" spc="-1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2900">
              <a:latin typeface="Constantia"/>
              <a:cs typeface="Constantia"/>
            </a:endParaRPr>
          </a:p>
          <a:p>
            <a:pPr marL="12700" marR="5080">
              <a:lnSpc>
                <a:spcPts val="332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a,</a:t>
            </a:r>
            <a:r>
              <a:rPr sz="2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bb,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cc}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5340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14972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52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múltiplo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3.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997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{bca,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acabababb,</a:t>
            </a:r>
            <a:r>
              <a:rPr sz="2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cabacacbb,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aabcbabaccba,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baaaba,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aabaacbab,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aac,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2465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381889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comprimento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múltiplo</a:t>
            </a:r>
            <a:r>
              <a:rPr sz="2800" spc="-1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8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4.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2900">
              <a:latin typeface="Constantia"/>
              <a:cs typeface="Constantia"/>
            </a:endParaRPr>
          </a:p>
          <a:p>
            <a:pPr marL="12700" marR="151130">
              <a:lnSpc>
                <a:spcPts val="332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{bcaa,</a:t>
            </a:r>
            <a:r>
              <a:rPr sz="28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acababab,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aabcbabaccba,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aaac,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2465" y="812036"/>
            <a:ext cx="143891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2183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uma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quantidade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Constantia"/>
              <a:cs typeface="Constantia"/>
            </a:endParaRPr>
          </a:p>
          <a:p>
            <a:pPr marL="12700" marR="404495">
              <a:lnSpc>
                <a:spcPct val="995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acbc,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aaaacb,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bababc,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0491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8374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004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uma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quantidade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ímpar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{bcb,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acbbb,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bbbacbbba,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cbabc,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4338" y="644777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011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iniciando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“abb”.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2750">
              <a:latin typeface="Constantia"/>
              <a:cs typeface="Constantia"/>
            </a:endParaRPr>
          </a:p>
          <a:p>
            <a:pPr marL="12700" marR="30099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{abb,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abba,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abbab,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abbabb,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abbcabbc,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abbcccbbb,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7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691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0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iniciam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“aa”.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899794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{abb,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abbb,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bcabbc,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babbccc,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07987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terminando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3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“b”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consecutivos.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70612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{bbb,</a:t>
            </a:r>
            <a:r>
              <a:rPr sz="28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abacbbb,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abbb,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acacbbb,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bbbacbbb,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abababbb,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83410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30466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terminando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3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“b”</a:t>
            </a:r>
            <a:r>
              <a:rPr sz="2800" spc="-1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ED2124"/>
                </a:solidFill>
                <a:latin typeface="Constantia"/>
                <a:cs typeface="Constantia"/>
              </a:rPr>
              <a:t>consecutivos,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mais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0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isso.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43751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{bbb,</a:t>
            </a:r>
            <a:r>
              <a:rPr sz="28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abacbbb,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bbbacbbb,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abababbb,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83407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32752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92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terminam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2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“b”</a:t>
            </a:r>
            <a:r>
              <a:rPr sz="2800" spc="-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consecutivos.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{a,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acbba,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abacbbc,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abcc,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acacbcb,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bbbacaa,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ababa,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83407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3039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4154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iniciando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terminando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0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{ac,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abbc,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abcc,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acbc,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aaabc,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2" y="2431541"/>
            <a:ext cx="456755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iniciam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terminam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306705" algn="just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{a,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aaca,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aba,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abcca,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acaca,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aaab,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6913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0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iniciam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endParaRPr sz="2800">
              <a:latin typeface="Constantia"/>
              <a:cs typeface="Constantia"/>
            </a:endParaRPr>
          </a:p>
          <a:p>
            <a:pPr marL="12700" algn="just">
              <a:lnSpc>
                <a:spcPct val="100000"/>
              </a:lnSpc>
            </a:pP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terminam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8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114935" algn="just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{c,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bac,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bbc,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babac,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babbc,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bbcc,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cacacac,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cbc,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Constantia"/>
                <a:cs typeface="Constantia"/>
              </a:rPr>
              <a:t>ccccc,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bbbbc,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6722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8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iniciam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terminam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8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6985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{baca,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cacb,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caaa,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caabcb,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babacb,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babbcb,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cabccb,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ca,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bcab,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bbbcb,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740789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04177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exatamente</a:t>
            </a:r>
            <a:r>
              <a:rPr sz="2800" spc="-8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3</a:t>
            </a:r>
            <a:endParaRPr sz="2800">
              <a:latin typeface="Constantia"/>
              <a:cs typeface="Constantia"/>
            </a:endParaRPr>
          </a:p>
          <a:p>
            <a:pPr marL="12700" algn="just">
              <a:lnSpc>
                <a:spcPct val="100000"/>
              </a:lnSpc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“b”.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107314" algn="just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{bcbb,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acbbb,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cbbb,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aabcbb,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bacabccba,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cbabcba,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ababab,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7838" y="740789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20560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pelo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menos</a:t>
            </a:r>
            <a:r>
              <a:rPr sz="2800" spc="-1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2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“a”.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{bcbaab,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acbabab,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aaabbab,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cababab,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aabcbabaa,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bacabcaacba,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aaabaaabbc,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cbabacaba,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abbab,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18592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no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máximo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4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{bcbaab,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acbabab,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ccabbab,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aabcbabac,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baabaaba,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aaabbc,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ccabcac,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abcbab,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95236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no</a:t>
            </a:r>
            <a:r>
              <a:rPr sz="2800" spc="-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mínimo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2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ou</a:t>
            </a:r>
            <a:r>
              <a:rPr sz="2800" spc="-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no</a:t>
            </a:r>
            <a:r>
              <a:rPr sz="2800" spc="-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máximo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3</a:t>
            </a:r>
            <a:r>
              <a:rPr sz="2800" spc="-8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8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40" dirty="0">
                <a:solidFill>
                  <a:srgbClr val="ED2124"/>
                </a:solidFill>
                <a:latin typeface="Constantia"/>
                <a:cs typeface="Constantia"/>
              </a:rPr>
              <a:t>“c”,</a:t>
            </a:r>
            <a:r>
              <a:rPr sz="2800" spc="-10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forma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exclusiva.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2286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{abccabc,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abaccbcb,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aaabcc,acccbc,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abcabcabc,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cababc,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ababbabca,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5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85838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no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mínimo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3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no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máximo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5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0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“a”.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{bcabaab,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acababab,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acaacabbab,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aabcbabac,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baaba,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acacabcac,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aabaacbab,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aaaa,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92823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iniciam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terminam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diferentes.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31623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{abccabc,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abaccbcb,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Constantia"/>
                <a:cs typeface="Constantia"/>
              </a:rPr>
              <a:t>caabca,acccb,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bababc,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ba,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bacacc,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bcbabca,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cca,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330700" cy="344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811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0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possuem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à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direita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30" dirty="0">
                <a:solidFill>
                  <a:srgbClr val="ED2124"/>
                </a:solidFill>
                <a:latin typeface="Constantia"/>
                <a:cs typeface="Constantia"/>
              </a:rPr>
              <a:t>“b”,</a:t>
            </a:r>
            <a:r>
              <a:rPr sz="2800" spc="-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nem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“c”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à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direita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9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65" dirty="0">
                <a:solidFill>
                  <a:srgbClr val="ED2124"/>
                </a:solidFill>
                <a:latin typeface="Constantia"/>
                <a:cs typeface="Constantia"/>
              </a:rPr>
              <a:t>“b”.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{abcc,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abbbbb,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cccc,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aabbcc,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bbbc,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aacccc,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bc,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5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8089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4396740" algn="l"/>
              </a:tabLst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possuem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uma</a:t>
            </a:r>
            <a:r>
              <a:rPr sz="2800" spc="-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seqüência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um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ou</a:t>
            </a:r>
            <a:r>
              <a:rPr sz="2800" spc="-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mais</a:t>
            </a:r>
            <a:r>
              <a:rPr sz="2800" spc="-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“b”imediatamente</a:t>
            </a:r>
            <a:r>
              <a:rPr sz="2800" dirty="0">
                <a:solidFill>
                  <a:srgbClr val="ED2124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à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direita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cada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“a”.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762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{abccabc,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abbabbbccbcb,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caabca,abcccb,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abc,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bababc,</a:t>
            </a:r>
            <a:r>
              <a:rPr sz="28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bacacc,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bcbabca,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ccabb,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5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87235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14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“b”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justapostos.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{abccabc,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abaccbcb,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aaabcc,acccbc,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abcabcabc,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cababc,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bacacc,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ababcbabca,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90791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uma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quantidade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“b”.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bcb,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bbcc,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bcababab,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caa,</a:t>
            </a:r>
            <a:r>
              <a:rPr sz="28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endParaRPr sz="2800">
              <a:latin typeface="Constantia"/>
              <a:cs typeface="Constantia"/>
            </a:endParaRPr>
          </a:p>
          <a:p>
            <a:pPr marL="12700" marR="854075">
              <a:lnSpc>
                <a:spcPct val="99500"/>
              </a:lnSpc>
              <a:spcBef>
                <a:spcPts val="50"/>
              </a:spcBef>
            </a:pP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acbababab,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acaacabba,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cabacacb,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ababc,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bbabbac,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babbb,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aaaa,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cbb,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89712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uma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quantidade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ímpar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{bbc,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bcb,</a:t>
            </a:r>
            <a:r>
              <a:rPr sz="28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cbbcc,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bcababab,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caa,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acbababab,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acaacabcba,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cacbaccacb,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ababc,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bbabbac,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cbccabbb,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acacaca,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cbb,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385064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271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ED2124"/>
                </a:solidFill>
                <a:latin typeface="Constantia"/>
                <a:cs typeface="Constantia"/>
              </a:rPr>
              <a:t>com</a:t>
            </a:r>
            <a:r>
              <a:rPr sz="2800" spc="-13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quantidade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ED2124"/>
                </a:solidFill>
                <a:latin typeface="Constantia"/>
                <a:cs typeface="Constantia"/>
              </a:rPr>
              <a:t>“a”</a:t>
            </a:r>
            <a:r>
              <a:rPr sz="2800" spc="-13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e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ímpar</a:t>
            </a:r>
            <a:r>
              <a:rPr sz="2800" spc="-1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de</a:t>
            </a:r>
            <a:r>
              <a:rPr sz="2800" spc="-17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{cabccabcc,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aaacacbcb,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Constantia"/>
                <a:cs typeface="Constantia"/>
              </a:rPr>
              <a:t>bccc,cb,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aabcabacaabc,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cabccabcc,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accca,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bacacc,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aca,</a:t>
            </a:r>
            <a:r>
              <a:rPr sz="2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5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Cadeias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10" dirty="0"/>
              <a:t>que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30" dirty="0"/>
              <a:t>contenham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50" dirty="0"/>
              <a:t>a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subcadeia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/>
              <a:t>“abc”.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/>
          </a:p>
          <a:p>
            <a:pPr marL="12700" marR="5080">
              <a:lnSpc>
                <a:spcPct val="100000"/>
              </a:lnSpc>
            </a:pPr>
            <a:r>
              <a:rPr dirty="0">
                <a:solidFill>
                  <a:srgbClr val="FFFFFF"/>
                </a:solidFill>
              </a:rPr>
              <a:t>{abcb,</a:t>
            </a:r>
            <a:r>
              <a:rPr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babcb,</a:t>
            </a:r>
            <a:r>
              <a:rPr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bbabcc,abc,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FFFFFF"/>
                </a:solidFill>
              </a:rPr>
              <a:t>abcaabcb,</a:t>
            </a:r>
            <a:r>
              <a:rPr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cbabc,</a:t>
            </a:r>
            <a:r>
              <a:rPr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ababbabca,</a:t>
            </a:r>
            <a:r>
              <a:rPr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...</a:t>
            </a:r>
            <a:r>
              <a:rPr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40690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pelo</a:t>
            </a:r>
            <a:r>
              <a:rPr sz="2800" spc="-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menos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três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2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iguais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consecutivos.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4572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{abbb,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cacccbab,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bbbbbcccc,bbaaa,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aaaaa,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Constantia"/>
                <a:cs typeface="Constantia"/>
              </a:rPr>
              <a:t>cccccbabc,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abaaabbabca,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4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55295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939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6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dois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símbolos</a:t>
            </a:r>
            <a:r>
              <a:rPr sz="2800" spc="-14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consecutivos</a:t>
            </a:r>
            <a:r>
              <a:rPr sz="2800" spc="-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iguais.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{abcb,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cacbcbab,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bababababcacbcac,babababa,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acabacaca,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cbabc,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a,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</a:t>
            </a:r>
            <a:r>
              <a:rPr sz="2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4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2" y="2431541"/>
            <a:ext cx="458406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7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o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símbolo</a:t>
            </a:r>
            <a:r>
              <a:rPr sz="2800" spc="-12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“a”.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82423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{cbbbc,</a:t>
            </a:r>
            <a:r>
              <a:rPr sz="28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ccbcb,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bb,cb,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bbabaabb,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babb,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spc="-25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aaabbb,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aababa,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baa,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29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61581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969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8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a</a:t>
            </a:r>
            <a:r>
              <a:rPr sz="2800" spc="-5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subcadeia</a:t>
            </a:r>
            <a:r>
              <a:rPr sz="2800" spc="-9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ED2124"/>
                </a:solidFill>
                <a:latin typeface="Constantia"/>
                <a:cs typeface="Constantia"/>
              </a:rPr>
              <a:t>“ab”.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{cbacbc,</a:t>
            </a:r>
            <a:r>
              <a:rPr sz="28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acacbb,caaaa,</a:t>
            </a:r>
            <a:r>
              <a:rPr sz="28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aacbbbacacbbc,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cbbb,</a:t>
            </a:r>
            <a:r>
              <a:rPr sz="28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aaacbbb,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bbac,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cccbaa,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277" y="1283588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sz="4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onstantia"/>
                <a:cs typeface="Constantia"/>
              </a:rPr>
              <a:t>{a,b,c}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7649" y="2431541"/>
            <a:ext cx="474154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Cadeias</a:t>
            </a:r>
            <a:r>
              <a:rPr sz="2800" spc="-15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que</a:t>
            </a:r>
            <a:r>
              <a:rPr sz="2800" spc="-8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D2124"/>
                </a:solidFill>
                <a:latin typeface="Constantia"/>
                <a:cs typeface="Constantia"/>
              </a:rPr>
              <a:t>não</a:t>
            </a:r>
            <a:r>
              <a:rPr sz="2800" spc="-16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ED2124"/>
                </a:solidFill>
                <a:latin typeface="Constantia"/>
                <a:cs typeface="Constantia"/>
              </a:rPr>
              <a:t>contenham</a:t>
            </a:r>
            <a:r>
              <a:rPr sz="2800" spc="-145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ED2124"/>
                </a:solidFill>
                <a:latin typeface="Constantia"/>
                <a:cs typeface="Constantia"/>
              </a:rPr>
              <a:t>a</a:t>
            </a:r>
            <a:endParaRPr sz="2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subcadeia</a:t>
            </a:r>
            <a:r>
              <a:rPr sz="2800" spc="-110" dirty="0">
                <a:solidFill>
                  <a:srgbClr val="ED212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D2124"/>
                </a:solidFill>
                <a:latin typeface="Constantia"/>
                <a:cs typeface="Constantia"/>
              </a:rPr>
              <a:t>“abc”.</a:t>
            </a:r>
            <a:endParaRPr sz="2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nstantia"/>
              <a:cs typeface="Constantia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{cababbc,</a:t>
            </a:r>
            <a:r>
              <a:rPr sz="2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acacbcb,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aabb,caaaba,</a:t>
            </a:r>
            <a:r>
              <a:rPr sz="28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aabbabacabbc,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onstantia"/>
                <a:cs typeface="Constantia"/>
              </a:rPr>
              <a:t>cbabb,</a:t>
            </a:r>
            <a:r>
              <a:rPr sz="2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aaa,</a:t>
            </a:r>
            <a:r>
              <a:rPr sz="2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,</a:t>
            </a:r>
            <a:r>
              <a:rPr sz="2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aaabbb,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aababac,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nstantia"/>
                <a:cs typeface="Constantia"/>
              </a:rPr>
              <a:t>cccbaa,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Constantia"/>
                <a:cs typeface="Constantia"/>
              </a:rPr>
              <a:t>...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onstantia"/>
                <a:cs typeface="Constantia"/>
              </a:rPr>
              <a:t>}</a:t>
            </a:r>
            <a:endParaRPr sz="2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4836" y="812036"/>
            <a:ext cx="2851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0" b="1" spc="-2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20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2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3542</Words>
  <Application>Microsoft Office PowerPoint</Application>
  <PresentationFormat>Personalizar</PresentationFormat>
  <Paragraphs>469</Paragraphs>
  <Slides>67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7" baseType="lpstr">
      <vt:lpstr>Arial</vt:lpstr>
      <vt:lpstr>Calibri</vt:lpstr>
      <vt:lpstr>Comic Sans MS</vt:lpstr>
      <vt:lpstr>Constantia</vt:lpstr>
      <vt:lpstr>Courier New</vt:lpstr>
      <vt:lpstr>Symbol</vt:lpstr>
      <vt:lpstr>Times New Roman</vt:lpstr>
      <vt:lpstr>Verdana</vt:lpstr>
      <vt:lpstr>Wingdings</vt:lpstr>
      <vt:lpstr>Office Theme</vt:lpstr>
      <vt:lpstr>LFA – Aula 03</vt:lpstr>
      <vt:lpstr>Apresentação do PowerPoint</vt:lpstr>
      <vt:lpstr>Apresentação do PowerPoint</vt:lpstr>
      <vt:lpstr>Na aula de hoje...</vt:lpstr>
      <vt:lpstr>Relembrando...</vt:lpstr>
      <vt:lpstr>Os operadores de expressões regulares</vt:lpstr>
      <vt:lpstr>Exemplos de expressões regulares</vt:lpstr>
      <vt:lpstr>Relembrando...</vt:lpstr>
      <vt:lpstr>Gramática</vt:lpstr>
      <vt:lpstr>Apresentação do PowerPoint</vt:lpstr>
      <vt:lpstr>Apresentação do PowerPoint</vt:lpstr>
      <vt:lpstr>Gramáticas</vt:lpstr>
      <vt:lpstr>Gramática no JFlap</vt:lpstr>
      <vt:lpstr>Gramáticas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Gramáticas regulares</vt:lpstr>
      <vt:lpstr>Gramáticas regulares</vt:lpstr>
      <vt:lpstr>Extensões para GLD e GLE</vt:lpstr>
      <vt:lpstr>Apresentação do PowerPoint</vt:lpstr>
      <vt:lpstr>Apresentação do PowerPoint</vt:lpstr>
      <vt:lpstr>Gramáticas regulares</vt:lpstr>
      <vt:lpstr>Apresentação do PowerPoint</vt:lpstr>
      <vt:lpstr>Gramáticas regulares</vt:lpstr>
      <vt:lpstr>Apresentação do PowerPoint</vt:lpstr>
      <vt:lpstr>Apresentação do PowerPoint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  <vt:lpstr> = {a,b,c}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MergedFile</dc:title>
  <cp:lastModifiedBy>Flavio Viotti</cp:lastModifiedBy>
  <cp:revision>8</cp:revision>
  <cp:lastPrinted>2022-02-18T21:34:22Z</cp:lastPrinted>
  <dcterms:created xsi:type="dcterms:W3CDTF">2021-02-04T12:25:23Z</dcterms:created>
  <dcterms:modified xsi:type="dcterms:W3CDTF">2024-02-26T22:38:38Z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2013-08-22T00:00:00Z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2021-02-04T00:00:00Z</vt:filetime>
  </property>
</Properties>
</file>