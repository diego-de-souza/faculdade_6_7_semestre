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</p:sldIdLst>
  <p:sldSz cx="10693400" cy="7556500"/>
  <p:notesSz cx="10234613" cy="7099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9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9324" y="557275"/>
            <a:ext cx="3877310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032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Celso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Olivete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Júnior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032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Celso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Olivete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Júnior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032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Celso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Olivete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Júnior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032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Celso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Olivete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Júnior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032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Celso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Olivete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Júnior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9324" y="557275"/>
            <a:ext cx="3877310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6FC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7696" y="1542694"/>
            <a:ext cx="8558007" cy="4635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95176" y="6926872"/>
            <a:ext cx="1353820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0032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Celso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Olivete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Júnior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59933" y="6950453"/>
            <a:ext cx="2425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olivete@fct.unesp.b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2216" y="1427479"/>
            <a:ext cx="3317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LFA</a:t>
            </a:r>
            <a:r>
              <a:rPr sz="40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</a:rPr>
              <a:t>–</a:t>
            </a:r>
            <a:r>
              <a:rPr sz="40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</a:rPr>
              <a:t>Aula</a:t>
            </a:r>
            <a:r>
              <a:rPr sz="40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05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3651" y="3858899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86544" y="2870706"/>
            <a:ext cx="5690235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AFND: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com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sem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movimentos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vazios</a:t>
            </a:r>
            <a:endParaRPr sz="3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 dirty="0">
              <a:latin typeface="Comic Sans MS"/>
              <a:cs typeface="Comic Sans MS"/>
            </a:endParaRPr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r>
              <a:rPr sz="200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–</a:t>
            </a:r>
            <a:r>
              <a:rPr sz="2000" spc="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pt-BR" sz="2000" spc="-10" smtClean="0">
                <a:solidFill>
                  <a:srgbClr val="006FC0"/>
                </a:solidFill>
                <a:latin typeface="Comic Sans MS"/>
                <a:cs typeface="Times New Roman"/>
              </a:rPr>
              <a:t>v </a:t>
            </a:r>
            <a:r>
              <a:rPr lang="pt-BR" sz="2000" spc="-10" smtClean="0">
                <a:solidFill>
                  <a:srgbClr val="006FC0"/>
                </a:solidFill>
                <a:latin typeface="Comic Sans MS"/>
                <a:cs typeface="Times New Roman"/>
              </a:rPr>
              <a:t>1.1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/>
          <p:cNvSpPr txBox="1"/>
          <p:nvPr/>
        </p:nvSpPr>
        <p:spPr>
          <a:xfrm>
            <a:off x="4813300" y="5708393"/>
            <a:ext cx="4923545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 smtClean="0">
                <a:solidFill>
                  <a:srgbClr val="0032CC"/>
                </a:solidFill>
                <a:latin typeface="Verdana"/>
                <a:cs typeface="Verdana"/>
              </a:rPr>
              <a:t>Prof. Flávio Viotti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dirty="0">
              <a:solidFill>
                <a:srgbClr val="0032CC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1800" dirty="0" smtClean="0">
              <a:solidFill>
                <a:srgbClr val="0032CC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 smtClean="0">
                <a:solidFill>
                  <a:srgbClr val="0032CC"/>
                </a:solidFill>
                <a:latin typeface="Verdana"/>
                <a:cs typeface="Verdana"/>
              </a:rPr>
              <a:t>Material adaptado de </a:t>
            </a:r>
            <a:r>
              <a:rPr sz="1800" dirty="0" smtClean="0">
                <a:solidFill>
                  <a:srgbClr val="0032CC"/>
                </a:solidFill>
                <a:latin typeface="Verdana"/>
                <a:cs typeface="Verdana"/>
              </a:rPr>
              <a:t>Celso</a:t>
            </a:r>
            <a:r>
              <a:rPr sz="1800" spc="165" dirty="0" smtClean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800" dirty="0" err="1">
                <a:solidFill>
                  <a:srgbClr val="0032CC"/>
                </a:solidFill>
                <a:latin typeface="Verdana"/>
                <a:cs typeface="Verdana"/>
              </a:rPr>
              <a:t>Olivete</a:t>
            </a:r>
            <a:r>
              <a:rPr sz="1800" spc="18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1800" spc="-10" dirty="0" smtClean="0">
                <a:solidFill>
                  <a:srgbClr val="0032CC"/>
                </a:solidFill>
                <a:latin typeface="Verdana"/>
                <a:cs typeface="Verdana"/>
              </a:rPr>
              <a:t>Júnior</a:t>
            </a:r>
            <a:r>
              <a:rPr lang="pt-BR" dirty="0">
                <a:latin typeface="Verdana"/>
                <a:cs typeface="Verdana"/>
              </a:rPr>
              <a:t> </a:t>
            </a:r>
            <a:r>
              <a:rPr sz="1600" spc="-10" dirty="0" smtClean="0">
                <a:solidFill>
                  <a:srgbClr val="0032CC"/>
                </a:solidFill>
                <a:latin typeface="Verdana"/>
                <a:cs typeface="Verdana"/>
                <a:hlinkClick r:id="rId2"/>
              </a:rPr>
              <a:t>olivete@fct.unesp.br</a:t>
            </a:r>
            <a:endParaRPr sz="1600" dirty="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200" b="1" dirty="0" smtClean="0"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6783070" cy="21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Na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aula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passada...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Reconhecedores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genéricos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Autômatos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finitos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determinísticos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782129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Na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aula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passada...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Estrutura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de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um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reconhecedor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genérico</a:t>
            </a:r>
            <a:endParaRPr sz="32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4186" y="3182112"/>
            <a:ext cx="5480685" cy="3165475"/>
            <a:chOff x="2464186" y="3182112"/>
            <a:chExt cx="5480685" cy="31654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8570" y="3206496"/>
              <a:ext cx="5430012" cy="571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64186" y="3182112"/>
              <a:ext cx="5480685" cy="596265"/>
            </a:xfrm>
            <a:custGeom>
              <a:avLst/>
              <a:gdLst/>
              <a:ahLst/>
              <a:cxnLst/>
              <a:rect l="l" t="t" r="r" b="b"/>
              <a:pathLst>
                <a:path w="5480684" h="596264">
                  <a:moveTo>
                    <a:pt x="5480304" y="595884"/>
                  </a:moveTo>
                  <a:lnTo>
                    <a:pt x="5480304" y="6096"/>
                  </a:lnTo>
                  <a:lnTo>
                    <a:pt x="5474208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595884"/>
                  </a:lnTo>
                  <a:lnTo>
                    <a:pt x="12192" y="595884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5454396" y="24384"/>
                  </a:lnTo>
                  <a:lnTo>
                    <a:pt x="5454396" y="12192"/>
                  </a:lnTo>
                  <a:lnTo>
                    <a:pt x="5466588" y="24384"/>
                  </a:lnTo>
                  <a:lnTo>
                    <a:pt x="5466588" y="595884"/>
                  </a:lnTo>
                  <a:lnTo>
                    <a:pt x="5480304" y="595884"/>
                  </a:lnTo>
                  <a:close/>
                </a:path>
                <a:path w="5480684" h="596264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5480684" h="596264">
                  <a:moveTo>
                    <a:pt x="24384" y="595884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595884"/>
                  </a:lnTo>
                  <a:lnTo>
                    <a:pt x="24384" y="595884"/>
                  </a:lnTo>
                  <a:close/>
                </a:path>
                <a:path w="5480684" h="596264">
                  <a:moveTo>
                    <a:pt x="5466588" y="24384"/>
                  </a:moveTo>
                  <a:lnTo>
                    <a:pt x="5454396" y="12192"/>
                  </a:lnTo>
                  <a:lnTo>
                    <a:pt x="5454396" y="24384"/>
                  </a:lnTo>
                  <a:lnTo>
                    <a:pt x="5466588" y="24384"/>
                  </a:lnTo>
                  <a:close/>
                </a:path>
                <a:path w="5480684" h="596264">
                  <a:moveTo>
                    <a:pt x="5466588" y="595884"/>
                  </a:moveTo>
                  <a:lnTo>
                    <a:pt x="5466588" y="24384"/>
                  </a:lnTo>
                  <a:lnTo>
                    <a:pt x="5454396" y="24384"/>
                  </a:lnTo>
                  <a:lnTo>
                    <a:pt x="5454396" y="595884"/>
                  </a:lnTo>
                  <a:lnTo>
                    <a:pt x="5466588" y="595884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8570" y="3777995"/>
              <a:ext cx="5430012" cy="25435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64186" y="3777996"/>
              <a:ext cx="5480685" cy="2569845"/>
            </a:xfrm>
            <a:custGeom>
              <a:avLst/>
              <a:gdLst/>
              <a:ahLst/>
              <a:cxnLst/>
              <a:rect l="l" t="t" r="r" b="b"/>
              <a:pathLst>
                <a:path w="5480684" h="2569845">
                  <a:moveTo>
                    <a:pt x="24384" y="2543555"/>
                  </a:moveTo>
                  <a:lnTo>
                    <a:pt x="24384" y="0"/>
                  </a:lnTo>
                  <a:lnTo>
                    <a:pt x="0" y="0"/>
                  </a:lnTo>
                  <a:lnTo>
                    <a:pt x="0" y="2563367"/>
                  </a:lnTo>
                  <a:lnTo>
                    <a:pt x="6096" y="2569463"/>
                  </a:lnTo>
                  <a:lnTo>
                    <a:pt x="12192" y="2569463"/>
                  </a:lnTo>
                  <a:lnTo>
                    <a:pt x="12192" y="2543555"/>
                  </a:lnTo>
                  <a:lnTo>
                    <a:pt x="24384" y="2543555"/>
                  </a:lnTo>
                  <a:close/>
                </a:path>
                <a:path w="5480684" h="2569845">
                  <a:moveTo>
                    <a:pt x="5466588" y="2543555"/>
                  </a:moveTo>
                  <a:lnTo>
                    <a:pt x="12192" y="2543555"/>
                  </a:lnTo>
                  <a:lnTo>
                    <a:pt x="24384" y="2555747"/>
                  </a:lnTo>
                  <a:lnTo>
                    <a:pt x="24384" y="2569463"/>
                  </a:lnTo>
                  <a:lnTo>
                    <a:pt x="5454396" y="2569463"/>
                  </a:lnTo>
                  <a:lnTo>
                    <a:pt x="5454396" y="2555747"/>
                  </a:lnTo>
                  <a:lnTo>
                    <a:pt x="5466588" y="2543555"/>
                  </a:lnTo>
                  <a:close/>
                </a:path>
                <a:path w="5480684" h="2569845">
                  <a:moveTo>
                    <a:pt x="24384" y="2569463"/>
                  </a:moveTo>
                  <a:lnTo>
                    <a:pt x="24384" y="2555747"/>
                  </a:lnTo>
                  <a:lnTo>
                    <a:pt x="12192" y="2543555"/>
                  </a:lnTo>
                  <a:lnTo>
                    <a:pt x="12192" y="2569463"/>
                  </a:lnTo>
                  <a:lnTo>
                    <a:pt x="24384" y="2569463"/>
                  </a:lnTo>
                  <a:close/>
                </a:path>
                <a:path w="5480684" h="2569845">
                  <a:moveTo>
                    <a:pt x="5480304" y="2563367"/>
                  </a:moveTo>
                  <a:lnTo>
                    <a:pt x="5480304" y="0"/>
                  </a:lnTo>
                  <a:lnTo>
                    <a:pt x="5454396" y="0"/>
                  </a:lnTo>
                  <a:lnTo>
                    <a:pt x="5454396" y="2543555"/>
                  </a:lnTo>
                  <a:lnTo>
                    <a:pt x="5466588" y="2543555"/>
                  </a:lnTo>
                  <a:lnTo>
                    <a:pt x="5466588" y="2569463"/>
                  </a:lnTo>
                  <a:lnTo>
                    <a:pt x="5474208" y="2569463"/>
                  </a:lnTo>
                  <a:lnTo>
                    <a:pt x="5480304" y="2563367"/>
                  </a:lnTo>
                  <a:close/>
                </a:path>
                <a:path w="5480684" h="2569845">
                  <a:moveTo>
                    <a:pt x="5466588" y="2569463"/>
                  </a:moveTo>
                  <a:lnTo>
                    <a:pt x="5466588" y="2543555"/>
                  </a:lnTo>
                  <a:lnTo>
                    <a:pt x="5454396" y="2555747"/>
                  </a:lnTo>
                  <a:lnTo>
                    <a:pt x="5454396" y="2569463"/>
                  </a:lnTo>
                  <a:lnTo>
                    <a:pt x="5466588" y="2569463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9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05915"/>
            <a:ext cx="31140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00000"/>
                </a:solidFill>
              </a:rPr>
              <a:t>Na</a:t>
            </a:r>
            <a:r>
              <a:rPr sz="30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</a:rPr>
              <a:t>aula</a:t>
            </a:r>
            <a:r>
              <a:rPr sz="3000" spc="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passada...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72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Reconhecedor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/>
              <a:t>autômato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/>
              <a:t>finito–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10" dirty="0"/>
              <a:t>particularidades:</a:t>
            </a:r>
            <a:endParaRPr sz="2800">
              <a:latin typeface="Times New Roman"/>
              <a:cs typeface="Times New Roman"/>
            </a:endParaRPr>
          </a:p>
          <a:p>
            <a:pPr marL="1135380" lvl="1" indent="-666750">
              <a:lnSpc>
                <a:spcPct val="100000"/>
              </a:lnSpc>
              <a:spcBef>
                <a:spcPts val="1880"/>
              </a:spcBef>
              <a:buClr>
                <a:srgbClr val="000000"/>
              </a:buClr>
              <a:buAutoNum type="arabicPeriod"/>
              <a:tabLst>
                <a:tab pos="1135380" algn="l"/>
                <a:tab pos="1136015" algn="l"/>
              </a:tabLst>
            </a:pP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Inexistência</a:t>
            </a:r>
            <a:r>
              <a:rPr sz="2000" spc="6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de</a:t>
            </a:r>
            <a:r>
              <a:rPr sz="2000" spc="7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memória</a:t>
            </a:r>
            <a:r>
              <a:rPr sz="2000" spc="6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46B09"/>
                </a:solidFill>
                <a:latin typeface="Comic Sans MS"/>
                <a:cs typeface="Comic Sans MS"/>
              </a:rPr>
              <a:t>auxiliar;</a:t>
            </a:r>
            <a:endParaRPr sz="2000">
              <a:latin typeface="Comic Sans MS"/>
              <a:cs typeface="Comic Sans MS"/>
            </a:endParaRPr>
          </a:p>
          <a:p>
            <a:pPr marL="984885" marR="5080" lvl="1" indent="-515620">
              <a:lnSpc>
                <a:spcPct val="150000"/>
              </a:lnSpc>
              <a:spcBef>
                <a:spcPts val="480"/>
              </a:spcBef>
              <a:buFont typeface="Comic Sans MS"/>
              <a:buAutoNum type="arabicPeriod"/>
              <a:tabLst>
                <a:tab pos="1061085" algn="l"/>
                <a:tab pos="1061720" algn="l"/>
              </a:tabLst>
            </a:pPr>
            <a:r>
              <a:rPr dirty="0"/>
              <a:t>	</a:t>
            </a:r>
            <a:r>
              <a:rPr sz="2000" dirty="0">
                <a:latin typeface="Comic Sans MS"/>
                <a:cs typeface="Comic Sans MS"/>
              </a:rPr>
              <a:t>Utilização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do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cursor</a:t>
            </a:r>
            <a:r>
              <a:rPr sz="2000" spc="21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da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fita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entrada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apenas</a:t>
            </a:r>
            <a:r>
              <a:rPr sz="2000" spc="21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para</a:t>
            </a:r>
            <a:r>
              <a:rPr sz="2000" spc="21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leitura</a:t>
            </a:r>
            <a:r>
              <a:rPr sz="2000" spc="21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E46B09"/>
                </a:solidFill>
                <a:latin typeface="Comic Sans MS"/>
                <a:cs typeface="Comic Sans MS"/>
              </a:rPr>
              <a:t>de</a:t>
            </a:r>
            <a:r>
              <a:rPr sz="2000" spc="-2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símbolos,</a:t>
            </a:r>
            <a:r>
              <a:rPr sz="2000" spc="3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havendo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operações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escrita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sobre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fita;</a:t>
            </a:r>
            <a:endParaRPr sz="2000">
              <a:latin typeface="Comic Sans MS"/>
              <a:cs typeface="Comic Sans MS"/>
            </a:endParaRPr>
          </a:p>
          <a:p>
            <a:pPr marL="984885" marR="5080" lvl="1" indent="-515620">
              <a:lnSpc>
                <a:spcPct val="150000"/>
              </a:lnSpc>
              <a:spcBef>
                <a:spcPts val="480"/>
              </a:spcBef>
              <a:buFont typeface="Comic Sans MS"/>
              <a:buAutoNum type="arabicPeriod"/>
              <a:tabLst>
                <a:tab pos="1061085" algn="l"/>
                <a:tab pos="1061720" algn="l"/>
              </a:tabLst>
            </a:pPr>
            <a:r>
              <a:rPr dirty="0"/>
              <a:t>	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Movimentação</a:t>
            </a:r>
            <a:r>
              <a:rPr sz="2000" spc="36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do</a:t>
            </a:r>
            <a:r>
              <a:rPr sz="2000" spc="38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cursor</a:t>
            </a:r>
            <a:r>
              <a:rPr sz="2000" spc="35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leitura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em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apenas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sentido,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E46B09"/>
                </a:solidFill>
                <a:latin typeface="Comic Sans MS"/>
                <a:cs typeface="Comic Sans MS"/>
              </a:rPr>
              <a:t>da</a:t>
            </a:r>
            <a:r>
              <a:rPr sz="2000" spc="-2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esquerda</a:t>
            </a:r>
            <a:r>
              <a:rPr sz="2000" spc="7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para</a:t>
            </a:r>
            <a:r>
              <a:rPr sz="2000" spc="95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46B09"/>
                </a:solidFill>
                <a:latin typeface="Comic Sans MS"/>
                <a:cs typeface="Comic Sans MS"/>
              </a:rPr>
              <a:t>a</a:t>
            </a:r>
            <a:r>
              <a:rPr sz="2000" spc="80" dirty="0">
                <a:solidFill>
                  <a:srgbClr val="E46B0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E46B09"/>
                </a:solidFill>
                <a:latin typeface="Comic Sans MS"/>
                <a:cs typeface="Comic Sans MS"/>
              </a:rPr>
              <a:t>direita</a:t>
            </a:r>
            <a:r>
              <a:rPr sz="2000" spc="-10" dirty="0">
                <a:latin typeface="Comic Sans MS"/>
                <a:cs typeface="Comic Sans MS"/>
              </a:rPr>
              <a:t>;</a:t>
            </a:r>
            <a:endParaRPr sz="2000">
              <a:latin typeface="Comic Sans MS"/>
              <a:cs typeface="Comic Sans MS"/>
            </a:endParaRPr>
          </a:p>
          <a:p>
            <a:pPr marL="984885" marR="6350" lvl="1" indent="-515620">
              <a:lnSpc>
                <a:spcPct val="150000"/>
              </a:lnSpc>
              <a:spcBef>
                <a:spcPts val="480"/>
              </a:spcBef>
              <a:buFont typeface="Comic Sans MS"/>
              <a:buAutoNum type="arabicPeriod"/>
              <a:tabLst>
                <a:tab pos="1061085" algn="l"/>
                <a:tab pos="1061720" algn="l"/>
                <a:tab pos="1419225" algn="l"/>
                <a:tab pos="2040889" algn="l"/>
                <a:tab pos="2499360" algn="l"/>
                <a:tab pos="3593465" algn="l"/>
                <a:tab pos="4488180" algn="l"/>
                <a:tab pos="6172200" algn="l"/>
                <a:tab pos="7356475" algn="l"/>
              </a:tabLst>
            </a:pPr>
            <a:r>
              <a:rPr dirty="0"/>
              <a:t>	</a:t>
            </a:r>
            <a:r>
              <a:rPr sz="2000" spc="-50" dirty="0">
                <a:latin typeface="Comic Sans MS"/>
                <a:cs typeface="Comic Sans MS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E46B09"/>
                </a:solidFill>
                <a:latin typeface="Comic Sans MS"/>
                <a:cs typeface="Comic Sans MS"/>
              </a:rPr>
              <a:t>fita</a:t>
            </a:r>
            <a:r>
              <a:rPr sz="2000" dirty="0">
                <a:solidFill>
                  <a:srgbClr val="E46B09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Comic Sans MS"/>
                <a:cs typeface="Comic Sans MS"/>
              </a:rPr>
              <a:t>de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omic Sans MS"/>
                <a:cs typeface="Comic Sans MS"/>
              </a:rPr>
              <a:t>entrada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omic Sans MS"/>
                <a:cs typeface="Comic Sans MS"/>
              </a:rPr>
              <a:t>possui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E46B09"/>
                </a:solidFill>
                <a:latin typeface="Comic Sans MS"/>
                <a:cs typeface="Comic Sans MS"/>
              </a:rPr>
              <a:t>comprimento</a:t>
            </a:r>
            <a:r>
              <a:rPr sz="2000" dirty="0">
                <a:solidFill>
                  <a:srgbClr val="E46B09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E46B09"/>
                </a:solidFill>
                <a:latin typeface="Comic Sans MS"/>
                <a:cs typeface="Comic Sans MS"/>
              </a:rPr>
              <a:t>limitado</a:t>
            </a:r>
            <a:r>
              <a:rPr sz="2000" spc="-10" dirty="0">
                <a:latin typeface="Comic Sans MS"/>
                <a:cs typeface="Comic Sans MS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omic Sans MS"/>
                <a:cs typeface="Comic Sans MS"/>
              </a:rPr>
              <a:t>suficiente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apenas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para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acomodar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cadeia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analisada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3321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Na</a:t>
            </a:r>
            <a:r>
              <a:rPr sz="32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aula</a:t>
            </a:r>
            <a:r>
              <a:rPr sz="32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passada...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942591"/>
            <a:ext cx="8415020" cy="286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Autômato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finito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determinístico</a:t>
            </a:r>
            <a:endParaRPr sz="3200">
              <a:latin typeface="Comic Sans MS"/>
              <a:cs typeface="Comic Sans MS"/>
            </a:endParaRPr>
          </a:p>
          <a:p>
            <a:pPr marL="1397635" marR="5080" lvl="1" algn="just">
              <a:lnSpc>
                <a:spcPct val="150000"/>
              </a:lnSpc>
              <a:spcBef>
                <a:spcPts val="1270"/>
              </a:spcBef>
              <a:buFont typeface="Arial"/>
              <a:buChar char="•"/>
              <a:tabLst>
                <a:tab pos="1596390" algn="l"/>
              </a:tabLst>
            </a:pPr>
            <a:r>
              <a:rPr sz="2400" dirty="0">
                <a:latin typeface="Comic Sans MS"/>
                <a:cs typeface="Comic Sans MS"/>
              </a:rPr>
              <a:t>Para</a:t>
            </a:r>
            <a:r>
              <a:rPr sz="2400" spc="5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cada</a:t>
            </a:r>
            <a:r>
              <a:rPr sz="2400" spc="5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entrada</a:t>
            </a:r>
            <a:r>
              <a:rPr sz="2400" spc="5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(símbolo)</a:t>
            </a:r>
            <a:r>
              <a:rPr sz="2400" spc="50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existe</a:t>
            </a:r>
            <a:r>
              <a:rPr sz="2400" spc="509" dirty="0"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Comic Sans MS"/>
                <a:cs typeface="Comic Sans MS"/>
              </a:rPr>
              <a:t>um</a:t>
            </a:r>
            <a:r>
              <a:rPr sz="2400" spc="5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spc="-50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mic Sans MS"/>
                <a:cs typeface="Comic Sans MS"/>
              </a:rPr>
              <a:t>somente</a:t>
            </a:r>
            <a:r>
              <a:rPr sz="2400" spc="1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um</a:t>
            </a:r>
            <a:r>
              <a:rPr sz="2400" spc="21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estado</a:t>
            </a:r>
            <a:r>
              <a:rPr sz="2400" spc="21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ao</a:t>
            </a:r>
            <a:r>
              <a:rPr sz="2400" spc="20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qual</a:t>
            </a:r>
            <a:r>
              <a:rPr sz="2400" spc="20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o</a:t>
            </a:r>
            <a:r>
              <a:rPr sz="2400" spc="2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omic Sans MS"/>
                <a:cs typeface="Comic Sans MS"/>
              </a:rPr>
              <a:t>autômato</a:t>
            </a:r>
            <a:r>
              <a:rPr sz="2400" spc="215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Comic Sans MS"/>
                <a:cs typeface="Comic Sans MS"/>
              </a:rPr>
              <a:t>pode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transitar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400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partir</a:t>
            </a:r>
            <a:r>
              <a:rPr sz="2400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seu</a:t>
            </a:r>
            <a:r>
              <a:rPr sz="2400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estado</a:t>
            </a:r>
            <a:r>
              <a:rPr sz="2400" spc="25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atual</a:t>
            </a:r>
            <a:r>
              <a:rPr sz="2400" spc="25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do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símbolo</a:t>
            </a:r>
            <a:r>
              <a:rPr sz="24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lido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69109" y="5282196"/>
            <a:ext cx="1844039" cy="622300"/>
          </a:xfrm>
          <a:custGeom>
            <a:avLst/>
            <a:gdLst/>
            <a:ahLst/>
            <a:cxnLst/>
            <a:rect l="l" t="t" r="r" b="b"/>
            <a:pathLst>
              <a:path w="1844039" h="622300">
                <a:moveTo>
                  <a:pt x="774192" y="295656"/>
                </a:moveTo>
                <a:lnTo>
                  <a:pt x="772668" y="278892"/>
                </a:lnTo>
                <a:lnTo>
                  <a:pt x="766572" y="248412"/>
                </a:lnTo>
                <a:lnTo>
                  <a:pt x="762000" y="233172"/>
                </a:lnTo>
                <a:lnTo>
                  <a:pt x="762000" y="310896"/>
                </a:lnTo>
                <a:lnTo>
                  <a:pt x="757428" y="356616"/>
                </a:lnTo>
                <a:lnTo>
                  <a:pt x="754380" y="371856"/>
                </a:lnTo>
                <a:lnTo>
                  <a:pt x="754380" y="370332"/>
                </a:lnTo>
                <a:lnTo>
                  <a:pt x="749808" y="385572"/>
                </a:lnTo>
                <a:lnTo>
                  <a:pt x="745236" y="399288"/>
                </a:lnTo>
                <a:lnTo>
                  <a:pt x="739140" y="413004"/>
                </a:lnTo>
                <a:lnTo>
                  <a:pt x="731520" y="426720"/>
                </a:lnTo>
                <a:lnTo>
                  <a:pt x="733044" y="426720"/>
                </a:lnTo>
                <a:lnTo>
                  <a:pt x="725424" y="440436"/>
                </a:lnTo>
                <a:lnTo>
                  <a:pt x="697992" y="477012"/>
                </a:lnTo>
                <a:lnTo>
                  <a:pt x="687324" y="489204"/>
                </a:lnTo>
                <a:lnTo>
                  <a:pt x="664464" y="512064"/>
                </a:lnTo>
                <a:lnTo>
                  <a:pt x="664464" y="510540"/>
                </a:lnTo>
                <a:lnTo>
                  <a:pt x="652272" y="521208"/>
                </a:lnTo>
                <a:lnTo>
                  <a:pt x="638556" y="531876"/>
                </a:lnTo>
                <a:lnTo>
                  <a:pt x="640080" y="531876"/>
                </a:lnTo>
                <a:lnTo>
                  <a:pt x="624840" y="541020"/>
                </a:lnTo>
                <a:lnTo>
                  <a:pt x="626364" y="541020"/>
                </a:lnTo>
                <a:lnTo>
                  <a:pt x="595884" y="557784"/>
                </a:lnTo>
                <a:lnTo>
                  <a:pt x="597408" y="557784"/>
                </a:lnTo>
                <a:lnTo>
                  <a:pt x="582168" y="566928"/>
                </a:lnTo>
                <a:lnTo>
                  <a:pt x="582168" y="565404"/>
                </a:lnTo>
                <a:lnTo>
                  <a:pt x="565404" y="573024"/>
                </a:lnTo>
                <a:lnTo>
                  <a:pt x="550164" y="580644"/>
                </a:lnTo>
                <a:lnTo>
                  <a:pt x="550164" y="579120"/>
                </a:lnTo>
                <a:lnTo>
                  <a:pt x="516636" y="591312"/>
                </a:lnTo>
                <a:lnTo>
                  <a:pt x="480060" y="600456"/>
                </a:lnTo>
                <a:lnTo>
                  <a:pt x="481584" y="600456"/>
                </a:lnTo>
                <a:lnTo>
                  <a:pt x="461772" y="603504"/>
                </a:lnTo>
                <a:lnTo>
                  <a:pt x="463296" y="603504"/>
                </a:lnTo>
                <a:lnTo>
                  <a:pt x="443484" y="606552"/>
                </a:lnTo>
                <a:lnTo>
                  <a:pt x="425196" y="608076"/>
                </a:lnTo>
                <a:lnTo>
                  <a:pt x="405384" y="609600"/>
                </a:lnTo>
                <a:lnTo>
                  <a:pt x="367284" y="609600"/>
                </a:lnTo>
                <a:lnTo>
                  <a:pt x="348996" y="608076"/>
                </a:lnTo>
                <a:lnTo>
                  <a:pt x="329184" y="606552"/>
                </a:lnTo>
                <a:lnTo>
                  <a:pt x="292608" y="600456"/>
                </a:lnTo>
                <a:lnTo>
                  <a:pt x="274320" y="595884"/>
                </a:lnTo>
                <a:lnTo>
                  <a:pt x="275844" y="595884"/>
                </a:lnTo>
                <a:lnTo>
                  <a:pt x="257556" y="591312"/>
                </a:lnTo>
                <a:lnTo>
                  <a:pt x="224028" y="579120"/>
                </a:lnTo>
                <a:lnTo>
                  <a:pt x="224028" y="580644"/>
                </a:lnTo>
                <a:lnTo>
                  <a:pt x="207264" y="573024"/>
                </a:lnTo>
                <a:lnTo>
                  <a:pt x="192024" y="565404"/>
                </a:lnTo>
                <a:lnTo>
                  <a:pt x="192024" y="566928"/>
                </a:lnTo>
                <a:lnTo>
                  <a:pt x="176784" y="557784"/>
                </a:lnTo>
                <a:lnTo>
                  <a:pt x="147828" y="541020"/>
                </a:lnTo>
                <a:lnTo>
                  <a:pt x="134112" y="531876"/>
                </a:lnTo>
                <a:lnTo>
                  <a:pt x="121920" y="521208"/>
                </a:lnTo>
                <a:lnTo>
                  <a:pt x="108204" y="510540"/>
                </a:lnTo>
                <a:lnTo>
                  <a:pt x="86868" y="489204"/>
                </a:lnTo>
                <a:lnTo>
                  <a:pt x="65532" y="464820"/>
                </a:lnTo>
                <a:lnTo>
                  <a:pt x="56388" y="452628"/>
                </a:lnTo>
                <a:lnTo>
                  <a:pt x="57912" y="452628"/>
                </a:lnTo>
                <a:lnTo>
                  <a:pt x="48768" y="440436"/>
                </a:lnTo>
                <a:lnTo>
                  <a:pt x="41148" y="426720"/>
                </a:lnTo>
                <a:lnTo>
                  <a:pt x="28956" y="399288"/>
                </a:lnTo>
                <a:lnTo>
                  <a:pt x="24384" y="385572"/>
                </a:lnTo>
                <a:lnTo>
                  <a:pt x="19812" y="370332"/>
                </a:lnTo>
                <a:lnTo>
                  <a:pt x="19812" y="371856"/>
                </a:lnTo>
                <a:lnTo>
                  <a:pt x="13716" y="341376"/>
                </a:lnTo>
                <a:lnTo>
                  <a:pt x="12192" y="326136"/>
                </a:lnTo>
                <a:lnTo>
                  <a:pt x="12192" y="295656"/>
                </a:lnTo>
                <a:lnTo>
                  <a:pt x="13716" y="280416"/>
                </a:lnTo>
                <a:lnTo>
                  <a:pt x="16764" y="265176"/>
                </a:lnTo>
                <a:lnTo>
                  <a:pt x="16764" y="266700"/>
                </a:lnTo>
                <a:lnTo>
                  <a:pt x="19812" y="251460"/>
                </a:lnTo>
                <a:lnTo>
                  <a:pt x="24384" y="236220"/>
                </a:lnTo>
                <a:lnTo>
                  <a:pt x="24384" y="237744"/>
                </a:lnTo>
                <a:lnTo>
                  <a:pt x="28956" y="222504"/>
                </a:lnTo>
                <a:lnTo>
                  <a:pt x="41148" y="195072"/>
                </a:lnTo>
                <a:lnTo>
                  <a:pt x="48768" y="181356"/>
                </a:lnTo>
                <a:lnTo>
                  <a:pt x="48768" y="182880"/>
                </a:lnTo>
                <a:lnTo>
                  <a:pt x="56388" y="171450"/>
                </a:lnTo>
                <a:lnTo>
                  <a:pt x="57912" y="169164"/>
                </a:lnTo>
                <a:lnTo>
                  <a:pt x="56388" y="169164"/>
                </a:lnTo>
                <a:lnTo>
                  <a:pt x="65532" y="156972"/>
                </a:lnTo>
                <a:lnTo>
                  <a:pt x="86868" y="132588"/>
                </a:lnTo>
                <a:lnTo>
                  <a:pt x="97536" y="121920"/>
                </a:lnTo>
                <a:lnTo>
                  <a:pt x="108204" y="112585"/>
                </a:lnTo>
                <a:lnTo>
                  <a:pt x="109728" y="111252"/>
                </a:lnTo>
                <a:lnTo>
                  <a:pt x="108204" y="111252"/>
                </a:lnTo>
                <a:lnTo>
                  <a:pt x="121920" y="100584"/>
                </a:lnTo>
                <a:lnTo>
                  <a:pt x="134112" y="89916"/>
                </a:lnTo>
                <a:lnTo>
                  <a:pt x="134112" y="91440"/>
                </a:lnTo>
                <a:lnTo>
                  <a:pt x="147828" y="80772"/>
                </a:lnTo>
                <a:lnTo>
                  <a:pt x="176784" y="64008"/>
                </a:lnTo>
                <a:lnTo>
                  <a:pt x="207264" y="48768"/>
                </a:lnTo>
                <a:lnTo>
                  <a:pt x="257556" y="30480"/>
                </a:lnTo>
                <a:lnTo>
                  <a:pt x="274320" y="26289"/>
                </a:lnTo>
                <a:lnTo>
                  <a:pt x="275844" y="25908"/>
                </a:lnTo>
                <a:lnTo>
                  <a:pt x="274320" y="25908"/>
                </a:lnTo>
                <a:lnTo>
                  <a:pt x="292608" y="22860"/>
                </a:lnTo>
                <a:lnTo>
                  <a:pt x="310896" y="18288"/>
                </a:lnTo>
                <a:lnTo>
                  <a:pt x="329184" y="16764"/>
                </a:lnTo>
                <a:lnTo>
                  <a:pt x="348996" y="13716"/>
                </a:lnTo>
                <a:lnTo>
                  <a:pt x="367284" y="13716"/>
                </a:lnTo>
                <a:lnTo>
                  <a:pt x="387096" y="12192"/>
                </a:lnTo>
                <a:lnTo>
                  <a:pt x="405384" y="13589"/>
                </a:lnTo>
                <a:lnTo>
                  <a:pt x="425196" y="13716"/>
                </a:lnTo>
                <a:lnTo>
                  <a:pt x="443484" y="16764"/>
                </a:lnTo>
                <a:lnTo>
                  <a:pt x="463296" y="18288"/>
                </a:lnTo>
                <a:lnTo>
                  <a:pt x="461772" y="18288"/>
                </a:lnTo>
                <a:lnTo>
                  <a:pt x="463296" y="18630"/>
                </a:lnTo>
                <a:lnTo>
                  <a:pt x="481584" y="22860"/>
                </a:lnTo>
                <a:lnTo>
                  <a:pt x="480060" y="22860"/>
                </a:lnTo>
                <a:lnTo>
                  <a:pt x="481584" y="23114"/>
                </a:lnTo>
                <a:lnTo>
                  <a:pt x="550164" y="42672"/>
                </a:lnTo>
                <a:lnTo>
                  <a:pt x="597408" y="64008"/>
                </a:lnTo>
                <a:lnTo>
                  <a:pt x="595884" y="64008"/>
                </a:lnTo>
                <a:lnTo>
                  <a:pt x="597408" y="64846"/>
                </a:lnTo>
                <a:lnTo>
                  <a:pt x="626364" y="80772"/>
                </a:lnTo>
                <a:lnTo>
                  <a:pt x="624840" y="80772"/>
                </a:lnTo>
                <a:lnTo>
                  <a:pt x="626364" y="81838"/>
                </a:lnTo>
                <a:lnTo>
                  <a:pt x="638556" y="90373"/>
                </a:lnTo>
                <a:lnTo>
                  <a:pt x="640080" y="91440"/>
                </a:lnTo>
                <a:lnTo>
                  <a:pt x="638556" y="89916"/>
                </a:lnTo>
                <a:lnTo>
                  <a:pt x="676656" y="121920"/>
                </a:lnTo>
                <a:lnTo>
                  <a:pt x="716280" y="169164"/>
                </a:lnTo>
                <a:lnTo>
                  <a:pt x="725424" y="182880"/>
                </a:lnTo>
                <a:lnTo>
                  <a:pt x="725424" y="181356"/>
                </a:lnTo>
                <a:lnTo>
                  <a:pt x="733044" y="195072"/>
                </a:lnTo>
                <a:lnTo>
                  <a:pt x="731520" y="195072"/>
                </a:lnTo>
                <a:lnTo>
                  <a:pt x="733044" y="197815"/>
                </a:lnTo>
                <a:lnTo>
                  <a:pt x="739140" y="208788"/>
                </a:lnTo>
                <a:lnTo>
                  <a:pt x="745236" y="222504"/>
                </a:lnTo>
                <a:lnTo>
                  <a:pt x="749808" y="237744"/>
                </a:lnTo>
                <a:lnTo>
                  <a:pt x="749808" y="236220"/>
                </a:lnTo>
                <a:lnTo>
                  <a:pt x="754380" y="251460"/>
                </a:lnTo>
                <a:lnTo>
                  <a:pt x="757428" y="266700"/>
                </a:lnTo>
                <a:lnTo>
                  <a:pt x="757428" y="265176"/>
                </a:lnTo>
                <a:lnTo>
                  <a:pt x="762000" y="310896"/>
                </a:lnTo>
                <a:lnTo>
                  <a:pt x="762000" y="233172"/>
                </a:lnTo>
                <a:lnTo>
                  <a:pt x="755904" y="217932"/>
                </a:lnTo>
                <a:lnTo>
                  <a:pt x="749808" y="204216"/>
                </a:lnTo>
                <a:lnTo>
                  <a:pt x="743712" y="188976"/>
                </a:lnTo>
                <a:lnTo>
                  <a:pt x="717804" y="149352"/>
                </a:lnTo>
                <a:lnTo>
                  <a:pt x="685800" y="112776"/>
                </a:lnTo>
                <a:lnTo>
                  <a:pt x="673608" y="102108"/>
                </a:lnTo>
                <a:lnTo>
                  <a:pt x="659892" y="89916"/>
                </a:lnTo>
                <a:lnTo>
                  <a:pt x="646176" y="80772"/>
                </a:lnTo>
                <a:lnTo>
                  <a:pt x="632460" y="70104"/>
                </a:lnTo>
                <a:lnTo>
                  <a:pt x="603504" y="53340"/>
                </a:lnTo>
                <a:lnTo>
                  <a:pt x="586740" y="44196"/>
                </a:lnTo>
                <a:lnTo>
                  <a:pt x="571500" y="36576"/>
                </a:lnTo>
                <a:lnTo>
                  <a:pt x="554736" y="30480"/>
                </a:lnTo>
                <a:lnTo>
                  <a:pt x="536448" y="24384"/>
                </a:lnTo>
                <a:lnTo>
                  <a:pt x="519684" y="18288"/>
                </a:lnTo>
                <a:lnTo>
                  <a:pt x="464820" y="6096"/>
                </a:lnTo>
                <a:lnTo>
                  <a:pt x="425196" y="1397"/>
                </a:lnTo>
                <a:lnTo>
                  <a:pt x="406908" y="0"/>
                </a:lnTo>
                <a:lnTo>
                  <a:pt x="367284" y="0"/>
                </a:lnTo>
                <a:lnTo>
                  <a:pt x="327660" y="3048"/>
                </a:lnTo>
                <a:lnTo>
                  <a:pt x="271272" y="13716"/>
                </a:lnTo>
                <a:lnTo>
                  <a:pt x="202692" y="36576"/>
                </a:lnTo>
                <a:lnTo>
                  <a:pt x="170688" y="53340"/>
                </a:lnTo>
                <a:lnTo>
                  <a:pt x="141732" y="70104"/>
                </a:lnTo>
                <a:lnTo>
                  <a:pt x="126492" y="80772"/>
                </a:lnTo>
                <a:lnTo>
                  <a:pt x="112776" y="89916"/>
                </a:lnTo>
                <a:lnTo>
                  <a:pt x="100584" y="102108"/>
                </a:lnTo>
                <a:lnTo>
                  <a:pt x="65532" y="137160"/>
                </a:lnTo>
                <a:lnTo>
                  <a:pt x="38100" y="175260"/>
                </a:lnTo>
                <a:lnTo>
                  <a:pt x="16764" y="217932"/>
                </a:lnTo>
                <a:lnTo>
                  <a:pt x="1524" y="278892"/>
                </a:lnTo>
                <a:lnTo>
                  <a:pt x="0" y="295656"/>
                </a:lnTo>
                <a:lnTo>
                  <a:pt x="0" y="327660"/>
                </a:lnTo>
                <a:lnTo>
                  <a:pt x="1524" y="342900"/>
                </a:lnTo>
                <a:lnTo>
                  <a:pt x="4572" y="358140"/>
                </a:lnTo>
                <a:lnTo>
                  <a:pt x="7620" y="374904"/>
                </a:lnTo>
                <a:lnTo>
                  <a:pt x="12192" y="388620"/>
                </a:lnTo>
                <a:lnTo>
                  <a:pt x="16764" y="403860"/>
                </a:lnTo>
                <a:lnTo>
                  <a:pt x="22860" y="419100"/>
                </a:lnTo>
                <a:lnTo>
                  <a:pt x="38100" y="446532"/>
                </a:lnTo>
                <a:lnTo>
                  <a:pt x="47244" y="460248"/>
                </a:lnTo>
                <a:lnTo>
                  <a:pt x="56388" y="472440"/>
                </a:lnTo>
                <a:lnTo>
                  <a:pt x="65532" y="486156"/>
                </a:lnTo>
                <a:lnTo>
                  <a:pt x="76200" y="498348"/>
                </a:lnTo>
                <a:lnTo>
                  <a:pt x="88392" y="509016"/>
                </a:lnTo>
                <a:lnTo>
                  <a:pt x="100584" y="521208"/>
                </a:lnTo>
                <a:lnTo>
                  <a:pt x="109728" y="529209"/>
                </a:lnTo>
                <a:lnTo>
                  <a:pt x="112776" y="531876"/>
                </a:lnTo>
                <a:lnTo>
                  <a:pt x="126492" y="542544"/>
                </a:lnTo>
                <a:lnTo>
                  <a:pt x="141732" y="551688"/>
                </a:lnTo>
                <a:lnTo>
                  <a:pt x="170688" y="569976"/>
                </a:lnTo>
                <a:lnTo>
                  <a:pt x="185928" y="577596"/>
                </a:lnTo>
                <a:lnTo>
                  <a:pt x="202692" y="585216"/>
                </a:lnTo>
                <a:lnTo>
                  <a:pt x="236220" y="597408"/>
                </a:lnTo>
                <a:lnTo>
                  <a:pt x="254508" y="603504"/>
                </a:lnTo>
                <a:lnTo>
                  <a:pt x="274320" y="608457"/>
                </a:lnTo>
                <a:lnTo>
                  <a:pt x="291084" y="612648"/>
                </a:lnTo>
                <a:lnTo>
                  <a:pt x="327660" y="618744"/>
                </a:lnTo>
                <a:lnTo>
                  <a:pt x="367284" y="621792"/>
                </a:lnTo>
                <a:lnTo>
                  <a:pt x="406908" y="621792"/>
                </a:lnTo>
                <a:lnTo>
                  <a:pt x="426720" y="620268"/>
                </a:lnTo>
                <a:lnTo>
                  <a:pt x="445008" y="618744"/>
                </a:lnTo>
                <a:lnTo>
                  <a:pt x="463296" y="615924"/>
                </a:lnTo>
                <a:lnTo>
                  <a:pt x="464820" y="615696"/>
                </a:lnTo>
                <a:lnTo>
                  <a:pt x="481584" y="612902"/>
                </a:lnTo>
                <a:lnTo>
                  <a:pt x="483108" y="612648"/>
                </a:lnTo>
                <a:lnTo>
                  <a:pt x="519684" y="603504"/>
                </a:lnTo>
                <a:lnTo>
                  <a:pt x="536448" y="597408"/>
                </a:lnTo>
                <a:lnTo>
                  <a:pt x="554736" y="591312"/>
                </a:lnTo>
                <a:lnTo>
                  <a:pt x="571500" y="585216"/>
                </a:lnTo>
                <a:lnTo>
                  <a:pt x="586740" y="577596"/>
                </a:lnTo>
                <a:lnTo>
                  <a:pt x="597408" y="572744"/>
                </a:lnTo>
                <a:lnTo>
                  <a:pt x="603504" y="569976"/>
                </a:lnTo>
                <a:lnTo>
                  <a:pt x="626364" y="555536"/>
                </a:lnTo>
                <a:lnTo>
                  <a:pt x="632460" y="551688"/>
                </a:lnTo>
                <a:lnTo>
                  <a:pt x="640080" y="546608"/>
                </a:lnTo>
                <a:lnTo>
                  <a:pt x="646176" y="542544"/>
                </a:lnTo>
                <a:lnTo>
                  <a:pt x="696468" y="498348"/>
                </a:lnTo>
                <a:lnTo>
                  <a:pt x="726948" y="460248"/>
                </a:lnTo>
                <a:lnTo>
                  <a:pt x="733044" y="451104"/>
                </a:lnTo>
                <a:lnTo>
                  <a:pt x="736092" y="446532"/>
                </a:lnTo>
                <a:lnTo>
                  <a:pt x="762000" y="388620"/>
                </a:lnTo>
                <a:lnTo>
                  <a:pt x="769620" y="358140"/>
                </a:lnTo>
                <a:lnTo>
                  <a:pt x="772668" y="342900"/>
                </a:lnTo>
                <a:lnTo>
                  <a:pt x="774192" y="327660"/>
                </a:lnTo>
                <a:lnTo>
                  <a:pt x="774192" y="295656"/>
                </a:lnTo>
                <a:close/>
              </a:path>
              <a:path w="1844039" h="622300">
                <a:moveTo>
                  <a:pt x="1844040" y="310896"/>
                </a:moveTo>
                <a:lnTo>
                  <a:pt x="1767840" y="272796"/>
                </a:lnTo>
                <a:lnTo>
                  <a:pt x="1767840" y="304800"/>
                </a:lnTo>
                <a:lnTo>
                  <a:pt x="777240" y="304800"/>
                </a:lnTo>
                <a:lnTo>
                  <a:pt x="777240" y="316992"/>
                </a:lnTo>
                <a:lnTo>
                  <a:pt x="1767840" y="316992"/>
                </a:lnTo>
                <a:lnTo>
                  <a:pt x="1767840" y="348996"/>
                </a:lnTo>
                <a:lnTo>
                  <a:pt x="1780032" y="342900"/>
                </a:lnTo>
                <a:lnTo>
                  <a:pt x="1844040" y="310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82556" y="5427977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97914" y="5282184"/>
            <a:ext cx="774700" cy="622300"/>
            <a:chOff x="4097914" y="5282184"/>
            <a:chExt cx="774700" cy="622300"/>
          </a:xfrm>
        </p:grpSpPr>
        <p:sp>
          <p:nvSpPr>
            <p:cNvPr id="11" name="object 11"/>
            <p:cNvSpPr/>
            <p:nvPr/>
          </p:nvSpPr>
          <p:spPr>
            <a:xfrm>
              <a:off x="4104010" y="528828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304800"/>
                  </a:moveTo>
                  <a:lnTo>
                    <a:pt x="758519" y="263586"/>
                  </a:lnTo>
                  <a:lnTo>
                    <a:pt x="748382" y="224013"/>
                  </a:lnTo>
                  <a:lnTo>
                    <a:pt x="732043" y="186451"/>
                  </a:lnTo>
                  <a:lnTo>
                    <a:pt x="709958" y="151271"/>
                  </a:lnTo>
                  <a:lnTo>
                    <a:pt x="682580" y="118842"/>
                  </a:lnTo>
                  <a:lnTo>
                    <a:pt x="650367" y="89535"/>
                  </a:lnTo>
                  <a:lnTo>
                    <a:pt x="613771" y="63720"/>
                  </a:lnTo>
                  <a:lnTo>
                    <a:pt x="573249" y="41768"/>
                  </a:lnTo>
                  <a:lnTo>
                    <a:pt x="529256" y="24050"/>
                  </a:lnTo>
                  <a:lnTo>
                    <a:pt x="482247" y="10936"/>
                  </a:lnTo>
                  <a:lnTo>
                    <a:pt x="432676" y="2795"/>
                  </a:lnTo>
                  <a:lnTo>
                    <a:pt x="381000" y="0"/>
                  </a:lnTo>
                  <a:lnTo>
                    <a:pt x="329323" y="2795"/>
                  </a:lnTo>
                  <a:lnTo>
                    <a:pt x="279752" y="10936"/>
                  </a:lnTo>
                  <a:lnTo>
                    <a:pt x="232743" y="24050"/>
                  </a:lnTo>
                  <a:lnTo>
                    <a:pt x="188750" y="41768"/>
                  </a:lnTo>
                  <a:lnTo>
                    <a:pt x="148228" y="63720"/>
                  </a:lnTo>
                  <a:lnTo>
                    <a:pt x="111633" y="89535"/>
                  </a:lnTo>
                  <a:lnTo>
                    <a:pt x="79419" y="118842"/>
                  </a:lnTo>
                  <a:lnTo>
                    <a:pt x="52041" y="151271"/>
                  </a:lnTo>
                  <a:lnTo>
                    <a:pt x="29956" y="186451"/>
                  </a:lnTo>
                  <a:lnTo>
                    <a:pt x="13617" y="224013"/>
                  </a:lnTo>
                  <a:lnTo>
                    <a:pt x="3480" y="263586"/>
                  </a:lnTo>
                  <a:lnTo>
                    <a:pt x="0" y="304800"/>
                  </a:lnTo>
                  <a:lnTo>
                    <a:pt x="3480" y="346333"/>
                  </a:lnTo>
                  <a:lnTo>
                    <a:pt x="13617" y="386115"/>
                  </a:lnTo>
                  <a:lnTo>
                    <a:pt x="29956" y="423791"/>
                  </a:lnTo>
                  <a:lnTo>
                    <a:pt x="52041" y="459006"/>
                  </a:lnTo>
                  <a:lnTo>
                    <a:pt x="79419" y="491406"/>
                  </a:lnTo>
                  <a:lnTo>
                    <a:pt x="111633" y="520636"/>
                  </a:lnTo>
                  <a:lnTo>
                    <a:pt x="148228" y="546342"/>
                  </a:lnTo>
                  <a:lnTo>
                    <a:pt x="188750" y="568169"/>
                  </a:lnTo>
                  <a:lnTo>
                    <a:pt x="232743" y="585763"/>
                  </a:lnTo>
                  <a:lnTo>
                    <a:pt x="279752" y="598769"/>
                  </a:lnTo>
                  <a:lnTo>
                    <a:pt x="329323" y="606833"/>
                  </a:lnTo>
                  <a:lnTo>
                    <a:pt x="381000" y="609600"/>
                  </a:lnTo>
                  <a:lnTo>
                    <a:pt x="432676" y="606833"/>
                  </a:lnTo>
                  <a:lnTo>
                    <a:pt x="482247" y="598769"/>
                  </a:lnTo>
                  <a:lnTo>
                    <a:pt x="529256" y="585763"/>
                  </a:lnTo>
                  <a:lnTo>
                    <a:pt x="573249" y="568169"/>
                  </a:lnTo>
                  <a:lnTo>
                    <a:pt x="613771" y="546342"/>
                  </a:lnTo>
                  <a:lnTo>
                    <a:pt x="650367" y="520636"/>
                  </a:lnTo>
                  <a:lnTo>
                    <a:pt x="682580" y="491406"/>
                  </a:lnTo>
                  <a:lnTo>
                    <a:pt x="709958" y="459006"/>
                  </a:lnTo>
                  <a:lnTo>
                    <a:pt x="732043" y="423791"/>
                  </a:lnTo>
                  <a:lnTo>
                    <a:pt x="748382" y="386115"/>
                  </a:lnTo>
                  <a:lnTo>
                    <a:pt x="758519" y="346333"/>
                  </a:lnTo>
                  <a:lnTo>
                    <a:pt x="762000" y="3048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7914" y="5282184"/>
              <a:ext cx="774700" cy="622300"/>
            </a:xfrm>
            <a:custGeom>
              <a:avLst/>
              <a:gdLst/>
              <a:ahLst/>
              <a:cxnLst/>
              <a:rect l="l" t="t" r="r" b="b"/>
              <a:pathLst>
                <a:path w="774700" h="622300">
                  <a:moveTo>
                    <a:pt x="774192" y="327660"/>
                  </a:moveTo>
                  <a:lnTo>
                    <a:pt x="774192" y="295656"/>
                  </a:lnTo>
                  <a:lnTo>
                    <a:pt x="772668" y="278892"/>
                  </a:lnTo>
                  <a:lnTo>
                    <a:pt x="766572" y="248412"/>
                  </a:lnTo>
                  <a:lnTo>
                    <a:pt x="762000" y="233172"/>
                  </a:lnTo>
                  <a:lnTo>
                    <a:pt x="755904" y="217932"/>
                  </a:lnTo>
                  <a:lnTo>
                    <a:pt x="749808" y="204216"/>
                  </a:lnTo>
                  <a:lnTo>
                    <a:pt x="743712" y="188976"/>
                  </a:lnTo>
                  <a:lnTo>
                    <a:pt x="717804" y="149352"/>
                  </a:lnTo>
                  <a:lnTo>
                    <a:pt x="685800" y="112776"/>
                  </a:lnTo>
                  <a:lnTo>
                    <a:pt x="673608" y="102108"/>
                  </a:lnTo>
                  <a:lnTo>
                    <a:pt x="659892" y="89916"/>
                  </a:lnTo>
                  <a:lnTo>
                    <a:pt x="646176" y="80772"/>
                  </a:lnTo>
                  <a:lnTo>
                    <a:pt x="632460" y="70104"/>
                  </a:lnTo>
                  <a:lnTo>
                    <a:pt x="603504" y="53340"/>
                  </a:lnTo>
                  <a:lnTo>
                    <a:pt x="586740" y="44196"/>
                  </a:lnTo>
                  <a:lnTo>
                    <a:pt x="571500" y="36576"/>
                  </a:lnTo>
                  <a:lnTo>
                    <a:pt x="554736" y="30480"/>
                  </a:lnTo>
                  <a:lnTo>
                    <a:pt x="536448" y="24384"/>
                  </a:lnTo>
                  <a:lnTo>
                    <a:pt x="519684" y="18288"/>
                  </a:lnTo>
                  <a:lnTo>
                    <a:pt x="464820" y="6096"/>
                  </a:lnTo>
                  <a:lnTo>
                    <a:pt x="425196" y="1406"/>
                  </a:lnTo>
                  <a:lnTo>
                    <a:pt x="406908" y="0"/>
                  </a:lnTo>
                  <a:lnTo>
                    <a:pt x="367284" y="0"/>
                  </a:lnTo>
                  <a:lnTo>
                    <a:pt x="327660" y="3048"/>
                  </a:lnTo>
                  <a:lnTo>
                    <a:pt x="271272" y="13716"/>
                  </a:lnTo>
                  <a:lnTo>
                    <a:pt x="202692" y="36576"/>
                  </a:lnTo>
                  <a:lnTo>
                    <a:pt x="170688" y="53340"/>
                  </a:lnTo>
                  <a:lnTo>
                    <a:pt x="141732" y="70104"/>
                  </a:lnTo>
                  <a:lnTo>
                    <a:pt x="126492" y="80772"/>
                  </a:lnTo>
                  <a:lnTo>
                    <a:pt x="112776" y="89916"/>
                  </a:lnTo>
                  <a:lnTo>
                    <a:pt x="100584" y="102108"/>
                  </a:lnTo>
                  <a:lnTo>
                    <a:pt x="65532" y="137160"/>
                  </a:lnTo>
                  <a:lnTo>
                    <a:pt x="38100" y="175260"/>
                  </a:lnTo>
                  <a:lnTo>
                    <a:pt x="16764" y="217932"/>
                  </a:lnTo>
                  <a:lnTo>
                    <a:pt x="1524" y="278892"/>
                  </a:lnTo>
                  <a:lnTo>
                    <a:pt x="0" y="295656"/>
                  </a:lnTo>
                  <a:lnTo>
                    <a:pt x="0" y="327660"/>
                  </a:lnTo>
                  <a:lnTo>
                    <a:pt x="1524" y="342900"/>
                  </a:lnTo>
                  <a:lnTo>
                    <a:pt x="4572" y="358140"/>
                  </a:lnTo>
                  <a:lnTo>
                    <a:pt x="7620" y="374904"/>
                  </a:lnTo>
                  <a:lnTo>
                    <a:pt x="12192" y="388620"/>
                  </a:lnTo>
                  <a:lnTo>
                    <a:pt x="12192" y="295656"/>
                  </a:lnTo>
                  <a:lnTo>
                    <a:pt x="13716" y="280416"/>
                  </a:lnTo>
                  <a:lnTo>
                    <a:pt x="16764" y="265176"/>
                  </a:lnTo>
                  <a:lnTo>
                    <a:pt x="16764" y="266700"/>
                  </a:lnTo>
                  <a:lnTo>
                    <a:pt x="19812" y="251460"/>
                  </a:lnTo>
                  <a:lnTo>
                    <a:pt x="24384" y="236220"/>
                  </a:lnTo>
                  <a:lnTo>
                    <a:pt x="24384" y="237744"/>
                  </a:lnTo>
                  <a:lnTo>
                    <a:pt x="28956" y="222504"/>
                  </a:lnTo>
                  <a:lnTo>
                    <a:pt x="41148" y="195072"/>
                  </a:lnTo>
                  <a:lnTo>
                    <a:pt x="48768" y="181356"/>
                  </a:lnTo>
                  <a:lnTo>
                    <a:pt x="48768" y="182880"/>
                  </a:lnTo>
                  <a:lnTo>
                    <a:pt x="56388" y="171450"/>
                  </a:lnTo>
                  <a:lnTo>
                    <a:pt x="56388" y="169164"/>
                  </a:lnTo>
                  <a:lnTo>
                    <a:pt x="65532" y="156972"/>
                  </a:lnTo>
                  <a:lnTo>
                    <a:pt x="86868" y="132588"/>
                  </a:lnTo>
                  <a:lnTo>
                    <a:pt x="97536" y="121920"/>
                  </a:lnTo>
                  <a:lnTo>
                    <a:pt x="108204" y="112585"/>
                  </a:lnTo>
                  <a:lnTo>
                    <a:pt x="108204" y="111252"/>
                  </a:lnTo>
                  <a:lnTo>
                    <a:pt x="121920" y="100584"/>
                  </a:lnTo>
                  <a:lnTo>
                    <a:pt x="134112" y="89916"/>
                  </a:lnTo>
                  <a:lnTo>
                    <a:pt x="134112" y="91440"/>
                  </a:lnTo>
                  <a:lnTo>
                    <a:pt x="176784" y="64008"/>
                  </a:lnTo>
                  <a:lnTo>
                    <a:pt x="257556" y="30480"/>
                  </a:lnTo>
                  <a:lnTo>
                    <a:pt x="274320" y="26289"/>
                  </a:lnTo>
                  <a:lnTo>
                    <a:pt x="274320" y="25908"/>
                  </a:lnTo>
                  <a:lnTo>
                    <a:pt x="292608" y="22860"/>
                  </a:lnTo>
                  <a:lnTo>
                    <a:pt x="310896" y="18288"/>
                  </a:lnTo>
                  <a:lnTo>
                    <a:pt x="329184" y="16764"/>
                  </a:lnTo>
                  <a:lnTo>
                    <a:pt x="348996" y="13716"/>
                  </a:lnTo>
                  <a:lnTo>
                    <a:pt x="367284" y="13716"/>
                  </a:lnTo>
                  <a:lnTo>
                    <a:pt x="387096" y="12192"/>
                  </a:lnTo>
                  <a:lnTo>
                    <a:pt x="405384" y="13598"/>
                  </a:lnTo>
                  <a:lnTo>
                    <a:pt x="425196" y="13716"/>
                  </a:lnTo>
                  <a:lnTo>
                    <a:pt x="443484" y="16764"/>
                  </a:lnTo>
                  <a:lnTo>
                    <a:pt x="463296" y="18288"/>
                  </a:lnTo>
                  <a:lnTo>
                    <a:pt x="463296" y="18639"/>
                  </a:lnTo>
                  <a:lnTo>
                    <a:pt x="481584" y="22860"/>
                  </a:lnTo>
                  <a:lnTo>
                    <a:pt x="481584" y="23114"/>
                  </a:lnTo>
                  <a:lnTo>
                    <a:pt x="498348" y="25908"/>
                  </a:lnTo>
                  <a:lnTo>
                    <a:pt x="516636" y="30480"/>
                  </a:lnTo>
                  <a:lnTo>
                    <a:pt x="550164" y="42672"/>
                  </a:lnTo>
                  <a:lnTo>
                    <a:pt x="565404" y="48768"/>
                  </a:lnTo>
                  <a:lnTo>
                    <a:pt x="582168" y="56388"/>
                  </a:lnTo>
                  <a:lnTo>
                    <a:pt x="597408" y="64008"/>
                  </a:lnTo>
                  <a:lnTo>
                    <a:pt x="597408" y="64846"/>
                  </a:lnTo>
                  <a:lnTo>
                    <a:pt x="626364" y="80772"/>
                  </a:lnTo>
                  <a:lnTo>
                    <a:pt x="626364" y="81838"/>
                  </a:lnTo>
                  <a:lnTo>
                    <a:pt x="638556" y="90373"/>
                  </a:lnTo>
                  <a:lnTo>
                    <a:pt x="638556" y="89916"/>
                  </a:lnTo>
                  <a:lnTo>
                    <a:pt x="652272" y="100584"/>
                  </a:lnTo>
                  <a:lnTo>
                    <a:pt x="687324" y="132588"/>
                  </a:lnTo>
                  <a:lnTo>
                    <a:pt x="716280" y="169164"/>
                  </a:lnTo>
                  <a:lnTo>
                    <a:pt x="725424" y="182880"/>
                  </a:lnTo>
                  <a:lnTo>
                    <a:pt x="725424" y="181356"/>
                  </a:lnTo>
                  <a:lnTo>
                    <a:pt x="733044" y="195072"/>
                  </a:lnTo>
                  <a:lnTo>
                    <a:pt x="733044" y="197815"/>
                  </a:lnTo>
                  <a:lnTo>
                    <a:pt x="739140" y="208788"/>
                  </a:lnTo>
                  <a:lnTo>
                    <a:pt x="745236" y="222504"/>
                  </a:lnTo>
                  <a:lnTo>
                    <a:pt x="749808" y="237744"/>
                  </a:lnTo>
                  <a:lnTo>
                    <a:pt x="749808" y="236220"/>
                  </a:lnTo>
                  <a:lnTo>
                    <a:pt x="754380" y="251460"/>
                  </a:lnTo>
                  <a:lnTo>
                    <a:pt x="757428" y="266700"/>
                  </a:lnTo>
                  <a:lnTo>
                    <a:pt x="757428" y="265176"/>
                  </a:lnTo>
                  <a:lnTo>
                    <a:pt x="762000" y="310896"/>
                  </a:lnTo>
                  <a:lnTo>
                    <a:pt x="762000" y="388620"/>
                  </a:lnTo>
                  <a:lnTo>
                    <a:pt x="766572" y="374904"/>
                  </a:lnTo>
                  <a:lnTo>
                    <a:pt x="769620" y="358140"/>
                  </a:lnTo>
                  <a:lnTo>
                    <a:pt x="772668" y="342900"/>
                  </a:lnTo>
                  <a:lnTo>
                    <a:pt x="774192" y="327660"/>
                  </a:lnTo>
                  <a:close/>
                </a:path>
                <a:path w="774700" h="622300">
                  <a:moveTo>
                    <a:pt x="57912" y="452628"/>
                  </a:moveTo>
                  <a:lnTo>
                    <a:pt x="28956" y="399288"/>
                  </a:lnTo>
                  <a:lnTo>
                    <a:pt x="19812" y="370332"/>
                  </a:lnTo>
                  <a:lnTo>
                    <a:pt x="19812" y="371856"/>
                  </a:lnTo>
                  <a:lnTo>
                    <a:pt x="13716" y="341376"/>
                  </a:lnTo>
                  <a:lnTo>
                    <a:pt x="12192" y="326136"/>
                  </a:lnTo>
                  <a:lnTo>
                    <a:pt x="12192" y="388620"/>
                  </a:lnTo>
                  <a:lnTo>
                    <a:pt x="38100" y="446532"/>
                  </a:lnTo>
                  <a:lnTo>
                    <a:pt x="56388" y="472440"/>
                  </a:lnTo>
                  <a:lnTo>
                    <a:pt x="56388" y="452628"/>
                  </a:lnTo>
                  <a:lnTo>
                    <a:pt x="57912" y="452628"/>
                  </a:lnTo>
                  <a:close/>
                </a:path>
                <a:path w="774700" h="622300">
                  <a:moveTo>
                    <a:pt x="57912" y="169164"/>
                  </a:moveTo>
                  <a:lnTo>
                    <a:pt x="56388" y="169164"/>
                  </a:lnTo>
                  <a:lnTo>
                    <a:pt x="56388" y="171450"/>
                  </a:lnTo>
                  <a:lnTo>
                    <a:pt x="57912" y="169164"/>
                  </a:lnTo>
                  <a:close/>
                </a:path>
                <a:path w="774700" h="622300">
                  <a:moveTo>
                    <a:pt x="109728" y="529209"/>
                  </a:moveTo>
                  <a:lnTo>
                    <a:pt x="109728" y="512064"/>
                  </a:lnTo>
                  <a:lnTo>
                    <a:pt x="86868" y="489204"/>
                  </a:lnTo>
                  <a:lnTo>
                    <a:pt x="65532" y="464820"/>
                  </a:lnTo>
                  <a:lnTo>
                    <a:pt x="56388" y="452628"/>
                  </a:lnTo>
                  <a:lnTo>
                    <a:pt x="56388" y="472440"/>
                  </a:lnTo>
                  <a:lnTo>
                    <a:pt x="65532" y="486156"/>
                  </a:lnTo>
                  <a:lnTo>
                    <a:pt x="76200" y="498348"/>
                  </a:lnTo>
                  <a:lnTo>
                    <a:pt x="88392" y="509016"/>
                  </a:lnTo>
                  <a:lnTo>
                    <a:pt x="100584" y="521208"/>
                  </a:lnTo>
                  <a:lnTo>
                    <a:pt x="109728" y="529209"/>
                  </a:lnTo>
                  <a:close/>
                </a:path>
                <a:path w="774700" h="622300">
                  <a:moveTo>
                    <a:pt x="109728" y="111252"/>
                  </a:moveTo>
                  <a:lnTo>
                    <a:pt x="108204" y="111252"/>
                  </a:lnTo>
                  <a:lnTo>
                    <a:pt x="108204" y="112585"/>
                  </a:lnTo>
                  <a:lnTo>
                    <a:pt x="109728" y="111252"/>
                  </a:lnTo>
                  <a:close/>
                </a:path>
                <a:path w="774700" h="622300">
                  <a:moveTo>
                    <a:pt x="275844" y="595884"/>
                  </a:moveTo>
                  <a:lnTo>
                    <a:pt x="257556" y="591312"/>
                  </a:lnTo>
                  <a:lnTo>
                    <a:pt x="224028" y="579120"/>
                  </a:lnTo>
                  <a:lnTo>
                    <a:pt x="224028" y="580644"/>
                  </a:lnTo>
                  <a:lnTo>
                    <a:pt x="207264" y="573024"/>
                  </a:lnTo>
                  <a:lnTo>
                    <a:pt x="192024" y="565404"/>
                  </a:lnTo>
                  <a:lnTo>
                    <a:pt x="192024" y="566928"/>
                  </a:lnTo>
                  <a:lnTo>
                    <a:pt x="176784" y="557784"/>
                  </a:lnTo>
                  <a:lnTo>
                    <a:pt x="147828" y="541020"/>
                  </a:lnTo>
                  <a:lnTo>
                    <a:pt x="134112" y="531876"/>
                  </a:lnTo>
                  <a:lnTo>
                    <a:pt x="121920" y="521208"/>
                  </a:lnTo>
                  <a:lnTo>
                    <a:pt x="108204" y="510540"/>
                  </a:lnTo>
                  <a:lnTo>
                    <a:pt x="109728" y="512064"/>
                  </a:lnTo>
                  <a:lnTo>
                    <a:pt x="109728" y="529209"/>
                  </a:lnTo>
                  <a:lnTo>
                    <a:pt x="112776" y="531876"/>
                  </a:lnTo>
                  <a:lnTo>
                    <a:pt x="126492" y="542544"/>
                  </a:lnTo>
                  <a:lnTo>
                    <a:pt x="141732" y="551688"/>
                  </a:lnTo>
                  <a:lnTo>
                    <a:pt x="170688" y="569976"/>
                  </a:lnTo>
                  <a:lnTo>
                    <a:pt x="236220" y="597408"/>
                  </a:lnTo>
                  <a:lnTo>
                    <a:pt x="274320" y="608457"/>
                  </a:lnTo>
                  <a:lnTo>
                    <a:pt x="274320" y="595884"/>
                  </a:lnTo>
                  <a:lnTo>
                    <a:pt x="275844" y="595884"/>
                  </a:lnTo>
                  <a:close/>
                </a:path>
                <a:path w="774700" h="622300">
                  <a:moveTo>
                    <a:pt x="275844" y="25908"/>
                  </a:moveTo>
                  <a:lnTo>
                    <a:pt x="274320" y="25908"/>
                  </a:lnTo>
                  <a:lnTo>
                    <a:pt x="274320" y="26289"/>
                  </a:lnTo>
                  <a:lnTo>
                    <a:pt x="275844" y="25908"/>
                  </a:lnTo>
                  <a:close/>
                </a:path>
                <a:path w="774700" h="622300">
                  <a:moveTo>
                    <a:pt x="406908" y="621792"/>
                  </a:moveTo>
                  <a:lnTo>
                    <a:pt x="406908" y="609600"/>
                  </a:lnTo>
                  <a:lnTo>
                    <a:pt x="367284" y="609600"/>
                  </a:lnTo>
                  <a:lnTo>
                    <a:pt x="348996" y="608076"/>
                  </a:lnTo>
                  <a:lnTo>
                    <a:pt x="329184" y="606552"/>
                  </a:lnTo>
                  <a:lnTo>
                    <a:pt x="292608" y="600456"/>
                  </a:lnTo>
                  <a:lnTo>
                    <a:pt x="274320" y="595884"/>
                  </a:lnTo>
                  <a:lnTo>
                    <a:pt x="274320" y="608457"/>
                  </a:lnTo>
                  <a:lnTo>
                    <a:pt x="291084" y="612648"/>
                  </a:lnTo>
                  <a:lnTo>
                    <a:pt x="327660" y="618744"/>
                  </a:lnTo>
                  <a:lnTo>
                    <a:pt x="367284" y="621792"/>
                  </a:lnTo>
                  <a:lnTo>
                    <a:pt x="406908" y="621792"/>
                  </a:lnTo>
                  <a:close/>
                </a:path>
                <a:path w="774700" h="622300">
                  <a:moveTo>
                    <a:pt x="463296" y="615930"/>
                  </a:moveTo>
                  <a:lnTo>
                    <a:pt x="463296" y="603504"/>
                  </a:lnTo>
                  <a:lnTo>
                    <a:pt x="443484" y="606552"/>
                  </a:lnTo>
                  <a:lnTo>
                    <a:pt x="425196" y="608076"/>
                  </a:lnTo>
                  <a:lnTo>
                    <a:pt x="405384" y="609600"/>
                  </a:lnTo>
                  <a:lnTo>
                    <a:pt x="406908" y="609600"/>
                  </a:lnTo>
                  <a:lnTo>
                    <a:pt x="406908" y="621792"/>
                  </a:lnTo>
                  <a:lnTo>
                    <a:pt x="426720" y="620268"/>
                  </a:lnTo>
                  <a:lnTo>
                    <a:pt x="445008" y="618744"/>
                  </a:lnTo>
                  <a:lnTo>
                    <a:pt x="463296" y="615930"/>
                  </a:lnTo>
                  <a:close/>
                </a:path>
                <a:path w="774700" h="622300">
                  <a:moveTo>
                    <a:pt x="463296" y="18639"/>
                  </a:moveTo>
                  <a:lnTo>
                    <a:pt x="463296" y="18288"/>
                  </a:lnTo>
                  <a:lnTo>
                    <a:pt x="461772" y="18288"/>
                  </a:lnTo>
                  <a:lnTo>
                    <a:pt x="463296" y="18639"/>
                  </a:lnTo>
                  <a:close/>
                </a:path>
                <a:path w="774700" h="622300">
                  <a:moveTo>
                    <a:pt x="481584" y="612902"/>
                  </a:moveTo>
                  <a:lnTo>
                    <a:pt x="481584" y="600456"/>
                  </a:lnTo>
                  <a:lnTo>
                    <a:pt x="461772" y="603504"/>
                  </a:lnTo>
                  <a:lnTo>
                    <a:pt x="463296" y="603504"/>
                  </a:lnTo>
                  <a:lnTo>
                    <a:pt x="463296" y="615930"/>
                  </a:lnTo>
                  <a:lnTo>
                    <a:pt x="464820" y="615696"/>
                  </a:lnTo>
                  <a:lnTo>
                    <a:pt x="481584" y="612902"/>
                  </a:lnTo>
                  <a:close/>
                </a:path>
                <a:path w="774700" h="622300">
                  <a:moveTo>
                    <a:pt x="481584" y="23114"/>
                  </a:moveTo>
                  <a:lnTo>
                    <a:pt x="481584" y="22860"/>
                  </a:lnTo>
                  <a:lnTo>
                    <a:pt x="480060" y="22860"/>
                  </a:lnTo>
                  <a:lnTo>
                    <a:pt x="481584" y="23114"/>
                  </a:lnTo>
                  <a:close/>
                </a:path>
                <a:path w="774700" h="622300">
                  <a:moveTo>
                    <a:pt x="597408" y="572746"/>
                  </a:moveTo>
                  <a:lnTo>
                    <a:pt x="597408" y="557784"/>
                  </a:lnTo>
                  <a:lnTo>
                    <a:pt x="582168" y="566928"/>
                  </a:lnTo>
                  <a:lnTo>
                    <a:pt x="582168" y="565404"/>
                  </a:lnTo>
                  <a:lnTo>
                    <a:pt x="565404" y="573024"/>
                  </a:lnTo>
                  <a:lnTo>
                    <a:pt x="550164" y="580644"/>
                  </a:lnTo>
                  <a:lnTo>
                    <a:pt x="550164" y="579120"/>
                  </a:lnTo>
                  <a:lnTo>
                    <a:pt x="516636" y="591312"/>
                  </a:lnTo>
                  <a:lnTo>
                    <a:pt x="480060" y="600456"/>
                  </a:lnTo>
                  <a:lnTo>
                    <a:pt x="481584" y="600456"/>
                  </a:lnTo>
                  <a:lnTo>
                    <a:pt x="481584" y="612902"/>
                  </a:lnTo>
                  <a:lnTo>
                    <a:pt x="483108" y="612648"/>
                  </a:lnTo>
                  <a:lnTo>
                    <a:pt x="519684" y="603504"/>
                  </a:lnTo>
                  <a:lnTo>
                    <a:pt x="536448" y="597408"/>
                  </a:lnTo>
                  <a:lnTo>
                    <a:pt x="554736" y="591312"/>
                  </a:lnTo>
                  <a:lnTo>
                    <a:pt x="571500" y="585216"/>
                  </a:lnTo>
                  <a:lnTo>
                    <a:pt x="586740" y="577596"/>
                  </a:lnTo>
                  <a:lnTo>
                    <a:pt x="597408" y="572746"/>
                  </a:lnTo>
                  <a:close/>
                </a:path>
                <a:path w="774700" h="622300">
                  <a:moveTo>
                    <a:pt x="597408" y="64846"/>
                  </a:moveTo>
                  <a:lnTo>
                    <a:pt x="597408" y="64008"/>
                  </a:lnTo>
                  <a:lnTo>
                    <a:pt x="595884" y="64008"/>
                  </a:lnTo>
                  <a:lnTo>
                    <a:pt x="597408" y="64846"/>
                  </a:lnTo>
                  <a:close/>
                </a:path>
                <a:path w="774700" h="622300">
                  <a:moveTo>
                    <a:pt x="626364" y="555538"/>
                  </a:moveTo>
                  <a:lnTo>
                    <a:pt x="626364" y="541020"/>
                  </a:lnTo>
                  <a:lnTo>
                    <a:pt x="595884" y="557784"/>
                  </a:lnTo>
                  <a:lnTo>
                    <a:pt x="597408" y="557784"/>
                  </a:lnTo>
                  <a:lnTo>
                    <a:pt x="597408" y="572746"/>
                  </a:lnTo>
                  <a:lnTo>
                    <a:pt x="603504" y="569976"/>
                  </a:lnTo>
                  <a:lnTo>
                    <a:pt x="626364" y="555538"/>
                  </a:lnTo>
                  <a:close/>
                </a:path>
                <a:path w="774700" h="622300">
                  <a:moveTo>
                    <a:pt x="626364" y="81838"/>
                  </a:moveTo>
                  <a:lnTo>
                    <a:pt x="626364" y="80772"/>
                  </a:lnTo>
                  <a:lnTo>
                    <a:pt x="624840" y="80772"/>
                  </a:lnTo>
                  <a:lnTo>
                    <a:pt x="626364" y="81838"/>
                  </a:lnTo>
                  <a:close/>
                </a:path>
                <a:path w="774700" h="622300">
                  <a:moveTo>
                    <a:pt x="640080" y="546608"/>
                  </a:moveTo>
                  <a:lnTo>
                    <a:pt x="640080" y="531876"/>
                  </a:lnTo>
                  <a:lnTo>
                    <a:pt x="624840" y="541020"/>
                  </a:lnTo>
                  <a:lnTo>
                    <a:pt x="626364" y="541020"/>
                  </a:lnTo>
                  <a:lnTo>
                    <a:pt x="626364" y="555538"/>
                  </a:lnTo>
                  <a:lnTo>
                    <a:pt x="632460" y="551688"/>
                  </a:lnTo>
                  <a:lnTo>
                    <a:pt x="640080" y="546608"/>
                  </a:lnTo>
                  <a:close/>
                </a:path>
                <a:path w="774700" h="622300">
                  <a:moveTo>
                    <a:pt x="640080" y="91440"/>
                  </a:moveTo>
                  <a:lnTo>
                    <a:pt x="638556" y="89916"/>
                  </a:lnTo>
                  <a:lnTo>
                    <a:pt x="638556" y="90373"/>
                  </a:lnTo>
                  <a:lnTo>
                    <a:pt x="640080" y="91440"/>
                  </a:lnTo>
                  <a:close/>
                </a:path>
                <a:path w="774700" h="622300">
                  <a:moveTo>
                    <a:pt x="733044" y="451104"/>
                  </a:moveTo>
                  <a:lnTo>
                    <a:pt x="733044" y="426720"/>
                  </a:lnTo>
                  <a:lnTo>
                    <a:pt x="725424" y="440436"/>
                  </a:lnTo>
                  <a:lnTo>
                    <a:pt x="697992" y="477012"/>
                  </a:lnTo>
                  <a:lnTo>
                    <a:pt x="687324" y="489204"/>
                  </a:lnTo>
                  <a:lnTo>
                    <a:pt x="664464" y="512064"/>
                  </a:lnTo>
                  <a:lnTo>
                    <a:pt x="664464" y="510540"/>
                  </a:lnTo>
                  <a:lnTo>
                    <a:pt x="652272" y="521208"/>
                  </a:lnTo>
                  <a:lnTo>
                    <a:pt x="638556" y="531876"/>
                  </a:lnTo>
                  <a:lnTo>
                    <a:pt x="640080" y="531876"/>
                  </a:lnTo>
                  <a:lnTo>
                    <a:pt x="640080" y="546608"/>
                  </a:lnTo>
                  <a:lnTo>
                    <a:pt x="673608" y="521208"/>
                  </a:lnTo>
                  <a:lnTo>
                    <a:pt x="707136" y="486156"/>
                  </a:lnTo>
                  <a:lnTo>
                    <a:pt x="726948" y="460248"/>
                  </a:lnTo>
                  <a:lnTo>
                    <a:pt x="733044" y="451104"/>
                  </a:lnTo>
                  <a:close/>
                </a:path>
                <a:path w="774700" h="622300">
                  <a:moveTo>
                    <a:pt x="733044" y="197815"/>
                  </a:moveTo>
                  <a:lnTo>
                    <a:pt x="733044" y="195072"/>
                  </a:lnTo>
                  <a:lnTo>
                    <a:pt x="731520" y="195072"/>
                  </a:lnTo>
                  <a:lnTo>
                    <a:pt x="733044" y="197815"/>
                  </a:lnTo>
                  <a:close/>
                </a:path>
                <a:path w="774700" h="622300">
                  <a:moveTo>
                    <a:pt x="762000" y="388620"/>
                  </a:moveTo>
                  <a:lnTo>
                    <a:pt x="762000" y="310896"/>
                  </a:lnTo>
                  <a:lnTo>
                    <a:pt x="757428" y="356616"/>
                  </a:lnTo>
                  <a:lnTo>
                    <a:pt x="754380" y="371856"/>
                  </a:lnTo>
                  <a:lnTo>
                    <a:pt x="754380" y="370332"/>
                  </a:lnTo>
                  <a:lnTo>
                    <a:pt x="749808" y="385572"/>
                  </a:lnTo>
                  <a:lnTo>
                    <a:pt x="745236" y="399288"/>
                  </a:lnTo>
                  <a:lnTo>
                    <a:pt x="739140" y="413004"/>
                  </a:lnTo>
                  <a:lnTo>
                    <a:pt x="731520" y="426720"/>
                  </a:lnTo>
                  <a:lnTo>
                    <a:pt x="733044" y="426720"/>
                  </a:lnTo>
                  <a:lnTo>
                    <a:pt x="733044" y="451104"/>
                  </a:lnTo>
                  <a:lnTo>
                    <a:pt x="736092" y="446532"/>
                  </a:lnTo>
                  <a:lnTo>
                    <a:pt x="743712" y="432816"/>
                  </a:lnTo>
                  <a:lnTo>
                    <a:pt x="749808" y="419100"/>
                  </a:lnTo>
                  <a:lnTo>
                    <a:pt x="762000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11355" y="5427977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8632" y="5915657"/>
            <a:ext cx="772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Estado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anterior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7431" y="5883653"/>
            <a:ext cx="650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Novo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libri"/>
                <a:cs typeface="Calibri"/>
              </a:rPr>
              <a:t>estado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2888" y="5016498"/>
            <a:ext cx="11747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marR="5080" indent="-52006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Símbolo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libri"/>
                <a:cs typeface="Calibri"/>
              </a:rPr>
              <a:t>lido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8821" y="4421123"/>
            <a:ext cx="3819144" cy="2572511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32588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Na</a:t>
            </a:r>
            <a:r>
              <a:rPr sz="32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aula</a:t>
            </a:r>
            <a:r>
              <a:rPr sz="32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</a:t>
            </a:r>
            <a:r>
              <a:rPr sz="3200" spc="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hoje...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3691" y="3883466"/>
            <a:ext cx="9144000" cy="3429000"/>
            <a:chOff x="774073" y="3777996"/>
            <a:chExt cx="9144000" cy="3429000"/>
          </a:xfrm>
        </p:grpSpPr>
        <p:sp>
          <p:nvSpPr>
            <p:cNvPr id="8" name="object 8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0" y="0"/>
                  </a:moveTo>
                  <a:lnTo>
                    <a:pt x="0" y="3428999"/>
                  </a:lnTo>
                  <a:lnTo>
                    <a:pt x="9143999" y="3428999"/>
                  </a:lnTo>
                  <a:lnTo>
                    <a:pt x="9143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5874" y="4800600"/>
              <a:ext cx="2909570" cy="1842770"/>
            </a:xfrm>
            <a:custGeom>
              <a:avLst/>
              <a:gdLst/>
              <a:ahLst/>
              <a:cxnLst/>
              <a:rect l="l" t="t" r="r" b="b"/>
              <a:pathLst>
                <a:path w="2909570" h="1842770">
                  <a:moveTo>
                    <a:pt x="2909316" y="1842516"/>
                  </a:moveTo>
                  <a:lnTo>
                    <a:pt x="2909316" y="0"/>
                  </a:lnTo>
                  <a:lnTo>
                    <a:pt x="0" y="0"/>
                  </a:lnTo>
                  <a:lnTo>
                    <a:pt x="0" y="1842516"/>
                  </a:lnTo>
                  <a:lnTo>
                    <a:pt x="6096" y="18425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13716" y="13716"/>
                  </a:lnTo>
                  <a:lnTo>
                    <a:pt x="2895600" y="13716"/>
                  </a:lnTo>
                  <a:lnTo>
                    <a:pt x="2895600" y="6096"/>
                  </a:lnTo>
                  <a:lnTo>
                    <a:pt x="2901696" y="13716"/>
                  </a:lnTo>
                  <a:lnTo>
                    <a:pt x="2901696" y="1842516"/>
                  </a:lnTo>
                  <a:lnTo>
                    <a:pt x="2909316" y="1842516"/>
                  </a:lnTo>
                  <a:close/>
                </a:path>
                <a:path w="2909570" h="1842770">
                  <a:moveTo>
                    <a:pt x="13716" y="13716"/>
                  </a:moveTo>
                  <a:lnTo>
                    <a:pt x="13716" y="6096"/>
                  </a:lnTo>
                  <a:lnTo>
                    <a:pt x="6096" y="13716"/>
                  </a:lnTo>
                  <a:lnTo>
                    <a:pt x="13716" y="13716"/>
                  </a:lnTo>
                  <a:close/>
                </a:path>
                <a:path w="2909570" h="1842770">
                  <a:moveTo>
                    <a:pt x="13716" y="1828800"/>
                  </a:moveTo>
                  <a:lnTo>
                    <a:pt x="13716" y="13716"/>
                  </a:lnTo>
                  <a:lnTo>
                    <a:pt x="6096" y="13716"/>
                  </a:lnTo>
                  <a:lnTo>
                    <a:pt x="6096" y="1828800"/>
                  </a:lnTo>
                  <a:lnTo>
                    <a:pt x="13716" y="1828800"/>
                  </a:lnTo>
                  <a:close/>
                </a:path>
                <a:path w="2909570" h="1842770">
                  <a:moveTo>
                    <a:pt x="2901696" y="1828800"/>
                  </a:moveTo>
                  <a:lnTo>
                    <a:pt x="6096" y="1828800"/>
                  </a:lnTo>
                  <a:lnTo>
                    <a:pt x="13716" y="1834896"/>
                  </a:lnTo>
                  <a:lnTo>
                    <a:pt x="13716" y="1842516"/>
                  </a:lnTo>
                  <a:lnTo>
                    <a:pt x="2895600" y="1842516"/>
                  </a:lnTo>
                  <a:lnTo>
                    <a:pt x="2895600" y="1834896"/>
                  </a:lnTo>
                  <a:lnTo>
                    <a:pt x="2901696" y="1828800"/>
                  </a:lnTo>
                  <a:close/>
                </a:path>
                <a:path w="2909570" h="1842770">
                  <a:moveTo>
                    <a:pt x="13716" y="1842516"/>
                  </a:moveTo>
                  <a:lnTo>
                    <a:pt x="13716" y="1834896"/>
                  </a:lnTo>
                  <a:lnTo>
                    <a:pt x="6096" y="1828800"/>
                  </a:lnTo>
                  <a:lnTo>
                    <a:pt x="6096" y="1842516"/>
                  </a:lnTo>
                  <a:lnTo>
                    <a:pt x="13716" y="1842516"/>
                  </a:lnTo>
                  <a:close/>
                </a:path>
                <a:path w="2909570" h="1842770">
                  <a:moveTo>
                    <a:pt x="2901696" y="13716"/>
                  </a:moveTo>
                  <a:lnTo>
                    <a:pt x="2895600" y="6096"/>
                  </a:lnTo>
                  <a:lnTo>
                    <a:pt x="2895600" y="13716"/>
                  </a:lnTo>
                  <a:lnTo>
                    <a:pt x="2901696" y="13716"/>
                  </a:lnTo>
                  <a:close/>
                </a:path>
                <a:path w="2909570" h="1842770">
                  <a:moveTo>
                    <a:pt x="2901696" y="1828800"/>
                  </a:moveTo>
                  <a:lnTo>
                    <a:pt x="2901696" y="13716"/>
                  </a:lnTo>
                  <a:lnTo>
                    <a:pt x="2895600" y="13716"/>
                  </a:lnTo>
                  <a:lnTo>
                    <a:pt x="2895600" y="1828800"/>
                  </a:lnTo>
                  <a:lnTo>
                    <a:pt x="2901696" y="1828800"/>
                  </a:lnTo>
                  <a:close/>
                </a:path>
                <a:path w="2909570" h="1842770">
                  <a:moveTo>
                    <a:pt x="2901696" y="1842516"/>
                  </a:moveTo>
                  <a:lnTo>
                    <a:pt x="2901696" y="1828800"/>
                  </a:lnTo>
                  <a:lnTo>
                    <a:pt x="2895600" y="1834896"/>
                  </a:lnTo>
                  <a:lnTo>
                    <a:pt x="2895600" y="1842516"/>
                  </a:lnTo>
                  <a:lnTo>
                    <a:pt x="2901696" y="1842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2930" y="4905756"/>
              <a:ext cx="2602992" cy="16611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96372" y="5051549"/>
            <a:ext cx="203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080" algn="l"/>
              </a:tabLst>
            </a:pPr>
            <a:r>
              <a:rPr sz="1800" spc="-50" dirty="0">
                <a:latin typeface="Calibri"/>
                <a:cs typeface="Calibri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Calibri"/>
                <a:cs typeface="Calibri"/>
              </a:rPr>
              <a:t>q1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3972" y="5539229"/>
            <a:ext cx="772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Estado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anterior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72771" y="5507225"/>
            <a:ext cx="739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Novos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libri"/>
                <a:cs typeface="Calibri"/>
              </a:rPr>
              <a:t>estados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7696" y="1699361"/>
            <a:ext cx="8555990" cy="2987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buFont typeface="Arial"/>
              <a:buChar char="•"/>
              <a:tabLst>
                <a:tab pos="278130" algn="l"/>
                <a:tab pos="2331720" algn="l"/>
                <a:tab pos="3596640" algn="l"/>
                <a:tab pos="7368540" algn="l"/>
                <a:tab pos="8319770" algn="l"/>
              </a:tabLst>
            </a:pPr>
            <a:r>
              <a:rPr sz="3200" spc="-10" dirty="0">
                <a:latin typeface="Comic Sans MS"/>
                <a:cs typeface="Comic Sans MS"/>
              </a:rPr>
              <a:t>Autômato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finito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Comic Sans MS"/>
                <a:cs typeface="Comic Sans MS"/>
              </a:rPr>
              <a:t>não-</a:t>
            </a:r>
            <a:r>
              <a:rPr sz="3200" spc="-10" dirty="0">
                <a:latin typeface="Comic Sans MS"/>
                <a:cs typeface="Comic Sans MS"/>
              </a:rPr>
              <a:t>determinístico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com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Comic Sans MS"/>
                <a:cs typeface="Comic Sans MS"/>
              </a:rPr>
              <a:t>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sem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 err="1">
                <a:latin typeface="Comic Sans MS"/>
                <a:cs typeface="Comic Sans MS"/>
              </a:rPr>
              <a:t>movimentos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-10" dirty="0" err="1" smtClean="0">
                <a:latin typeface="Comic Sans MS"/>
                <a:cs typeface="Comic Sans MS"/>
              </a:rPr>
              <a:t>vazios</a:t>
            </a:r>
            <a:endParaRPr lang="pt-BR" sz="3200" spc="-10" dirty="0" smtClean="0">
              <a:latin typeface="Comic Sans MS"/>
              <a:cs typeface="Comic Sans MS"/>
            </a:endParaRPr>
          </a:p>
          <a:p>
            <a:pPr marL="12700" marR="5080">
              <a:spcBef>
                <a:spcPts val="100"/>
              </a:spcBef>
              <a:buFont typeface="Arial"/>
              <a:buChar char="•"/>
              <a:tabLst>
                <a:tab pos="278130" algn="l"/>
                <a:tab pos="2331720" algn="l"/>
                <a:tab pos="3596640" algn="l"/>
                <a:tab pos="7368540" algn="l"/>
                <a:tab pos="8319770" algn="l"/>
              </a:tabLst>
            </a:pPr>
            <a:r>
              <a:rPr lang="pt-BR" sz="3200" spc="-10" dirty="0" smtClean="0">
                <a:latin typeface="Comic Sans MS"/>
                <a:cs typeface="Comic Sans MS"/>
              </a:rPr>
              <a:t>Conversão de AFND para AFD</a:t>
            </a:r>
            <a:endParaRPr sz="3200" dirty="0">
              <a:latin typeface="Comic Sans MS"/>
              <a:cs typeface="Comic Sans MS"/>
            </a:endParaRPr>
          </a:p>
          <a:p>
            <a:pPr marL="826135" marR="720090" lvl="1">
              <a:spcBef>
                <a:spcPts val="470"/>
              </a:spcBef>
              <a:buFont typeface="Arial"/>
              <a:buChar char="•"/>
              <a:tabLst>
                <a:tab pos="1056640" algn="l"/>
                <a:tab pos="1541145" algn="l"/>
                <a:tab pos="3276600" algn="l"/>
                <a:tab pos="4117975" algn="l"/>
                <a:tab pos="4506595" algn="l"/>
                <a:tab pos="5660390" algn="l"/>
                <a:tab pos="6265545" algn="l"/>
                <a:tab pos="7356475" algn="l"/>
              </a:tabLst>
            </a:pPr>
            <a:r>
              <a:rPr sz="2800" spc="-50" dirty="0">
                <a:latin typeface="Comic Sans MS"/>
                <a:cs typeface="Comic Sans MS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autômato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tem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Comic Sans MS"/>
                <a:cs typeface="Comic Sans MS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poder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de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estar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Comic Sans MS"/>
                <a:cs typeface="Comic Sans MS"/>
              </a:rPr>
              <a:t>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vários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estados</a:t>
            </a:r>
            <a:r>
              <a:rPr sz="28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ao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mesmo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tempo</a:t>
            </a:r>
            <a:endParaRPr sz="2800" dirty="0">
              <a:latin typeface="Comic Sans MS"/>
              <a:cs typeface="Comic Sans MS"/>
            </a:endParaRPr>
          </a:p>
          <a:p>
            <a:pPr marL="271145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Símbolo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libri"/>
                <a:cs typeface="Calibri"/>
              </a:rPr>
              <a:t>lido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6387" y="5188710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57659" y="6089393"/>
            <a:ext cx="262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q2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8372" y="5432549"/>
            <a:ext cx="147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26230" y="4701540"/>
            <a:ext cx="2656840" cy="1941830"/>
            <a:chOff x="6626230" y="4701540"/>
            <a:chExt cx="2656840" cy="194183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6851" y="4707635"/>
              <a:ext cx="2195390" cy="228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6230" y="4701540"/>
              <a:ext cx="2654300" cy="194005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26230" y="4701540"/>
              <a:ext cx="2656840" cy="1941830"/>
            </a:xfrm>
            <a:custGeom>
              <a:avLst/>
              <a:gdLst/>
              <a:ahLst/>
              <a:cxnLst/>
              <a:rect l="l" t="t" r="r" b="b"/>
              <a:pathLst>
                <a:path w="2656840" h="1941829">
                  <a:moveTo>
                    <a:pt x="2656332" y="1630680"/>
                  </a:moveTo>
                  <a:lnTo>
                    <a:pt x="2656332" y="310896"/>
                  </a:lnTo>
                  <a:lnTo>
                    <a:pt x="2654808" y="294132"/>
                  </a:lnTo>
                  <a:lnTo>
                    <a:pt x="2645664" y="245364"/>
                  </a:lnTo>
                  <a:lnTo>
                    <a:pt x="2630424" y="199644"/>
                  </a:lnTo>
                  <a:lnTo>
                    <a:pt x="2609088" y="156972"/>
                  </a:lnTo>
                  <a:lnTo>
                    <a:pt x="2581656" y="118872"/>
                  </a:lnTo>
                  <a:lnTo>
                    <a:pt x="2523744" y="64008"/>
                  </a:lnTo>
                  <a:lnTo>
                    <a:pt x="2470404" y="32004"/>
                  </a:lnTo>
                  <a:lnTo>
                    <a:pt x="2455164" y="25908"/>
                  </a:lnTo>
                  <a:lnTo>
                    <a:pt x="2441448" y="19812"/>
                  </a:lnTo>
                  <a:lnTo>
                    <a:pt x="2394204" y="6096"/>
                  </a:lnTo>
                  <a:lnTo>
                    <a:pt x="2345436" y="0"/>
                  </a:lnTo>
                  <a:lnTo>
                    <a:pt x="310896" y="0"/>
                  </a:lnTo>
                  <a:lnTo>
                    <a:pt x="277368" y="3048"/>
                  </a:lnTo>
                  <a:lnTo>
                    <a:pt x="262128" y="6096"/>
                  </a:lnTo>
                  <a:lnTo>
                    <a:pt x="245364" y="10668"/>
                  </a:lnTo>
                  <a:lnTo>
                    <a:pt x="230124" y="13716"/>
                  </a:lnTo>
                  <a:lnTo>
                    <a:pt x="185928" y="32004"/>
                  </a:lnTo>
                  <a:lnTo>
                    <a:pt x="131064" y="65532"/>
                  </a:lnTo>
                  <a:lnTo>
                    <a:pt x="96012" y="96012"/>
                  </a:lnTo>
                  <a:lnTo>
                    <a:pt x="65532" y="131064"/>
                  </a:lnTo>
                  <a:lnTo>
                    <a:pt x="56388" y="144780"/>
                  </a:lnTo>
                  <a:lnTo>
                    <a:pt x="47244" y="156972"/>
                  </a:lnTo>
                  <a:lnTo>
                    <a:pt x="25908" y="199644"/>
                  </a:lnTo>
                  <a:lnTo>
                    <a:pt x="10668" y="245364"/>
                  </a:lnTo>
                  <a:lnTo>
                    <a:pt x="4572" y="277368"/>
                  </a:lnTo>
                  <a:lnTo>
                    <a:pt x="1524" y="294132"/>
                  </a:lnTo>
                  <a:lnTo>
                    <a:pt x="0" y="310896"/>
                  </a:lnTo>
                  <a:lnTo>
                    <a:pt x="0" y="1630680"/>
                  </a:lnTo>
                  <a:lnTo>
                    <a:pt x="1524" y="1647444"/>
                  </a:lnTo>
                  <a:lnTo>
                    <a:pt x="4572" y="1662684"/>
                  </a:lnTo>
                  <a:lnTo>
                    <a:pt x="7620" y="1679448"/>
                  </a:lnTo>
                  <a:lnTo>
                    <a:pt x="10668" y="1694688"/>
                  </a:lnTo>
                  <a:lnTo>
                    <a:pt x="12192" y="1700276"/>
                  </a:lnTo>
                  <a:lnTo>
                    <a:pt x="12192" y="327660"/>
                  </a:lnTo>
                  <a:lnTo>
                    <a:pt x="13716" y="310896"/>
                  </a:lnTo>
                  <a:lnTo>
                    <a:pt x="13716" y="295656"/>
                  </a:lnTo>
                  <a:lnTo>
                    <a:pt x="16764" y="278892"/>
                  </a:lnTo>
                  <a:lnTo>
                    <a:pt x="27432" y="233172"/>
                  </a:lnTo>
                  <a:lnTo>
                    <a:pt x="50292" y="176784"/>
                  </a:lnTo>
                  <a:lnTo>
                    <a:pt x="85344" y="126492"/>
                  </a:lnTo>
                  <a:lnTo>
                    <a:pt x="128016" y="83820"/>
                  </a:lnTo>
                  <a:lnTo>
                    <a:pt x="164592" y="57912"/>
                  </a:lnTo>
                  <a:lnTo>
                    <a:pt x="205740" y="36576"/>
                  </a:lnTo>
                  <a:lnTo>
                    <a:pt x="219456" y="32004"/>
                  </a:lnTo>
                  <a:lnTo>
                    <a:pt x="234696" y="25908"/>
                  </a:lnTo>
                  <a:lnTo>
                    <a:pt x="249936" y="22860"/>
                  </a:lnTo>
                  <a:lnTo>
                    <a:pt x="265176" y="18288"/>
                  </a:lnTo>
                  <a:lnTo>
                    <a:pt x="280416" y="15240"/>
                  </a:lnTo>
                  <a:lnTo>
                    <a:pt x="295656" y="13716"/>
                  </a:lnTo>
                  <a:lnTo>
                    <a:pt x="312420" y="12192"/>
                  </a:lnTo>
                  <a:lnTo>
                    <a:pt x="2343912" y="12192"/>
                  </a:lnTo>
                  <a:lnTo>
                    <a:pt x="2360676" y="13716"/>
                  </a:lnTo>
                  <a:lnTo>
                    <a:pt x="2375916" y="15240"/>
                  </a:lnTo>
                  <a:lnTo>
                    <a:pt x="2391156" y="18288"/>
                  </a:lnTo>
                  <a:lnTo>
                    <a:pt x="2406396" y="22860"/>
                  </a:lnTo>
                  <a:lnTo>
                    <a:pt x="2421636" y="25908"/>
                  </a:lnTo>
                  <a:lnTo>
                    <a:pt x="2436876" y="32004"/>
                  </a:lnTo>
                  <a:lnTo>
                    <a:pt x="2450592" y="36576"/>
                  </a:lnTo>
                  <a:lnTo>
                    <a:pt x="2464308" y="44196"/>
                  </a:lnTo>
                  <a:lnTo>
                    <a:pt x="2503932" y="65532"/>
                  </a:lnTo>
                  <a:lnTo>
                    <a:pt x="2551176" y="105156"/>
                  </a:lnTo>
                  <a:lnTo>
                    <a:pt x="2581656" y="138684"/>
                  </a:lnTo>
                  <a:lnTo>
                    <a:pt x="2589276" y="150876"/>
                  </a:lnTo>
                  <a:lnTo>
                    <a:pt x="2598420" y="164592"/>
                  </a:lnTo>
                  <a:lnTo>
                    <a:pt x="2618232" y="204216"/>
                  </a:lnTo>
                  <a:lnTo>
                    <a:pt x="2633472" y="248412"/>
                  </a:lnTo>
                  <a:lnTo>
                    <a:pt x="2642616" y="310896"/>
                  </a:lnTo>
                  <a:lnTo>
                    <a:pt x="2642616" y="1704848"/>
                  </a:lnTo>
                  <a:lnTo>
                    <a:pt x="2645664" y="1694688"/>
                  </a:lnTo>
                  <a:lnTo>
                    <a:pt x="2648712" y="1679448"/>
                  </a:lnTo>
                  <a:lnTo>
                    <a:pt x="2654808" y="1645920"/>
                  </a:lnTo>
                  <a:lnTo>
                    <a:pt x="2656332" y="1630680"/>
                  </a:lnTo>
                  <a:close/>
                </a:path>
                <a:path w="2656840" h="1941829">
                  <a:moveTo>
                    <a:pt x="2642616" y="1704848"/>
                  </a:moveTo>
                  <a:lnTo>
                    <a:pt x="2642616" y="1629156"/>
                  </a:lnTo>
                  <a:lnTo>
                    <a:pt x="2639568" y="1661160"/>
                  </a:lnTo>
                  <a:lnTo>
                    <a:pt x="2633472" y="1691640"/>
                  </a:lnTo>
                  <a:lnTo>
                    <a:pt x="2624328" y="1722120"/>
                  </a:lnTo>
                  <a:lnTo>
                    <a:pt x="2606040" y="1763268"/>
                  </a:lnTo>
                  <a:lnTo>
                    <a:pt x="2596896" y="1776984"/>
                  </a:lnTo>
                  <a:lnTo>
                    <a:pt x="2589276" y="1789176"/>
                  </a:lnTo>
                  <a:lnTo>
                    <a:pt x="2551176" y="1836420"/>
                  </a:lnTo>
                  <a:lnTo>
                    <a:pt x="2503932" y="1874520"/>
                  </a:lnTo>
                  <a:lnTo>
                    <a:pt x="2464308" y="1897380"/>
                  </a:lnTo>
                  <a:lnTo>
                    <a:pt x="2406396" y="1918716"/>
                  </a:lnTo>
                  <a:lnTo>
                    <a:pt x="2360676" y="1926336"/>
                  </a:lnTo>
                  <a:lnTo>
                    <a:pt x="2343912" y="1927860"/>
                  </a:lnTo>
                  <a:lnTo>
                    <a:pt x="310896" y="1927860"/>
                  </a:lnTo>
                  <a:lnTo>
                    <a:pt x="280416" y="1924812"/>
                  </a:lnTo>
                  <a:lnTo>
                    <a:pt x="263652" y="1921764"/>
                  </a:lnTo>
                  <a:lnTo>
                    <a:pt x="248412" y="1918716"/>
                  </a:lnTo>
                  <a:lnTo>
                    <a:pt x="234696" y="1914144"/>
                  </a:lnTo>
                  <a:lnTo>
                    <a:pt x="219456" y="1909572"/>
                  </a:lnTo>
                  <a:lnTo>
                    <a:pt x="164592" y="1882140"/>
                  </a:lnTo>
                  <a:lnTo>
                    <a:pt x="128016" y="1856232"/>
                  </a:lnTo>
                  <a:lnTo>
                    <a:pt x="74676" y="1801368"/>
                  </a:lnTo>
                  <a:lnTo>
                    <a:pt x="67056" y="1789176"/>
                  </a:lnTo>
                  <a:lnTo>
                    <a:pt x="57912" y="1776984"/>
                  </a:lnTo>
                  <a:lnTo>
                    <a:pt x="50292" y="1763268"/>
                  </a:lnTo>
                  <a:lnTo>
                    <a:pt x="32004" y="1722120"/>
                  </a:lnTo>
                  <a:lnTo>
                    <a:pt x="22860" y="1691640"/>
                  </a:lnTo>
                  <a:lnTo>
                    <a:pt x="13716" y="1645920"/>
                  </a:lnTo>
                  <a:lnTo>
                    <a:pt x="13716" y="1629156"/>
                  </a:lnTo>
                  <a:lnTo>
                    <a:pt x="12192" y="1612392"/>
                  </a:lnTo>
                  <a:lnTo>
                    <a:pt x="12192" y="1700276"/>
                  </a:lnTo>
                  <a:lnTo>
                    <a:pt x="15240" y="1711452"/>
                  </a:lnTo>
                  <a:lnTo>
                    <a:pt x="19812" y="1726692"/>
                  </a:lnTo>
                  <a:lnTo>
                    <a:pt x="25908" y="1740408"/>
                  </a:lnTo>
                  <a:lnTo>
                    <a:pt x="32004" y="1755648"/>
                  </a:lnTo>
                  <a:lnTo>
                    <a:pt x="47244" y="1783080"/>
                  </a:lnTo>
                  <a:lnTo>
                    <a:pt x="56388" y="1796796"/>
                  </a:lnTo>
                  <a:lnTo>
                    <a:pt x="65532" y="1808988"/>
                  </a:lnTo>
                  <a:lnTo>
                    <a:pt x="74676" y="1822704"/>
                  </a:lnTo>
                  <a:lnTo>
                    <a:pt x="96012" y="1845564"/>
                  </a:lnTo>
                  <a:lnTo>
                    <a:pt x="118872" y="1866900"/>
                  </a:lnTo>
                  <a:lnTo>
                    <a:pt x="132588" y="1876044"/>
                  </a:lnTo>
                  <a:lnTo>
                    <a:pt x="144780" y="1885188"/>
                  </a:lnTo>
                  <a:lnTo>
                    <a:pt x="158496" y="1894332"/>
                  </a:lnTo>
                  <a:lnTo>
                    <a:pt x="185928" y="1909572"/>
                  </a:lnTo>
                  <a:lnTo>
                    <a:pt x="201168" y="1915668"/>
                  </a:lnTo>
                  <a:lnTo>
                    <a:pt x="214884" y="1921764"/>
                  </a:lnTo>
                  <a:lnTo>
                    <a:pt x="230124" y="1926336"/>
                  </a:lnTo>
                  <a:lnTo>
                    <a:pt x="246888" y="1930908"/>
                  </a:lnTo>
                  <a:lnTo>
                    <a:pt x="262128" y="1933956"/>
                  </a:lnTo>
                  <a:lnTo>
                    <a:pt x="278892" y="1937004"/>
                  </a:lnTo>
                  <a:lnTo>
                    <a:pt x="294132" y="1940052"/>
                  </a:lnTo>
                  <a:lnTo>
                    <a:pt x="310896" y="1940052"/>
                  </a:lnTo>
                  <a:lnTo>
                    <a:pt x="327660" y="1941576"/>
                  </a:lnTo>
                  <a:lnTo>
                    <a:pt x="2328672" y="1941576"/>
                  </a:lnTo>
                  <a:lnTo>
                    <a:pt x="2345436" y="1940052"/>
                  </a:lnTo>
                  <a:lnTo>
                    <a:pt x="2362200" y="1940052"/>
                  </a:lnTo>
                  <a:lnTo>
                    <a:pt x="2378964" y="1937004"/>
                  </a:lnTo>
                  <a:lnTo>
                    <a:pt x="2394204" y="1933956"/>
                  </a:lnTo>
                  <a:lnTo>
                    <a:pt x="2410968" y="1930908"/>
                  </a:lnTo>
                  <a:lnTo>
                    <a:pt x="2441448" y="1921764"/>
                  </a:lnTo>
                  <a:lnTo>
                    <a:pt x="2456688" y="1915668"/>
                  </a:lnTo>
                  <a:lnTo>
                    <a:pt x="2470404" y="1908048"/>
                  </a:lnTo>
                  <a:lnTo>
                    <a:pt x="2484120" y="1901952"/>
                  </a:lnTo>
                  <a:lnTo>
                    <a:pt x="2497836" y="1892808"/>
                  </a:lnTo>
                  <a:lnTo>
                    <a:pt x="2511552" y="1885188"/>
                  </a:lnTo>
                  <a:lnTo>
                    <a:pt x="2523744" y="1876044"/>
                  </a:lnTo>
                  <a:lnTo>
                    <a:pt x="2560320" y="1845564"/>
                  </a:lnTo>
                  <a:lnTo>
                    <a:pt x="2599944" y="1796796"/>
                  </a:lnTo>
                  <a:lnTo>
                    <a:pt x="2624328" y="1755648"/>
                  </a:lnTo>
                  <a:lnTo>
                    <a:pt x="2636520" y="1725168"/>
                  </a:lnTo>
                  <a:lnTo>
                    <a:pt x="2642616" y="1704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57375" y="5031738"/>
            <a:ext cx="21939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estado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p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ler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alibri"/>
                <a:cs typeface="Calibri"/>
              </a:rPr>
              <a:t>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símbolo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assume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q1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q2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novos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estados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atuais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5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6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060195"/>
            <a:ext cx="8557260" cy="570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AFND: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aceitação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rejeição</a:t>
            </a:r>
            <a:endParaRPr sz="2000">
              <a:latin typeface="Comic Sans MS"/>
              <a:cs typeface="Comic Sans MS"/>
            </a:endParaRPr>
          </a:p>
          <a:p>
            <a:pPr marL="12700" marR="6350" algn="just">
              <a:lnSpc>
                <a:spcPct val="150000"/>
              </a:lnSpc>
              <a:spcBef>
                <a:spcPts val="484"/>
              </a:spcBef>
              <a:buFont typeface="Arial"/>
              <a:buChar char="•"/>
              <a:tabLst>
                <a:tab pos="145415" algn="l"/>
              </a:tabLst>
            </a:pPr>
            <a:r>
              <a:rPr sz="1600" spc="-10" dirty="0">
                <a:latin typeface="Comic Sans MS"/>
                <a:cs typeface="Comic Sans MS"/>
              </a:rPr>
              <a:t>Diz-</a:t>
            </a:r>
            <a:r>
              <a:rPr sz="1600" dirty="0">
                <a:latin typeface="Comic Sans MS"/>
                <a:cs typeface="Comic Sans MS"/>
              </a:rPr>
              <a:t>se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que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um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autômato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finito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Comic Sans MS"/>
                <a:cs typeface="Comic Sans MS"/>
              </a:rPr>
              <a:t>não-</a:t>
            </a:r>
            <a:r>
              <a:rPr sz="1600" dirty="0">
                <a:latin typeface="Comic Sans MS"/>
                <a:cs typeface="Comic Sans MS"/>
              </a:rPr>
              <a:t>determinístico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mic Sans MS"/>
                <a:cs typeface="Comic Sans MS"/>
              </a:rPr>
              <a:t>aceita</a:t>
            </a:r>
            <a:r>
              <a:rPr sz="16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uma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cadeia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entrada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quando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houver</a:t>
            </a:r>
            <a:r>
              <a:rPr sz="1600" spc="5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alguma</a:t>
            </a:r>
            <a:r>
              <a:rPr sz="1600" spc="5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sequência</a:t>
            </a:r>
            <a:r>
              <a:rPr sz="1600" spc="5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5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movimentos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que</a:t>
            </a:r>
            <a:r>
              <a:rPr sz="1600" spc="5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o</a:t>
            </a:r>
            <a:r>
              <a:rPr sz="1600" spc="5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leve</a:t>
            </a:r>
            <a:r>
              <a:rPr sz="1600" spc="5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da</a:t>
            </a:r>
            <a:r>
              <a:rPr sz="1600" spc="5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configuração</a:t>
            </a:r>
            <a:r>
              <a:rPr sz="1600" spc="5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inicial</a:t>
            </a:r>
            <a:r>
              <a:rPr sz="1600" spc="5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para</a:t>
            </a:r>
            <a:r>
              <a:rPr sz="1600" spc="509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Comic Sans MS"/>
                <a:cs typeface="Comic Sans MS"/>
              </a:rPr>
              <a:t>uma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configuração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final.</a:t>
            </a:r>
            <a:endParaRPr sz="1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60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  <a:buFont typeface="Arial"/>
              <a:buChar char="•"/>
              <a:tabLst>
                <a:tab pos="84455" algn="l"/>
              </a:tabLst>
            </a:pPr>
            <a:r>
              <a:rPr sz="1600" dirty="0">
                <a:latin typeface="Comic Sans MS"/>
                <a:cs typeface="Comic Sans MS"/>
              </a:rPr>
              <a:t>Diferentemente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do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autômato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finito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determinístico,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em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que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essa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sequência,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se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existir,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Comic Sans MS"/>
                <a:cs typeface="Comic Sans MS"/>
              </a:rPr>
              <a:t>é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única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para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cada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cadeia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entrada,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no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caso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do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autômato</a:t>
            </a:r>
            <a:r>
              <a:rPr sz="1600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finito</a:t>
            </a:r>
            <a:r>
              <a:rPr sz="1600" spc="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omic Sans MS"/>
                <a:cs typeface="Comic Sans MS"/>
              </a:rPr>
              <a:t>não-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determinístico</a:t>
            </a:r>
            <a:r>
              <a:rPr sz="1600" spc="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omic Sans MS"/>
                <a:cs typeface="Comic Sans MS"/>
              </a:rPr>
              <a:t>é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possível</a:t>
            </a:r>
            <a:r>
              <a:rPr sz="1600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que</a:t>
            </a:r>
            <a:r>
              <a:rPr sz="16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exista</a:t>
            </a:r>
            <a:r>
              <a:rPr sz="16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mais</a:t>
            </a:r>
            <a:r>
              <a:rPr sz="16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16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uma</a:t>
            </a:r>
            <a:r>
              <a:rPr sz="16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sequência</a:t>
            </a:r>
            <a:r>
              <a:rPr sz="16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que</a:t>
            </a:r>
            <a:r>
              <a:rPr sz="16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satisfaça</a:t>
            </a:r>
            <a:r>
              <a:rPr sz="16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16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essa</a:t>
            </a:r>
            <a:r>
              <a:rPr sz="16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condição</a:t>
            </a:r>
            <a:r>
              <a:rPr sz="16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para</a:t>
            </a:r>
            <a:r>
              <a:rPr sz="16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uma</a:t>
            </a:r>
            <a:r>
              <a:rPr sz="16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omic Sans MS"/>
                <a:cs typeface="Comic Sans MS"/>
              </a:rPr>
              <a:t>dada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cadeia</a:t>
            </a:r>
            <a:r>
              <a:rPr sz="16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1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mic Sans MS"/>
                <a:cs typeface="Comic Sans MS"/>
              </a:rPr>
              <a:t>entrada.</a:t>
            </a:r>
            <a:endParaRPr sz="1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60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  <a:buFont typeface="Arial"/>
              <a:buChar char="•"/>
              <a:tabLst>
                <a:tab pos="84455" algn="l"/>
              </a:tabLst>
            </a:pPr>
            <a:r>
              <a:rPr sz="1600" dirty="0">
                <a:latin typeface="Comic Sans MS"/>
                <a:cs typeface="Comic Sans MS"/>
              </a:rPr>
              <a:t>Sempre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que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o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AFND</a:t>
            </a:r>
            <a:r>
              <a:rPr sz="16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se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deparar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com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mais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uma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possibilidade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movimentação,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é</a:t>
            </a:r>
            <a:r>
              <a:rPr sz="16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mic Sans MS"/>
                <a:cs typeface="Comic Sans MS"/>
              </a:rPr>
              <a:t>feita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1600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escolha</a:t>
            </a:r>
            <a:r>
              <a:rPr sz="1600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(arbitrária)</a:t>
            </a:r>
            <a:r>
              <a:rPr sz="1600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uma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das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alternativas;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em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caso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de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insucesso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no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reconhecimento,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Comic Sans MS"/>
                <a:cs typeface="Comic Sans MS"/>
              </a:rPr>
              <a:t>deve-</a:t>
            </a:r>
            <a:r>
              <a:rPr sz="1600" dirty="0">
                <a:latin typeface="Comic Sans MS"/>
                <a:cs typeface="Comic Sans MS"/>
              </a:rPr>
              <a:t>se</a:t>
            </a:r>
            <a:r>
              <a:rPr sz="1600" spc="280" dirty="0"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considerar</a:t>
            </a:r>
            <a:r>
              <a:rPr sz="1600" spc="2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sucessivamente</a:t>
            </a:r>
            <a:r>
              <a:rPr sz="1600" spc="2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cada</a:t>
            </a:r>
            <a:r>
              <a:rPr sz="1600" spc="2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uma</a:t>
            </a:r>
            <a:r>
              <a:rPr sz="1600" spc="2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das</a:t>
            </a:r>
            <a:r>
              <a:rPr sz="1600" spc="2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demais</a:t>
            </a:r>
            <a:r>
              <a:rPr sz="1600" spc="2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alternativas</a:t>
            </a:r>
            <a:r>
              <a:rPr sz="1600" spc="29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ainda</a:t>
            </a:r>
            <a:r>
              <a:rPr sz="1600" spc="2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600" spc="-25" dirty="0">
                <a:solidFill>
                  <a:srgbClr val="FF0000"/>
                </a:solidFill>
                <a:latin typeface="Comic Sans MS"/>
                <a:cs typeface="Comic Sans MS"/>
              </a:rPr>
              <a:t>não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omic Sans MS"/>
                <a:cs typeface="Comic Sans MS"/>
              </a:rPr>
              <a:t>consideradas</a:t>
            </a:r>
            <a:r>
              <a:rPr sz="1600" dirty="0">
                <a:latin typeface="Comic Sans MS"/>
                <a:cs typeface="Comic Sans MS"/>
              </a:rPr>
              <a:t>,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até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seu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esgotamento;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persistindo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o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insucesso,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esgotadas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alternativas,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diz-</a:t>
            </a:r>
            <a:r>
              <a:rPr sz="1600" dirty="0">
                <a:latin typeface="Comic Sans MS"/>
                <a:cs typeface="Comic Sans MS"/>
              </a:rPr>
              <a:t>se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que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autômato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mic Sans MS"/>
                <a:cs typeface="Comic Sans MS"/>
              </a:rPr>
              <a:t>rejeita</a:t>
            </a:r>
            <a:r>
              <a:rPr sz="16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Comic Sans MS"/>
                <a:cs typeface="Comic Sans MS"/>
              </a:rPr>
              <a:t>a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cadeia.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76168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Aceitação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rejeição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de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cadeias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em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Comic Sans MS"/>
                <a:cs typeface="Comic Sans MS"/>
              </a:rPr>
              <a:t>AF’s</a:t>
            </a:r>
            <a:endParaRPr sz="3200">
              <a:latin typeface="Comic Sans MS"/>
              <a:cs typeface="Comic Sans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81971" y="2200655"/>
          <a:ext cx="7821929" cy="3016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Dada</a:t>
                      </a:r>
                      <a:r>
                        <a:rPr sz="1800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uma</a:t>
                      </a:r>
                      <a:r>
                        <a:rPr sz="1800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cadeia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1800" spc="2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entrada,</a:t>
                      </a:r>
                      <a:r>
                        <a:rPr sz="180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ele: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25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Aceita</a:t>
                      </a:r>
                      <a:r>
                        <a:rPr sz="1800" spc="2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800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cadeia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1800" spc="3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entrada</a:t>
                      </a:r>
                      <a:r>
                        <a:rPr sz="180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se: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51815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Rejeita</a:t>
                      </a:r>
                      <a:r>
                        <a:rPr sz="1800" spc="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80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cadeia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1800" spc="3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entrada</a:t>
                      </a:r>
                      <a:r>
                        <a:rPr sz="180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se: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1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omic Sans MS"/>
                          <a:cs typeface="Comic Sans MS"/>
                        </a:rPr>
                        <a:t>AFD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403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Executa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uma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única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sequência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movimentos.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46735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Parar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em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uma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configuração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final.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904875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Parar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em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uma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configuração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não-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final.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2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AFND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71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Pode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executar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várias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sequências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distintas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movimentos.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46735" algn="just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Parar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em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uma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configuração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final.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5518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Parar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omic Sans MS"/>
                          <a:cs typeface="Comic Sans MS"/>
                        </a:rPr>
                        <a:t>sem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omic Sans MS"/>
                          <a:cs typeface="Comic Sans MS"/>
                        </a:rPr>
                        <a:t>conseguir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atingir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nenhuma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configuração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omic Sans MS"/>
                          <a:cs typeface="Comic Sans MS"/>
                        </a:rPr>
                        <a:t>final.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34664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Exemplo</a:t>
            </a:r>
            <a:r>
              <a:rPr sz="32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</a:t>
            </a:r>
            <a:r>
              <a:rPr sz="32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00"/>
                </a:solidFill>
              </a:rPr>
              <a:t>AFND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942591"/>
            <a:ext cx="57842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Reconhece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ab*c*</a:t>
            </a:r>
            <a:endParaRPr sz="32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11105" y="2778252"/>
            <a:ext cx="7364095" cy="4006850"/>
            <a:chOff x="1411105" y="2778252"/>
            <a:chExt cx="7364095" cy="40068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8338" y="2778252"/>
              <a:ext cx="5856732" cy="2929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201" y="4992623"/>
              <a:ext cx="1795817" cy="1786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2946" y="4992623"/>
              <a:ext cx="516635" cy="1786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1105" y="4094988"/>
              <a:ext cx="3078476" cy="26837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11105" y="4094988"/>
              <a:ext cx="3084830" cy="2689860"/>
            </a:xfrm>
            <a:custGeom>
              <a:avLst/>
              <a:gdLst/>
              <a:ahLst/>
              <a:cxnLst/>
              <a:rect l="l" t="t" r="r" b="b"/>
              <a:pathLst>
                <a:path w="3084829" h="2689859">
                  <a:moveTo>
                    <a:pt x="1794093" y="891540"/>
                  </a:moveTo>
                  <a:lnTo>
                    <a:pt x="3048" y="891540"/>
                  </a:lnTo>
                  <a:lnTo>
                    <a:pt x="0" y="894588"/>
                  </a:lnTo>
                  <a:lnTo>
                    <a:pt x="0" y="2688336"/>
                  </a:lnTo>
                  <a:lnTo>
                    <a:pt x="3048" y="2689860"/>
                  </a:lnTo>
                  <a:lnTo>
                    <a:pt x="6096" y="2689860"/>
                  </a:lnTo>
                  <a:lnTo>
                    <a:pt x="6096" y="905256"/>
                  </a:lnTo>
                  <a:lnTo>
                    <a:pt x="12192" y="897636"/>
                  </a:lnTo>
                  <a:lnTo>
                    <a:pt x="12192" y="905256"/>
                  </a:lnTo>
                  <a:lnTo>
                    <a:pt x="1792221" y="905256"/>
                  </a:lnTo>
                  <a:lnTo>
                    <a:pt x="1792221" y="896112"/>
                  </a:lnTo>
                  <a:lnTo>
                    <a:pt x="1794093" y="891540"/>
                  </a:lnTo>
                  <a:close/>
                </a:path>
                <a:path w="3084829" h="2689859">
                  <a:moveTo>
                    <a:pt x="12192" y="905256"/>
                  </a:moveTo>
                  <a:lnTo>
                    <a:pt x="12192" y="897636"/>
                  </a:lnTo>
                  <a:lnTo>
                    <a:pt x="6096" y="905256"/>
                  </a:lnTo>
                  <a:lnTo>
                    <a:pt x="12192" y="905256"/>
                  </a:lnTo>
                  <a:close/>
                </a:path>
                <a:path w="3084829" h="2689859">
                  <a:moveTo>
                    <a:pt x="12192" y="2677668"/>
                  </a:moveTo>
                  <a:lnTo>
                    <a:pt x="12192" y="905256"/>
                  </a:lnTo>
                  <a:lnTo>
                    <a:pt x="6096" y="905256"/>
                  </a:lnTo>
                  <a:lnTo>
                    <a:pt x="6096" y="2677668"/>
                  </a:lnTo>
                  <a:lnTo>
                    <a:pt x="12192" y="2677668"/>
                  </a:lnTo>
                  <a:close/>
                </a:path>
                <a:path w="3084829" h="2689859">
                  <a:moveTo>
                    <a:pt x="3078477" y="2677668"/>
                  </a:moveTo>
                  <a:lnTo>
                    <a:pt x="6096" y="2677668"/>
                  </a:lnTo>
                  <a:lnTo>
                    <a:pt x="12192" y="2683764"/>
                  </a:lnTo>
                  <a:lnTo>
                    <a:pt x="12192" y="2689860"/>
                  </a:lnTo>
                  <a:lnTo>
                    <a:pt x="3072381" y="2689860"/>
                  </a:lnTo>
                  <a:lnTo>
                    <a:pt x="3072381" y="2683764"/>
                  </a:lnTo>
                  <a:lnTo>
                    <a:pt x="3078477" y="2677668"/>
                  </a:lnTo>
                  <a:close/>
                </a:path>
                <a:path w="3084829" h="2689859">
                  <a:moveTo>
                    <a:pt x="12192" y="2689860"/>
                  </a:moveTo>
                  <a:lnTo>
                    <a:pt x="12192" y="2683764"/>
                  </a:lnTo>
                  <a:lnTo>
                    <a:pt x="6096" y="2677668"/>
                  </a:lnTo>
                  <a:lnTo>
                    <a:pt x="6096" y="2689860"/>
                  </a:lnTo>
                  <a:lnTo>
                    <a:pt x="12192" y="2689860"/>
                  </a:lnTo>
                  <a:close/>
                </a:path>
                <a:path w="3084829" h="2689859">
                  <a:moveTo>
                    <a:pt x="1798317" y="891540"/>
                  </a:moveTo>
                  <a:lnTo>
                    <a:pt x="1794093" y="891540"/>
                  </a:lnTo>
                  <a:lnTo>
                    <a:pt x="1792221" y="896112"/>
                  </a:lnTo>
                  <a:lnTo>
                    <a:pt x="1798317" y="891540"/>
                  </a:lnTo>
                  <a:close/>
                </a:path>
                <a:path w="3084829" h="2689859">
                  <a:moveTo>
                    <a:pt x="1798317" y="905256"/>
                  </a:moveTo>
                  <a:lnTo>
                    <a:pt x="1798317" y="891540"/>
                  </a:lnTo>
                  <a:lnTo>
                    <a:pt x="1792221" y="896112"/>
                  </a:lnTo>
                  <a:lnTo>
                    <a:pt x="1792221" y="905256"/>
                  </a:lnTo>
                  <a:lnTo>
                    <a:pt x="1798317" y="905256"/>
                  </a:lnTo>
                  <a:close/>
                </a:path>
                <a:path w="3084829" h="2689859">
                  <a:moveTo>
                    <a:pt x="2570449" y="891540"/>
                  </a:moveTo>
                  <a:lnTo>
                    <a:pt x="2170173" y="3048"/>
                  </a:lnTo>
                  <a:lnTo>
                    <a:pt x="2167125" y="0"/>
                  </a:lnTo>
                  <a:lnTo>
                    <a:pt x="2161029" y="0"/>
                  </a:lnTo>
                  <a:lnTo>
                    <a:pt x="2157981" y="3048"/>
                  </a:lnTo>
                  <a:lnTo>
                    <a:pt x="1794093" y="891540"/>
                  </a:lnTo>
                  <a:lnTo>
                    <a:pt x="1798317" y="891540"/>
                  </a:lnTo>
                  <a:lnTo>
                    <a:pt x="1798317" y="905256"/>
                  </a:lnTo>
                  <a:lnTo>
                    <a:pt x="1801365" y="905256"/>
                  </a:lnTo>
                  <a:lnTo>
                    <a:pt x="1802889" y="902208"/>
                  </a:lnTo>
                  <a:lnTo>
                    <a:pt x="1804413" y="900684"/>
                  </a:lnTo>
                  <a:lnTo>
                    <a:pt x="2157981" y="37388"/>
                  </a:lnTo>
                  <a:lnTo>
                    <a:pt x="2157981" y="9144"/>
                  </a:lnTo>
                  <a:lnTo>
                    <a:pt x="2170173" y="7620"/>
                  </a:lnTo>
                  <a:lnTo>
                    <a:pt x="2170173" y="36160"/>
                  </a:lnTo>
                  <a:lnTo>
                    <a:pt x="2560317" y="900684"/>
                  </a:lnTo>
                  <a:lnTo>
                    <a:pt x="2561841" y="903732"/>
                  </a:lnTo>
                  <a:lnTo>
                    <a:pt x="2563365" y="905256"/>
                  </a:lnTo>
                  <a:lnTo>
                    <a:pt x="2566413" y="905256"/>
                  </a:lnTo>
                  <a:lnTo>
                    <a:pt x="2566413" y="891540"/>
                  </a:lnTo>
                  <a:lnTo>
                    <a:pt x="2570449" y="891540"/>
                  </a:lnTo>
                  <a:close/>
                </a:path>
                <a:path w="3084829" h="2689859">
                  <a:moveTo>
                    <a:pt x="2170173" y="7620"/>
                  </a:moveTo>
                  <a:lnTo>
                    <a:pt x="2157981" y="9144"/>
                  </a:lnTo>
                  <a:lnTo>
                    <a:pt x="2164045" y="22581"/>
                  </a:lnTo>
                  <a:lnTo>
                    <a:pt x="2170173" y="7620"/>
                  </a:lnTo>
                  <a:close/>
                </a:path>
                <a:path w="3084829" h="2689859">
                  <a:moveTo>
                    <a:pt x="2164045" y="22581"/>
                  </a:moveTo>
                  <a:lnTo>
                    <a:pt x="2157981" y="9144"/>
                  </a:lnTo>
                  <a:lnTo>
                    <a:pt x="2157981" y="37388"/>
                  </a:lnTo>
                  <a:lnTo>
                    <a:pt x="2164045" y="22581"/>
                  </a:lnTo>
                  <a:close/>
                </a:path>
                <a:path w="3084829" h="2689859">
                  <a:moveTo>
                    <a:pt x="2170173" y="36160"/>
                  </a:moveTo>
                  <a:lnTo>
                    <a:pt x="2170173" y="7620"/>
                  </a:lnTo>
                  <a:lnTo>
                    <a:pt x="2164045" y="22581"/>
                  </a:lnTo>
                  <a:lnTo>
                    <a:pt x="2170173" y="36160"/>
                  </a:lnTo>
                  <a:close/>
                </a:path>
                <a:path w="3084829" h="2689859">
                  <a:moveTo>
                    <a:pt x="2572509" y="896112"/>
                  </a:moveTo>
                  <a:lnTo>
                    <a:pt x="2570449" y="891540"/>
                  </a:lnTo>
                  <a:lnTo>
                    <a:pt x="2566413" y="891540"/>
                  </a:lnTo>
                  <a:lnTo>
                    <a:pt x="2572509" y="896112"/>
                  </a:lnTo>
                  <a:close/>
                </a:path>
                <a:path w="3084829" h="2689859">
                  <a:moveTo>
                    <a:pt x="2572509" y="905256"/>
                  </a:moveTo>
                  <a:lnTo>
                    <a:pt x="2572509" y="896112"/>
                  </a:lnTo>
                  <a:lnTo>
                    <a:pt x="2566413" y="891540"/>
                  </a:lnTo>
                  <a:lnTo>
                    <a:pt x="2566413" y="905256"/>
                  </a:lnTo>
                  <a:lnTo>
                    <a:pt x="2572509" y="905256"/>
                  </a:lnTo>
                  <a:close/>
                </a:path>
                <a:path w="3084829" h="2689859">
                  <a:moveTo>
                    <a:pt x="3084573" y="2688336"/>
                  </a:moveTo>
                  <a:lnTo>
                    <a:pt x="3084573" y="894588"/>
                  </a:lnTo>
                  <a:lnTo>
                    <a:pt x="3081525" y="891540"/>
                  </a:lnTo>
                  <a:lnTo>
                    <a:pt x="2570449" y="891540"/>
                  </a:lnTo>
                  <a:lnTo>
                    <a:pt x="2572509" y="896112"/>
                  </a:lnTo>
                  <a:lnTo>
                    <a:pt x="2572509" y="905256"/>
                  </a:lnTo>
                  <a:lnTo>
                    <a:pt x="3072381" y="905256"/>
                  </a:lnTo>
                  <a:lnTo>
                    <a:pt x="3072381" y="897636"/>
                  </a:lnTo>
                  <a:lnTo>
                    <a:pt x="3078477" y="905256"/>
                  </a:lnTo>
                  <a:lnTo>
                    <a:pt x="3078477" y="2689860"/>
                  </a:lnTo>
                  <a:lnTo>
                    <a:pt x="3081525" y="2689860"/>
                  </a:lnTo>
                  <a:lnTo>
                    <a:pt x="3084573" y="2688336"/>
                  </a:lnTo>
                  <a:close/>
                </a:path>
                <a:path w="3084829" h="2689859">
                  <a:moveTo>
                    <a:pt x="3078477" y="905256"/>
                  </a:moveTo>
                  <a:lnTo>
                    <a:pt x="3072381" y="897636"/>
                  </a:lnTo>
                  <a:lnTo>
                    <a:pt x="3072381" y="905256"/>
                  </a:lnTo>
                  <a:lnTo>
                    <a:pt x="3078477" y="905256"/>
                  </a:lnTo>
                  <a:close/>
                </a:path>
                <a:path w="3084829" h="2689859">
                  <a:moveTo>
                    <a:pt x="3078477" y="2677668"/>
                  </a:moveTo>
                  <a:lnTo>
                    <a:pt x="3078477" y="905256"/>
                  </a:lnTo>
                  <a:lnTo>
                    <a:pt x="3072381" y="905256"/>
                  </a:lnTo>
                  <a:lnTo>
                    <a:pt x="3072381" y="2677668"/>
                  </a:lnTo>
                  <a:lnTo>
                    <a:pt x="3078477" y="2677668"/>
                  </a:lnTo>
                  <a:close/>
                </a:path>
                <a:path w="3084829" h="2689859">
                  <a:moveTo>
                    <a:pt x="3078477" y="2689860"/>
                  </a:moveTo>
                  <a:lnTo>
                    <a:pt x="3078477" y="2677668"/>
                  </a:lnTo>
                  <a:lnTo>
                    <a:pt x="3072381" y="2683764"/>
                  </a:lnTo>
                  <a:lnTo>
                    <a:pt x="3072381" y="2689860"/>
                  </a:lnTo>
                  <a:lnTo>
                    <a:pt x="3078477" y="2689860"/>
                  </a:lnTo>
                  <a:close/>
                </a:path>
              </a:pathLst>
            </a:custGeom>
            <a:solidFill>
              <a:srgbClr val="F69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47761" y="5121654"/>
            <a:ext cx="281051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estado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q0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ao</a:t>
            </a:r>
            <a:r>
              <a:rPr sz="2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ler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símbolo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autômato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vai</a:t>
            </a:r>
            <a:r>
              <a:rPr sz="24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24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estados</a:t>
            </a:r>
            <a:r>
              <a:rPr sz="2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q1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q2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7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8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34925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AFD</a:t>
            </a:r>
            <a:r>
              <a:rPr sz="32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0000"/>
                </a:solidFill>
                <a:latin typeface="Comic Sans MS"/>
                <a:cs typeface="Comic Sans MS"/>
              </a:rPr>
              <a:t>versus</a:t>
            </a:r>
            <a:r>
              <a:rPr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00"/>
                </a:solidFill>
              </a:rPr>
              <a:t>AFND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7696" y="1699361"/>
            <a:ext cx="855853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78130" algn="l"/>
              </a:tabLst>
            </a:pPr>
            <a:r>
              <a:rPr sz="3200" dirty="0">
                <a:latin typeface="Comic Sans MS"/>
                <a:cs typeface="Comic Sans MS"/>
              </a:rPr>
              <a:t>os</a:t>
            </a:r>
            <a:r>
              <a:rPr sz="3200" spc="21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autômatos</a:t>
            </a:r>
            <a:r>
              <a:rPr sz="3200" spc="2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finitos</a:t>
            </a:r>
            <a:r>
              <a:rPr sz="3200" spc="215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Comic Sans MS"/>
                <a:cs typeface="Comic Sans MS"/>
              </a:rPr>
              <a:t>não-determinísticos,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em</a:t>
            </a:r>
            <a:r>
              <a:rPr sz="3200" spc="35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certos</a:t>
            </a:r>
            <a:r>
              <a:rPr sz="3200" spc="3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casos,</a:t>
            </a:r>
            <a:r>
              <a:rPr sz="3200" spc="3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podem</a:t>
            </a:r>
            <a:r>
              <a:rPr sz="3200" spc="355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Comic Sans MS"/>
                <a:cs typeface="Comic Sans MS"/>
              </a:rPr>
              <a:t>mostrar-</a:t>
            </a:r>
            <a:r>
              <a:rPr sz="3200" dirty="0">
                <a:latin typeface="Comic Sans MS"/>
                <a:cs typeface="Comic Sans MS"/>
              </a:rPr>
              <a:t>se</a:t>
            </a:r>
            <a:r>
              <a:rPr sz="3200" spc="350" dirty="0">
                <a:latin typeface="Times New Roman"/>
                <a:cs typeface="Times New Roman"/>
              </a:rPr>
              <a:t>  </a:t>
            </a:r>
            <a:r>
              <a:rPr sz="3200" spc="-20" dirty="0">
                <a:latin typeface="Comic Sans MS"/>
                <a:cs typeface="Comic Sans MS"/>
              </a:rPr>
              <a:t>mais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simples</a:t>
            </a:r>
            <a:r>
              <a:rPr sz="3200" spc="5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de</a:t>
            </a:r>
            <a:r>
              <a:rPr sz="3200" spc="5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serem</a:t>
            </a:r>
            <a:r>
              <a:rPr sz="3200" spc="5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analisados</a:t>
            </a:r>
            <a:r>
              <a:rPr sz="3200" spc="5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do</a:t>
            </a:r>
            <a:r>
              <a:rPr sz="3200" spc="5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Comic Sans MS"/>
                <a:cs typeface="Comic Sans MS"/>
              </a:rPr>
              <a:t>que</a:t>
            </a:r>
            <a:r>
              <a:rPr sz="3200" spc="585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Comic Sans MS"/>
                <a:cs typeface="Comic Sans MS"/>
              </a:rPr>
              <a:t>as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correspondentes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versões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determinísticas</a:t>
            </a:r>
            <a:endParaRPr sz="32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62805" y="5198364"/>
            <a:ext cx="2501265" cy="1632585"/>
            <a:chOff x="6662805" y="5198364"/>
            <a:chExt cx="2501265" cy="1632585"/>
          </a:xfrm>
        </p:grpSpPr>
        <p:sp>
          <p:nvSpPr>
            <p:cNvPr id="10" name="object 10"/>
            <p:cNvSpPr/>
            <p:nvPr/>
          </p:nvSpPr>
          <p:spPr>
            <a:xfrm>
              <a:off x="8327013" y="5200650"/>
              <a:ext cx="36830" cy="5080"/>
            </a:xfrm>
            <a:custGeom>
              <a:avLst/>
              <a:gdLst/>
              <a:ahLst/>
              <a:cxnLst/>
              <a:rect l="l" t="t" r="r" b="b"/>
              <a:pathLst>
                <a:path w="36829" h="5079">
                  <a:moveTo>
                    <a:pt x="13716" y="0"/>
                  </a:moveTo>
                  <a:lnTo>
                    <a:pt x="27432" y="0"/>
                  </a:lnTo>
                </a:path>
                <a:path w="36829" h="5079">
                  <a:moveTo>
                    <a:pt x="0" y="4571"/>
                  </a:moveTo>
                  <a:lnTo>
                    <a:pt x="36576" y="4571"/>
                  </a:lnTo>
                </a:path>
              </a:pathLst>
            </a:custGeom>
            <a:ln w="4572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2805" y="5207508"/>
              <a:ext cx="2500883" cy="16139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27013" y="6823710"/>
              <a:ext cx="36830" cy="5080"/>
            </a:xfrm>
            <a:custGeom>
              <a:avLst/>
              <a:gdLst/>
              <a:ahLst/>
              <a:cxnLst/>
              <a:rect l="l" t="t" r="r" b="b"/>
              <a:pathLst>
                <a:path w="36829" h="5079">
                  <a:moveTo>
                    <a:pt x="0" y="0"/>
                  </a:moveTo>
                  <a:lnTo>
                    <a:pt x="36576" y="0"/>
                  </a:lnTo>
                </a:path>
                <a:path w="36829" h="5079">
                  <a:moveTo>
                    <a:pt x="13716" y="4572"/>
                  </a:moveTo>
                  <a:lnTo>
                    <a:pt x="27432" y="4572"/>
                  </a:lnTo>
                </a:path>
              </a:pathLst>
            </a:custGeom>
            <a:ln w="4572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98166" y="5776973"/>
            <a:ext cx="1251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EXEMPLO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6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7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34925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AFD</a:t>
            </a:r>
            <a:r>
              <a:rPr sz="32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0000"/>
                </a:solidFill>
                <a:latin typeface="Comic Sans MS"/>
                <a:cs typeface="Comic Sans MS"/>
              </a:rPr>
              <a:t>versus</a:t>
            </a:r>
            <a:r>
              <a:rPr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00"/>
                </a:solidFill>
              </a:rPr>
              <a:t>AFND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883155"/>
            <a:ext cx="806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8279" algn="l"/>
                <a:tab pos="6595745" algn="l"/>
              </a:tabLst>
            </a:pPr>
            <a:r>
              <a:rPr sz="2400" dirty="0">
                <a:latin typeface="Comic Sans MS"/>
                <a:cs typeface="Comic Sans MS"/>
              </a:rPr>
              <a:t>AFD: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Reconhece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linguagem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2CC"/>
                </a:solidFill>
                <a:latin typeface="Comic Sans MS"/>
                <a:cs typeface="Comic Sans MS"/>
              </a:rPr>
              <a:t>(a|b|c|d)*abcd</a:t>
            </a:r>
            <a:r>
              <a:rPr sz="24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0032CC"/>
                </a:solidFill>
                <a:latin typeface="Comic Sans MS"/>
                <a:cs typeface="Comic Sans MS"/>
              </a:rPr>
              <a:t>(a|b|c|d)*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788" y="2564892"/>
            <a:ext cx="6795007" cy="12131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7199" y="3777995"/>
            <a:ext cx="7644383" cy="33588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34925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AFD</a:t>
            </a:r>
            <a:r>
              <a:rPr sz="32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0000"/>
                </a:solidFill>
                <a:latin typeface="Comic Sans MS"/>
                <a:cs typeface="Comic Sans MS"/>
              </a:rPr>
              <a:t>versus</a:t>
            </a:r>
            <a:r>
              <a:rPr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00"/>
                </a:solidFill>
              </a:rPr>
              <a:t>AFND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757578"/>
            <a:ext cx="4370070" cy="135128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277495" indent="-265430">
              <a:lnSpc>
                <a:spcPct val="100000"/>
              </a:lnSpc>
              <a:spcBef>
                <a:spcPts val="1960"/>
              </a:spcBef>
              <a:buSzPct val="114285"/>
              <a:buFont typeface="Arial"/>
              <a:buChar char="•"/>
              <a:tabLst>
                <a:tab pos="278130" algn="l"/>
                <a:tab pos="2028825" algn="l"/>
              </a:tabLst>
            </a:pPr>
            <a:r>
              <a:rPr sz="2800" spc="-10" dirty="0">
                <a:latin typeface="Comic Sans MS"/>
                <a:cs typeface="Comic Sans MS"/>
              </a:rPr>
              <a:t>AFND: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Reconhece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  <a:tabLst>
                <a:tab pos="2662555" algn="l"/>
              </a:tabLst>
            </a:pPr>
            <a:r>
              <a:rPr sz="2800" b="1" spc="-10" dirty="0">
                <a:solidFill>
                  <a:srgbClr val="0032CC"/>
                </a:solidFill>
                <a:latin typeface="Comic Sans MS"/>
                <a:cs typeface="Comic Sans MS"/>
              </a:rPr>
              <a:t>(a|b|c|d)*abcd</a:t>
            </a:r>
            <a:r>
              <a:rPr sz="28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0032CC"/>
                </a:solidFill>
                <a:latin typeface="Comic Sans MS"/>
                <a:cs typeface="Comic Sans MS"/>
              </a:rPr>
              <a:t>(a|b|c|d)*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2969" y="1994407"/>
            <a:ext cx="4161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1690" algn="l"/>
                <a:tab pos="2551430" algn="l"/>
              </a:tabLst>
            </a:pPr>
            <a:r>
              <a:rPr sz="2800" spc="-50" dirty="0">
                <a:latin typeface="Comic Sans MS"/>
                <a:cs typeface="Comic Sans MS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Comic Sans MS"/>
                <a:cs typeface="Comic Sans MS"/>
              </a:rPr>
              <a:t>mesma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omic Sans MS"/>
                <a:cs typeface="Comic Sans MS"/>
              </a:rPr>
              <a:t>linguagem</a:t>
            </a:r>
            <a:endParaRPr sz="28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45571" y="3493008"/>
            <a:ext cx="7859395" cy="3446145"/>
            <a:chOff x="1345571" y="3493008"/>
            <a:chExt cx="7859395" cy="34461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5571" y="3493008"/>
              <a:ext cx="7859268" cy="2286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2226" y="5769864"/>
              <a:ext cx="3022600" cy="11689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400175" y="5988809"/>
            <a:ext cx="16795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5080" indent="-14986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Mais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simples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analisado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5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6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418965" y="4796027"/>
          <a:ext cx="3336289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25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q0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{q1,q2}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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3335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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3335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*q1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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302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{q1,q2}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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302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*q2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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175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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175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{q2}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411345" y="5148071"/>
            <a:ext cx="3352800" cy="38100"/>
          </a:xfrm>
          <a:custGeom>
            <a:avLst/>
            <a:gdLst/>
            <a:ahLst/>
            <a:cxnLst/>
            <a:rect l="l" t="t" r="r" b="b"/>
            <a:pathLst>
              <a:path w="3352800" h="38100">
                <a:moveTo>
                  <a:pt x="3352799" y="38099"/>
                </a:moveTo>
                <a:lnTo>
                  <a:pt x="3352799" y="0"/>
                </a:lnTo>
                <a:lnTo>
                  <a:pt x="0" y="0"/>
                </a:lnTo>
                <a:lnTo>
                  <a:pt x="0" y="38099"/>
                </a:lnTo>
                <a:lnTo>
                  <a:pt x="3352799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11345" y="5530595"/>
            <a:ext cx="3352800" cy="13970"/>
          </a:xfrm>
          <a:custGeom>
            <a:avLst/>
            <a:gdLst/>
            <a:ahLst/>
            <a:cxnLst/>
            <a:rect l="l" t="t" r="r" b="b"/>
            <a:pathLst>
              <a:path w="3352800" h="13970">
                <a:moveTo>
                  <a:pt x="3352799" y="13715"/>
                </a:moveTo>
                <a:lnTo>
                  <a:pt x="3352799" y="0"/>
                </a:lnTo>
                <a:lnTo>
                  <a:pt x="0" y="0"/>
                </a:lnTo>
                <a:lnTo>
                  <a:pt x="0" y="13715"/>
                </a:lnTo>
                <a:lnTo>
                  <a:pt x="3352799" y="1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11345" y="5902451"/>
            <a:ext cx="3352800" cy="12700"/>
          </a:xfrm>
          <a:custGeom>
            <a:avLst/>
            <a:gdLst/>
            <a:ahLst/>
            <a:cxnLst/>
            <a:rect l="l" t="t" r="r" b="b"/>
            <a:pathLst>
              <a:path w="3352800" h="12700">
                <a:moveTo>
                  <a:pt x="3352799" y="12191"/>
                </a:moveTo>
                <a:lnTo>
                  <a:pt x="3352799" y="0"/>
                </a:lnTo>
                <a:lnTo>
                  <a:pt x="0" y="0"/>
                </a:lnTo>
                <a:lnTo>
                  <a:pt x="0" y="12191"/>
                </a:lnTo>
                <a:lnTo>
                  <a:pt x="3352799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11345" y="4789932"/>
            <a:ext cx="3352800" cy="12700"/>
          </a:xfrm>
          <a:custGeom>
            <a:avLst/>
            <a:gdLst/>
            <a:ahLst/>
            <a:cxnLst/>
            <a:rect l="l" t="t" r="r" b="b"/>
            <a:pathLst>
              <a:path w="3352800" h="12700">
                <a:moveTo>
                  <a:pt x="3352799" y="12191"/>
                </a:moveTo>
                <a:lnTo>
                  <a:pt x="3352799" y="0"/>
                </a:lnTo>
                <a:lnTo>
                  <a:pt x="0" y="0"/>
                </a:lnTo>
                <a:lnTo>
                  <a:pt x="0" y="12191"/>
                </a:lnTo>
                <a:lnTo>
                  <a:pt x="3352799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11345" y="6272783"/>
            <a:ext cx="3352800" cy="12700"/>
          </a:xfrm>
          <a:custGeom>
            <a:avLst/>
            <a:gdLst/>
            <a:ahLst/>
            <a:cxnLst/>
            <a:rect l="l" t="t" r="r" b="b"/>
            <a:pathLst>
              <a:path w="3352800" h="12700">
                <a:moveTo>
                  <a:pt x="3352799" y="12191"/>
                </a:moveTo>
                <a:lnTo>
                  <a:pt x="3352799" y="0"/>
                </a:lnTo>
                <a:lnTo>
                  <a:pt x="0" y="0"/>
                </a:lnTo>
                <a:lnTo>
                  <a:pt x="0" y="12191"/>
                </a:lnTo>
                <a:lnTo>
                  <a:pt x="3352799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67696" y="1096771"/>
            <a:ext cx="8557895" cy="3662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omic Sans MS"/>
                <a:cs typeface="Comic Sans MS"/>
              </a:rPr>
              <a:t>AFND: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notação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tabular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(tabela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de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transição)</a:t>
            </a:r>
            <a:endParaRPr sz="2800" dirty="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  <a:spcBef>
                <a:spcPts val="680"/>
              </a:spcBef>
              <a:buFont typeface="Arial"/>
              <a:buChar char="•"/>
              <a:tabLst>
                <a:tab pos="177800" algn="l"/>
              </a:tabLst>
            </a:pPr>
            <a:r>
              <a:rPr sz="2000" dirty="0">
                <a:latin typeface="Comic Sans MS"/>
                <a:cs typeface="Comic Sans MS"/>
              </a:rPr>
              <a:t>Cada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FF"/>
                </a:solidFill>
                <a:latin typeface="Comic Sans MS"/>
                <a:cs typeface="Comic Sans MS"/>
              </a:rPr>
              <a:t>linha</a:t>
            </a:r>
            <a:r>
              <a:rPr sz="2000" spc="30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tabela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FF"/>
                </a:solidFill>
                <a:latin typeface="Comic Sans MS"/>
                <a:cs typeface="Comic Sans MS"/>
              </a:rPr>
              <a:t>representa</a:t>
            </a:r>
            <a:r>
              <a:rPr sz="2000" spc="30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FF"/>
                </a:solidFill>
                <a:latin typeface="Comic Sans MS"/>
                <a:cs typeface="Comic Sans MS"/>
              </a:rPr>
              <a:t>estado</a:t>
            </a:r>
            <a:r>
              <a:rPr sz="2000" spc="315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distinto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FF"/>
                </a:solidFill>
                <a:latin typeface="Comic Sans MS"/>
                <a:cs typeface="Comic Sans MS"/>
              </a:rPr>
              <a:t>q</a:t>
            </a:r>
            <a:r>
              <a:rPr sz="2000" spc="310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do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autômato,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omic Sans MS"/>
                <a:cs typeface="Comic Sans MS"/>
              </a:rPr>
              <a:t>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cada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coluna</a:t>
            </a:r>
            <a:r>
              <a:rPr sz="2000" spc="4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é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associada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elemento</a:t>
            </a:r>
            <a:r>
              <a:rPr sz="2000" spc="4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distinto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seu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alfabeto</a:t>
            </a:r>
            <a:r>
              <a:rPr sz="2000" spc="4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</a:t>
            </a:r>
            <a:r>
              <a:rPr sz="2000" spc="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entrada.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células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correspondentes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à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intersecção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cada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linha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com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cada</a:t>
            </a:r>
            <a:r>
              <a:rPr sz="2000" spc="5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coluna</a:t>
            </a:r>
            <a:r>
              <a:rPr sz="2000" spc="5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são</a:t>
            </a:r>
            <a:r>
              <a:rPr sz="2000" spc="5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preenchidas</a:t>
            </a:r>
            <a:r>
              <a:rPr sz="2000" spc="5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com</a:t>
            </a:r>
            <a:r>
              <a:rPr sz="2000" spc="5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5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elemento</a:t>
            </a:r>
            <a:r>
              <a:rPr sz="2000" spc="5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(conjunto)</a:t>
            </a:r>
            <a:r>
              <a:rPr sz="2000" spc="5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determinado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pela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função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transição</a:t>
            </a:r>
            <a:endParaRPr sz="20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00" dirty="0">
              <a:latin typeface="Comic Sans MS"/>
              <a:cs typeface="Comic Sans MS"/>
            </a:endParaRPr>
          </a:p>
          <a:p>
            <a:pPr marR="464184" algn="r">
              <a:lnSpc>
                <a:spcPct val="100000"/>
              </a:lnSpc>
            </a:pPr>
            <a:r>
              <a:rPr sz="2000" b="1" dirty="0">
                <a:latin typeface="Comic Sans MS"/>
                <a:cs typeface="Comic Sans MS"/>
              </a:rPr>
              <a:t>notação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tabular</a:t>
            </a:r>
            <a:endParaRPr sz="2000" dirty="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839" y="4413503"/>
            <a:ext cx="5000244" cy="249936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9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169957"/>
            <a:ext cx="5506157" cy="430887"/>
          </a:xfrm>
        </p:spPr>
        <p:txBody>
          <a:bodyPr/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959634" y="1761163"/>
            <a:ext cx="9072923" cy="429567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Comic Sans MS" panose="030F0702030302020204" pitchFamily="66" charset="0"/>
              </a:rPr>
              <a:t>Seja L a linguagem aceita por um autômato finito não-determinístico sem transições em vazio. Então é possível definir um autômato finito determinístico equivalente que aceita L.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Comic Sans MS" panose="030F0702030302020204" pitchFamily="66" charset="0"/>
              </a:rPr>
              <a:t>O mecanismo de mapeamento é baseado na substituição de todas as transições não-determinísticas do autômato finito não-determinístico original por transições determinísticas para novos estados criados no novo autômato construído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595557" y="6902450"/>
            <a:ext cx="49508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>
                <a:latin typeface="+mj-lt"/>
              </a:rPr>
              <a:t>14</a:t>
            </a:fld>
            <a:endParaRPr lang="pt-BR" sz="1200" b="1" dirty="0">
              <a:latin typeface="+mj-lt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92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205988"/>
            <a:ext cx="4114801" cy="4106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  <a:latin typeface="Comic Sans MS" panose="030F0702030302020204" pitchFamily="66" charset="0"/>
              </a:rPr>
              <a:t>Equivalência de AFD e AFN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961525" y="1790577"/>
            <a:ext cx="9072923" cy="429567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Comic Sans MS" panose="030F0702030302020204" pitchFamily="66" charset="0"/>
              </a:rPr>
              <a:t>Em outras palavras, para cada transição não-determinística distinta presente no autômato original, o algoritmo cria um novo estado e a substitui por uma transição determinística para esse novo estado, copiando as transições dos estados que seriam atingidos pela realização da transição não-determinística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461500" y="6902450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15</a:t>
            </a:fld>
            <a:endParaRPr lang="pt-BR" b="1" dirty="0"/>
          </a:p>
        </p:txBody>
      </p:sp>
      <p:sp>
        <p:nvSpPr>
          <p:cNvPr id="6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98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271983"/>
            <a:ext cx="6066597" cy="3308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Exemplo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3" t="17161" r="36407" b="23923"/>
          <a:stretch/>
        </p:blipFill>
        <p:spPr>
          <a:xfrm>
            <a:off x="3638209" y="2170964"/>
            <a:ext cx="2849461" cy="1776404"/>
          </a:xfrm>
          <a:prstGeom prst="rect">
            <a:avLst/>
          </a:prstGeom>
        </p:spPr>
      </p:pic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461500" y="6978650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16</a:t>
            </a:fld>
            <a:endParaRPr lang="pt-B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ço Reservado para Conteúdo 2"/>
              <p:cNvSpPr txBox="1">
                <a:spLocks/>
              </p:cNvSpPr>
              <p:nvPr/>
            </p:nvSpPr>
            <p:spPr>
              <a:xfrm>
                <a:off x="1389596" y="4122316"/>
                <a:ext cx="9072923" cy="2288187"/>
              </a:xfrm>
              <a:prstGeom prst="rect">
                <a:avLst/>
              </a:prstGeom>
            </p:spPr>
            <p:txBody>
              <a:bodyPr vert="horz" lIns="80201" tIns="40100" rIns="80201" bIns="4010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50000"/>
                  </a:lnSpc>
                </a:pPr>
                <a:r>
                  <a:rPr lang="pt-BR" sz="2000" dirty="0">
                    <a:latin typeface="Comic Sans MS" panose="030F0702030302020204" pitchFamily="66" charset="0"/>
                  </a:rPr>
                  <a:t>Suponha-se um autômato qualquer que apresente, como parte de sua especificação, uma transição não-determinística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𝑞𝑖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𝑞𝑗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𝑞𝑘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}. </m:t>
                    </m:r>
                  </m:oMath>
                </a14:m>
                <a:r>
                  <a:rPr lang="pt-BR" sz="2000" dirty="0">
                    <a:latin typeface="Comic Sans MS" panose="030F0702030302020204" pitchFamily="66" charset="0"/>
                  </a:rPr>
                  <a:t>Ao criar um novo estado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𝑞𝑗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𝑞𝑘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>
                    <a:latin typeface="Comic Sans MS" panose="030F0702030302020204" pitchFamily="66" charset="0"/>
                  </a:rPr>
                  <a:t>e substituir as transições anteriores por uma única e nova transição determinística </a:t>
                </a:r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𝑞𝑖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𝑞𝑗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𝑞𝑘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8" name="Espaço Reservado para Conteú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96" y="4122316"/>
                <a:ext cx="9072923" cy="2288187"/>
              </a:xfrm>
              <a:prstGeom prst="rect">
                <a:avLst/>
              </a:prstGeom>
              <a:blipFill rotWithShape="0">
                <a:blip r:embed="rId3"/>
                <a:stretch>
                  <a:fillRect l="-739" r="-8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9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129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311319"/>
            <a:ext cx="5423912" cy="330834"/>
          </a:xfrm>
        </p:spPr>
        <p:txBody>
          <a:bodyPr>
            <a:normAutofit fontScale="90000"/>
          </a:bodyPr>
          <a:lstStyle/>
          <a:p>
            <a:r>
              <a:rPr lang="pt-BR" sz="3100" dirty="0">
                <a:solidFill>
                  <a:schemeClr val="tx1"/>
                </a:solidFill>
              </a:rPr>
              <a:t>Equivalência de AFD e AFN</a:t>
            </a:r>
            <a:r>
              <a:rPr lang="pt-BR" dirty="0"/>
              <a:t/>
            </a:r>
            <a:br>
              <a:rPr lang="pt-BR" dirty="0"/>
            </a:br>
            <a:r>
              <a:rPr lang="pt-BR" sz="3100" dirty="0">
                <a:solidFill>
                  <a:schemeClr val="tx1"/>
                </a:solidFill>
              </a:rPr>
              <a:t>Exemplo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537700" y="6902450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17</a:t>
            </a:fld>
            <a:endParaRPr lang="pt-BR" sz="1200" b="1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1" t="17926" r="36846" b="23159"/>
          <a:stretch/>
        </p:blipFill>
        <p:spPr>
          <a:xfrm>
            <a:off x="2548580" y="2652070"/>
            <a:ext cx="5756601" cy="3185533"/>
          </a:xfrm>
          <a:prstGeom prst="rect">
            <a:avLst/>
          </a:prstGeom>
        </p:spPr>
      </p:pic>
      <p:sp>
        <p:nvSpPr>
          <p:cNvPr id="6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8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318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>
              <a:xfrm>
                <a:off x="961525" y="1168459"/>
                <a:ext cx="6642849" cy="430887"/>
              </a:xfrm>
            </p:spPr>
            <p:txBody>
              <a:bodyPr/>
              <a:lstStyle/>
              <a:p>
                <a:r>
                  <a:rPr lang="pt-BR" sz="2800" dirty="0" smtClean="0">
                    <a:solidFill>
                      <a:schemeClr val="tx1"/>
                    </a:solidFill>
                  </a:rPr>
                  <a:t>Algoritmo para conversão AFN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 AFD</a:t>
                </a:r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61525" y="1168459"/>
                <a:ext cx="6642849" cy="430887"/>
              </a:xfrm>
              <a:blipFill rotWithShape="0">
                <a:blip r:embed="rId2"/>
                <a:stretch>
                  <a:fillRect l="-3306" t="-25714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Espaço Reservado para Conteúdo 5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849158" y="2261004"/>
            <a:ext cx="6645606" cy="4117449"/>
          </a:xfrm>
          <a:prstGeom prst="rect">
            <a:avLst/>
          </a:prstGeom>
        </p:spPr>
      </p:pic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621227" y="6902450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18</a:t>
            </a:fld>
            <a:endParaRPr lang="pt-BR" b="1" dirty="0"/>
          </a:p>
        </p:txBody>
      </p:sp>
      <p:sp>
        <p:nvSpPr>
          <p:cNvPr id="7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8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24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162537"/>
            <a:ext cx="6395504" cy="3308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389596" y="2114833"/>
                <a:ext cx="9072923" cy="429567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pt-BR" sz="2000" dirty="0">
                    <a:latin typeface="Comic Sans MS" panose="030F0702030302020204" pitchFamily="66" charset="0"/>
                  </a:rPr>
                  <a:t>Seja o seguinte autômato:</a:t>
                </a:r>
              </a:p>
              <a:p>
                <a:endParaRPr lang="pt-BR" sz="2000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, {</m:t>
                      </m:r>
                      <m:sSub>
                        <m:sSubPr>
                          <m:ctrlPr>
                            <a:rPr lang="el-G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},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sSub>
                        <m:sSubPr>
                          <m:ctrlPr>
                            <a:rPr lang="pt-B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000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000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 = {(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) → {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}, </m:t>
                      </m:r>
                    </m:oMath>
                  </m:oMathPara>
                </a14:m>
                <a:endParaRPr lang="pt-BR" sz="2000" i="1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d>
                        <m:d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→ 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pt-BR" sz="2000" i="1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) → {</m:t>
                      </m:r>
                      <m:sSub>
                        <m:sSub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}}</m:t>
                      </m:r>
                    </m:oMath>
                  </m:oMathPara>
                </a14:m>
                <a:endParaRPr lang="pt-BR" sz="2000" dirty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2}</m:t>
                      </m:r>
                    </m:oMath>
                  </m:oMathPara>
                </a14:m>
                <a:endParaRPr lang="pt-BR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389596" y="2114833"/>
                <a:ext cx="9072923" cy="4295671"/>
              </a:xfrm>
              <a:prstGeom prst="rect">
                <a:avLst/>
              </a:prstGeom>
              <a:blipFill rotWithShape="0">
                <a:blip r:embed="rId2"/>
                <a:stretch>
                  <a:fillRect l="-739" t="-8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461500" y="6871843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19</a:t>
            </a:fld>
            <a:endParaRPr lang="pt-BR" b="1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7" t="6261" r="38456" b="37216"/>
          <a:stretch/>
        </p:blipFill>
        <p:spPr>
          <a:xfrm>
            <a:off x="6082317" y="2989363"/>
            <a:ext cx="3519257" cy="1956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6315767" y="5398069"/>
                <a:ext cx="3305460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7" dirty="0">
                    <a:latin typeface="Comic Sans MS" panose="030F0702030302020204" pitchFamily="66" charset="0"/>
                  </a:rPr>
                  <a:t>Linguagem: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7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7" i="1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  <m:sup>
                        <m:r>
                          <a:rPr lang="pt-BR" sz="2807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pt-BR" sz="2807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7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2807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pt-BR" dirty="0">
                  <a:latin typeface="Comic Sans MS" panose="030F0702030302020204" pitchFamily="66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67" y="5398069"/>
                <a:ext cx="3305460" cy="801310"/>
              </a:xfrm>
              <a:prstGeom prst="rect">
                <a:avLst/>
              </a:prstGeom>
              <a:blipFill rotWithShape="0">
                <a:blip r:embed="rId4"/>
                <a:stretch>
                  <a:fillRect l="-3690" t="-7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39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7" r="44255" b="23420"/>
          <a:stretch/>
        </p:blipFill>
        <p:spPr>
          <a:xfrm>
            <a:off x="5654540" y="2485180"/>
            <a:ext cx="4520862" cy="3178767"/>
          </a:xfrm>
          <a:prstGeom prst="rect">
            <a:avLst/>
          </a:prstGeom>
        </p:spPr>
      </p:pic>
      <p:sp>
        <p:nvSpPr>
          <p:cNvPr id="9" name="Elipse 8"/>
          <p:cNvSpPr/>
          <p:nvPr/>
        </p:nvSpPr>
        <p:spPr>
          <a:xfrm>
            <a:off x="7457269" y="4758270"/>
            <a:ext cx="1251727" cy="1064343"/>
          </a:xfrm>
          <a:prstGeom prst="ellipse">
            <a:avLst/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119429"/>
            <a:ext cx="7768284" cy="3308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389596" y="2114833"/>
            <a:ext cx="4264945" cy="429567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Comic Sans MS" panose="030F0702030302020204" pitchFamily="66" charset="0"/>
              </a:rPr>
              <a:t>Tabela de transições equivalentes ao autômato M</a:t>
            </a:r>
          </a:p>
          <a:p>
            <a:endParaRPr lang="pt-BR" sz="2000" dirty="0">
              <a:latin typeface="Comic Sans MS" panose="030F0702030302020204" pitchFamily="66" charset="0"/>
            </a:endParaRPr>
          </a:p>
          <a:p>
            <a:endParaRPr lang="pt-BR" sz="2000" dirty="0">
              <a:latin typeface="Comic Sans MS" panose="030F0702030302020204" pitchFamily="66" charset="0"/>
            </a:endParaRPr>
          </a:p>
          <a:p>
            <a:r>
              <a:rPr lang="pt-BR" sz="2000" dirty="0">
                <a:latin typeface="Comic Sans MS" panose="030F0702030302020204" pitchFamily="66" charset="0"/>
              </a:rPr>
              <a:t>Eliminar estados inacessíveis</a:t>
            </a:r>
          </a:p>
          <a:p>
            <a:endParaRPr lang="pt-BR" sz="2000" dirty="0">
              <a:latin typeface="Comic Sans MS" panose="030F0702030302020204" pitchFamily="66" charset="0"/>
            </a:endParaRPr>
          </a:p>
          <a:p>
            <a:endParaRPr lang="pt-BR" sz="2000" dirty="0">
              <a:latin typeface="Comic Sans MS" panose="030F0702030302020204" pitchFamily="66" charset="0"/>
            </a:endParaRPr>
          </a:p>
          <a:p>
            <a:endParaRPr lang="pt-BR" sz="2000" dirty="0">
              <a:latin typeface="Comic Sans MS" panose="030F0702030302020204" pitchFamily="66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352084" y="6816947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20</a:t>
            </a:fld>
            <a:endParaRPr lang="pt-BR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823433"/>
                  </p:ext>
                </p:extLst>
              </p:nvPr>
            </p:nvGraphicFramePr>
            <p:xfrm>
              <a:off x="1389595" y="4790304"/>
              <a:ext cx="3620266" cy="1620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849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38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19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095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208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𝜹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8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2}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08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2}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08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2}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208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pt-BR" sz="1600" b="1" dirty="0"/>
                        </a:p>
                      </a:txBody>
                      <a:tcPr marL="80201" marR="80201" marT="40100" marB="40100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2}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2}</m:t>
                                </m:r>
                              </m:oMath>
                            </m:oMathPara>
                          </a14:m>
                          <a:endParaRPr lang="pt-BR" sz="1600" dirty="0"/>
                        </a:p>
                      </a:txBody>
                      <a:tcPr marL="80201" marR="80201" marT="40100" marB="4010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823433"/>
                  </p:ext>
                </p:extLst>
              </p:nvPr>
            </p:nvGraphicFramePr>
            <p:xfrm>
              <a:off x="1389595" y="4790304"/>
              <a:ext cx="3620266" cy="1620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8497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8638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86196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8095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240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562" t="-1887" r="-235393" b="-4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126056" t="-1887" r="-195070" b="-4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226056" t="-1887" r="-95070" b="-4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348120" t="-1887" r="-1504" b="-4169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240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562" t="-100000" r="-235393" b="-3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126056" t="-100000" r="-195070" b="-3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226056" t="-100000" r="-95070" b="-3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348120" t="-100000" r="-1504" b="-30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240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562" t="-203774" r="-235393" b="-2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126056" t="-203774" r="-195070" b="-2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226056" t="-203774" r="-95070" b="-2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348120" t="-203774" r="-1504" b="-215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3240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562" t="-298148" r="-235393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126056" t="-298148" r="-19507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226056" t="-298148" r="-9507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348120" t="-298148" r="-1504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3240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562" t="-405660" r="-235393" b="-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126056" t="-405660" r="-195070" b="-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226056" t="-405660" r="-95070" b="-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0201" marR="80201" marT="40100" marB="40100">
                        <a:blipFill rotWithShape="0">
                          <a:blip r:embed="rId3"/>
                          <a:stretch>
                            <a:fillRect l="-348120" t="-405660" r="-1504" b="-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12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1525" y="1127519"/>
            <a:ext cx="6839286" cy="3308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Exercício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389596" y="2082935"/>
                <a:ext cx="9072923" cy="4295671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pt-BR" sz="2000" dirty="0">
                    <a:latin typeface="Comic Sans MS" panose="030F0702030302020204" pitchFamily="66" charset="0"/>
                  </a:rPr>
                  <a:t>Dado o autômato AFN M que reconhece a linguagem L. Faça a conversão para AFD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𝑝𝑜𝑠𝑠𝑢𝑖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𝑎𝑎𝑎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𝑐𝑜𝑚𝑜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𝑠𝑢𝑓𝑖𝑥𝑜</m:t>
                          </m:r>
                        </m:e>
                      </m:d>
                    </m:oMath>
                  </m:oMathPara>
                </a14:m>
                <a:endParaRPr lang="pt-BR" sz="2000" b="0" dirty="0"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𝑞𝑓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0,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𝑞𝑓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389596" y="2082935"/>
                <a:ext cx="9072923" cy="4295671"/>
              </a:xfrm>
              <a:prstGeom prst="rect">
                <a:avLst/>
              </a:prstGeom>
              <a:blipFill rotWithShape="0">
                <a:blip r:embed="rId2"/>
                <a:stretch>
                  <a:fillRect l="-7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461500" y="6976486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21</a:t>
            </a:fld>
            <a:endParaRPr lang="pt-BR" b="1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9" t="19420" r="18966" b="41701"/>
          <a:stretch/>
        </p:blipFill>
        <p:spPr>
          <a:xfrm>
            <a:off x="2447101" y="3997058"/>
            <a:ext cx="6062606" cy="1783119"/>
          </a:xfrm>
          <a:prstGeom prst="rect">
            <a:avLst/>
          </a:prstGeom>
        </p:spPr>
      </p:pic>
      <p:sp>
        <p:nvSpPr>
          <p:cNvPr id="7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8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912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364" y="1163949"/>
            <a:ext cx="8543681" cy="3308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Exercício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187833" y="2278765"/>
                <a:ext cx="9072923" cy="4295671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pt-BR" sz="2000" dirty="0">
                    <a:latin typeface="Comic Sans MS" panose="030F0702030302020204" pitchFamily="66" charset="0"/>
                  </a:rPr>
                  <a:t>Crie um AFN para reconhecer a linguagem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(0+1)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pt-BR" sz="2000" dirty="0"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000" dirty="0">
                    <a:latin typeface="Comic Sans MS" panose="030F0702030302020204" pitchFamily="66" charset="0"/>
                  </a:rPr>
                  <a:t>Monte a função de transição estendida para o autômato acima que reconheça a palavra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00101</m:t>
                    </m:r>
                  </m:oMath>
                </a14:m>
                <a:endParaRPr lang="pt-BR" sz="2000" b="0" dirty="0">
                  <a:latin typeface="Comic Sans MS" panose="030F0702030302020204" pitchFamily="66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000" dirty="0">
                    <a:latin typeface="Comic Sans MS" panose="030F0702030302020204" pitchFamily="66" charset="0"/>
                  </a:rPr>
                  <a:t>Converta o autômato criado para um AFD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000" dirty="0">
                    <a:latin typeface="Comic Sans MS" panose="030F0702030302020204" pitchFamily="66" charset="0"/>
                  </a:rPr>
                  <a:t>Crie um AFN sobre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={0,1,2,3}</m:t>
                    </m:r>
                  </m:oMath>
                </a14:m>
                <a:r>
                  <a:rPr lang="pt-BR" sz="2000" dirty="0">
                    <a:latin typeface="Comic Sans MS" panose="030F0702030302020204" pitchFamily="66" charset="0"/>
                  </a:rPr>
                  <a:t> tal que o digito final tenha aparecido antes.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187833" y="2278765"/>
                <a:ext cx="9072923" cy="4295671"/>
              </a:xfrm>
              <a:prstGeom prst="rect">
                <a:avLst/>
              </a:prstGeom>
              <a:blipFill rotWithShape="0">
                <a:blip r:embed="rId2"/>
                <a:stretch>
                  <a:fillRect l="-7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461500" y="6801948"/>
            <a:ext cx="68392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22</a:t>
            </a:fld>
            <a:endParaRPr lang="pt-BR" b="1" dirty="0"/>
          </a:p>
        </p:txBody>
      </p:sp>
      <p:sp>
        <p:nvSpPr>
          <p:cNvPr id="6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161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0898" y="1126660"/>
            <a:ext cx="6070801" cy="3308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Equivalência de AFD e AFN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Resolução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294967295"/>
          </p:nvPr>
        </p:nvSpPr>
        <p:spPr>
          <a:xfrm>
            <a:off x="1389596" y="6465524"/>
            <a:ext cx="7564732" cy="32024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9446504" y="6907720"/>
            <a:ext cx="495081" cy="320245"/>
          </a:xfrm>
          <a:prstGeom prst="rect">
            <a:avLst/>
          </a:prstGeom>
        </p:spPr>
        <p:txBody>
          <a:bodyPr/>
          <a:lstStyle/>
          <a:p>
            <a:fld id="{B5B1CBB9-14D4-4DBE-B861-52A6BE02876F}" type="slidenum">
              <a:rPr lang="pt-BR" sz="1200" b="1" smtClean="0"/>
              <a:t>23</a:t>
            </a:fld>
            <a:endParaRPr lang="pt-BR" b="1" dirty="0"/>
          </a:p>
        </p:txBody>
      </p:sp>
      <p:pic>
        <p:nvPicPr>
          <p:cNvPr id="7" name="Imagem 6"/>
          <p:cNvPicPr/>
          <p:nvPr/>
        </p:nvPicPr>
        <p:blipFill>
          <a:blip r:embed="rId2"/>
          <a:stretch>
            <a:fillRect/>
          </a:stretch>
        </p:blipFill>
        <p:spPr>
          <a:xfrm>
            <a:off x="4515455" y="2925006"/>
            <a:ext cx="1662490" cy="1706488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1389596" y="2114833"/>
            <a:ext cx="9072923" cy="4295671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pic>
        <p:nvPicPr>
          <p:cNvPr id="8" name="Imagem 7"/>
          <p:cNvPicPr/>
          <p:nvPr/>
        </p:nvPicPr>
        <p:blipFill>
          <a:blip r:embed="rId2"/>
          <a:stretch>
            <a:fillRect/>
          </a:stretch>
        </p:blipFill>
        <p:spPr>
          <a:xfrm>
            <a:off x="1389596" y="2114833"/>
            <a:ext cx="5680954" cy="4140875"/>
          </a:xfrm>
          <a:prstGeom prst="rect">
            <a:avLst/>
          </a:prstGeom>
        </p:spPr>
      </p:pic>
      <p:sp>
        <p:nvSpPr>
          <p:cNvPr id="9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882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941304"/>
            <a:ext cx="8555355" cy="1630045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0"/>
              </a:spcBef>
              <a:tabLst>
                <a:tab pos="1457325" algn="l"/>
                <a:tab pos="2475230" algn="l"/>
                <a:tab pos="4957445" algn="l"/>
                <a:tab pos="6405245" algn="l"/>
              </a:tabLst>
            </a:pPr>
            <a:r>
              <a:rPr sz="3200" b="1" spc="-20" dirty="0">
                <a:latin typeface="Comic Sans MS"/>
                <a:cs typeface="Comic Sans MS"/>
              </a:rPr>
              <a:t>AFND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spc="-25" dirty="0">
                <a:latin typeface="Comic Sans MS"/>
                <a:cs typeface="Comic Sans MS"/>
              </a:rPr>
              <a:t>com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0032CC"/>
                </a:solidFill>
                <a:latin typeface="Comic Sans MS"/>
                <a:cs typeface="Comic Sans MS"/>
              </a:rPr>
              <a:t>movimentos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0032CC"/>
                </a:solidFill>
                <a:latin typeface="Comic Sans MS"/>
                <a:cs typeface="Comic Sans MS"/>
              </a:rPr>
              <a:t>vazios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latin typeface="Comic Sans MS"/>
                <a:cs typeface="Comic Sans MS"/>
              </a:rPr>
              <a:t>(transições</a:t>
            </a:r>
            <a:endParaRPr sz="3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  <a:tabLst>
                <a:tab pos="730250" algn="l"/>
                <a:tab pos="2028825" algn="l"/>
                <a:tab pos="2636520" algn="l"/>
              </a:tabLst>
            </a:pPr>
            <a:r>
              <a:rPr sz="3200" b="1" spc="-25" dirty="0">
                <a:latin typeface="Comic Sans MS"/>
                <a:cs typeface="Comic Sans MS"/>
              </a:rPr>
              <a:t>em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spc="-10" dirty="0">
                <a:latin typeface="Comic Sans MS"/>
                <a:cs typeface="Comic Sans MS"/>
              </a:rPr>
              <a:t>vazio)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Wingdings"/>
                <a:cs typeface="Wingdings"/>
              </a:rPr>
              <a:t>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spc="-10" dirty="0">
                <a:latin typeface="Comic Sans MS"/>
                <a:cs typeface="Comic Sans MS"/>
              </a:rPr>
              <a:t>AFND</a:t>
            </a:r>
            <a:r>
              <a:rPr sz="4000" spc="-10" dirty="0">
                <a:latin typeface="Symbol"/>
                <a:cs typeface="Symbol"/>
              </a:rPr>
              <a:t>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9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87627"/>
            <a:ext cx="8487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0000"/>
                </a:solidFill>
                <a:latin typeface="Comic Sans MS"/>
                <a:cs typeface="Comic Sans MS"/>
              </a:rPr>
              <a:t>AFND</a:t>
            </a:r>
            <a:r>
              <a:rPr sz="2200" spc="3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00"/>
                </a:solidFill>
                <a:latin typeface="Comic Sans MS"/>
                <a:cs typeface="Comic Sans MS"/>
              </a:rPr>
              <a:t>com</a:t>
            </a:r>
            <a:r>
              <a:rPr sz="2200" spc="3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CC"/>
                </a:solidFill>
                <a:latin typeface="Comic Sans MS"/>
                <a:cs typeface="Comic Sans MS"/>
              </a:rPr>
              <a:t>movimentos</a:t>
            </a:r>
            <a:r>
              <a:rPr sz="2200" spc="36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CC"/>
                </a:solidFill>
                <a:latin typeface="Comic Sans MS"/>
                <a:cs typeface="Comic Sans MS"/>
              </a:rPr>
              <a:t>vazios</a:t>
            </a:r>
            <a:r>
              <a:rPr sz="2200" spc="35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00"/>
                </a:solidFill>
                <a:latin typeface="Comic Sans MS"/>
                <a:cs typeface="Comic Sans MS"/>
              </a:rPr>
              <a:t>(transições</a:t>
            </a:r>
            <a:r>
              <a:rPr sz="2200" spc="3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00"/>
                </a:solidFill>
                <a:latin typeface="Comic Sans MS"/>
                <a:cs typeface="Comic Sans MS"/>
              </a:rPr>
              <a:t>em</a:t>
            </a:r>
            <a:r>
              <a:rPr sz="2200" spc="3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00"/>
                </a:solidFill>
                <a:latin typeface="Comic Sans MS"/>
                <a:cs typeface="Comic Sans MS"/>
              </a:rPr>
              <a:t>vazio)</a:t>
            </a:r>
            <a:r>
              <a:rPr sz="2200" spc="3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Wingdings"/>
                <a:cs typeface="Wingdings"/>
              </a:rPr>
              <a:t></a:t>
            </a:r>
            <a:r>
              <a:rPr sz="2200" spc="3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00"/>
                </a:solidFill>
                <a:latin typeface="Comic Sans MS"/>
                <a:cs typeface="Comic Sans MS"/>
              </a:rPr>
              <a:t>AFND</a:t>
            </a:r>
            <a:r>
              <a:rPr sz="2800" spc="-10" dirty="0">
                <a:solidFill>
                  <a:srgbClr val="000000"/>
                </a:solidFill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2101847"/>
            <a:ext cx="8557260" cy="18046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65"/>
              </a:spcBef>
              <a:buSzPct val="95454"/>
              <a:buFont typeface="Arial"/>
              <a:buChar char="•"/>
              <a:tabLst>
                <a:tab pos="111760" algn="l"/>
              </a:tabLst>
            </a:pPr>
            <a:r>
              <a:rPr sz="2200" dirty="0">
                <a:latin typeface="Comic Sans MS"/>
                <a:cs typeface="Comic Sans MS"/>
              </a:rPr>
              <a:t>AFND</a:t>
            </a:r>
            <a:r>
              <a:rPr sz="2200" spc="1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que</a:t>
            </a:r>
            <a:r>
              <a:rPr sz="2200" spc="1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apresentam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0032CC"/>
                </a:solidFill>
                <a:latin typeface="Comic Sans MS"/>
                <a:cs typeface="Comic Sans MS"/>
              </a:rPr>
              <a:t>transições</a:t>
            </a:r>
            <a:r>
              <a:rPr sz="2200" spc="150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0032CC"/>
                </a:solidFill>
                <a:latin typeface="Comic Sans MS"/>
                <a:cs typeface="Comic Sans MS"/>
              </a:rPr>
              <a:t>em</a:t>
            </a:r>
            <a:r>
              <a:rPr sz="2200" spc="145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0032CC"/>
                </a:solidFill>
                <a:latin typeface="Comic Sans MS"/>
                <a:cs typeface="Comic Sans MS"/>
              </a:rPr>
              <a:t>vazio</a:t>
            </a:r>
            <a:r>
              <a:rPr sz="2200" spc="150" dirty="0">
                <a:solidFill>
                  <a:srgbClr val="0032CC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são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aqueles</a:t>
            </a:r>
            <a:r>
              <a:rPr sz="2200" spc="150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Comic Sans MS"/>
                <a:cs typeface="Comic Sans MS"/>
              </a:rPr>
              <a:t>que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admitem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transições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de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um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estado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para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outro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com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Symbol"/>
                <a:cs typeface="Symbol"/>
              </a:rPr>
              <a:t></a:t>
            </a:r>
            <a:r>
              <a:rPr sz="2400" spc="484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2CC"/>
                </a:solidFill>
                <a:latin typeface="Comic Sans MS"/>
                <a:cs typeface="Comic Sans MS"/>
              </a:rPr>
              <a:t>ou</a:t>
            </a:r>
            <a:r>
              <a:rPr sz="2400" spc="46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2CC"/>
                </a:solidFill>
                <a:latin typeface="Symbol"/>
                <a:cs typeface="Symbol"/>
              </a:rPr>
              <a:t></a:t>
            </a:r>
            <a:r>
              <a:rPr sz="2200" dirty="0">
                <a:latin typeface="Comic Sans MS"/>
                <a:cs typeface="Comic Sans MS"/>
              </a:rPr>
              <a:t>,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omic Sans MS"/>
                <a:cs typeface="Comic Sans MS"/>
              </a:rPr>
              <a:t>além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das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transições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normais,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que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utilizam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os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símbolos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do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alfabeto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de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entrada.</a:t>
            </a:r>
            <a:endParaRPr sz="22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4073" y="3671315"/>
            <a:ext cx="9144000" cy="3535679"/>
            <a:chOff x="774073" y="3671315"/>
            <a:chExt cx="9144000" cy="353567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8393" y="3671315"/>
              <a:ext cx="2732316" cy="1066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0" y="0"/>
                  </a:moveTo>
                  <a:lnTo>
                    <a:pt x="0" y="3428999"/>
                  </a:lnTo>
                  <a:lnTo>
                    <a:pt x="9143999" y="3428999"/>
                  </a:lnTo>
                  <a:lnTo>
                    <a:pt x="9143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67696" y="4953404"/>
            <a:ext cx="855599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  <a:buSzPct val="95454"/>
              <a:buFont typeface="Arial"/>
              <a:buChar char="•"/>
              <a:tabLst>
                <a:tab pos="111760" algn="l"/>
              </a:tabLst>
            </a:pP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Transições</a:t>
            </a:r>
            <a:r>
              <a:rPr sz="2200" spc="6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em</a:t>
            </a:r>
            <a:r>
              <a:rPr sz="2200" spc="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vazio</a:t>
            </a:r>
            <a:r>
              <a:rPr sz="2200" spc="6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são</a:t>
            </a:r>
            <a:r>
              <a:rPr sz="2200" spc="5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executadas</a:t>
            </a:r>
            <a:r>
              <a:rPr sz="2200" spc="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sem</a:t>
            </a:r>
            <a:r>
              <a:rPr sz="2200" spc="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que</a:t>
            </a:r>
            <a:r>
              <a:rPr sz="2200" spc="5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seja</a:t>
            </a:r>
            <a:r>
              <a:rPr sz="2200" spc="6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necessário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consultar</a:t>
            </a:r>
            <a:r>
              <a:rPr sz="22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sz="22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símbolo</a:t>
            </a:r>
            <a:r>
              <a:rPr sz="22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corrente</a:t>
            </a:r>
            <a:r>
              <a:rPr sz="22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da</a:t>
            </a:r>
            <a:r>
              <a:rPr sz="22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fita</a:t>
            </a:r>
            <a:r>
              <a:rPr sz="22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2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entrada,</a:t>
            </a:r>
            <a:r>
              <a:rPr sz="22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2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sua</a:t>
            </a:r>
            <a:r>
              <a:rPr sz="22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execução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nem</a:t>
            </a:r>
            <a:r>
              <a:rPr sz="22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sequer</a:t>
            </a:r>
            <a:r>
              <a:rPr sz="2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causa</a:t>
            </a:r>
            <a:r>
              <a:rPr sz="22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sz="22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deslocamento</a:t>
            </a:r>
            <a:r>
              <a:rPr sz="22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do</a:t>
            </a:r>
            <a:r>
              <a:rPr sz="22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cursor</a:t>
            </a:r>
            <a:r>
              <a:rPr sz="22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2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leitura.</a:t>
            </a:r>
            <a:endParaRPr sz="22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8190" y="3777995"/>
            <a:ext cx="3828288" cy="121462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5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6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991615"/>
            <a:ext cx="978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000000"/>
                </a:solidFill>
              </a:rPr>
              <a:t>AFND</a:t>
            </a:r>
            <a:r>
              <a:rPr sz="2800" spc="-10" dirty="0">
                <a:solidFill>
                  <a:srgbClr val="000000"/>
                </a:solidFill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500022"/>
            <a:ext cx="855599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195580" algn="l"/>
                <a:tab pos="1321435" algn="l"/>
                <a:tab pos="1819910" algn="l"/>
                <a:tab pos="3165475" algn="l"/>
                <a:tab pos="4346575" algn="l"/>
                <a:tab pos="4852670" algn="l"/>
                <a:tab pos="5719445" algn="l"/>
                <a:tab pos="6355080" algn="l"/>
                <a:tab pos="7581900" algn="l"/>
                <a:tab pos="8161020" algn="l"/>
              </a:tabLst>
            </a:pPr>
            <a:r>
              <a:rPr sz="2200" spc="-10" dirty="0">
                <a:latin typeface="Comic Sans MS"/>
                <a:cs typeface="Comic Sans MS"/>
              </a:rPr>
              <a:t>Quando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um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autômato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transita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0000"/>
                </a:solidFill>
                <a:latin typeface="Comic Sans MS"/>
                <a:cs typeface="Comic Sans MS"/>
              </a:rPr>
              <a:t>em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vazio</a:t>
            </a:r>
            <a:r>
              <a:rPr sz="2200" spc="-10" dirty="0">
                <a:latin typeface="Comic Sans MS"/>
                <a:cs typeface="Comic Sans MS"/>
              </a:rPr>
              <a:t>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Comic Sans MS"/>
                <a:cs typeface="Comic Sans MS"/>
              </a:rPr>
              <a:t>isso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Comic Sans MS"/>
                <a:cs typeface="Comic Sans MS"/>
              </a:rPr>
              <a:t>significa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que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Comic Sans MS"/>
                <a:cs typeface="Comic Sans MS"/>
              </a:rPr>
              <a:t>ele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muda</a:t>
            </a:r>
            <a:r>
              <a:rPr sz="22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2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estado</a:t>
            </a:r>
            <a:r>
              <a:rPr sz="22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sem</a:t>
            </a:r>
            <a:r>
              <a:rPr sz="22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consultar</a:t>
            </a:r>
            <a:r>
              <a:rPr sz="22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2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cadeia</a:t>
            </a:r>
            <a:r>
              <a:rPr sz="22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2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entrada</a:t>
            </a:r>
            <a:r>
              <a:rPr sz="2200" spc="-10" dirty="0">
                <a:latin typeface="Comic Sans MS"/>
                <a:cs typeface="Comic Sans MS"/>
              </a:rPr>
              <a:t>.</a:t>
            </a:r>
            <a:endParaRPr sz="22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8190" y="2564891"/>
            <a:ext cx="3828288" cy="14279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67696" y="3947564"/>
            <a:ext cx="8555990" cy="2640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  <a:buSzPct val="95454"/>
              <a:buFont typeface="Arial"/>
              <a:buChar char="•"/>
              <a:tabLst>
                <a:tab pos="111760" algn="l"/>
              </a:tabLst>
            </a:pPr>
            <a:r>
              <a:rPr sz="2200" dirty="0">
                <a:latin typeface="Comic Sans MS"/>
                <a:cs typeface="Comic Sans MS"/>
              </a:rPr>
              <a:t>Sempre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que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ocorrer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simultaneidade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entre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alguma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transição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Comic Sans MS"/>
                <a:cs typeface="Comic Sans MS"/>
              </a:rPr>
              <a:t>em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vazio</a:t>
            </a:r>
            <a:r>
              <a:rPr sz="2200" spc="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e</a:t>
            </a:r>
            <a:r>
              <a:rPr sz="2200" spc="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outras</a:t>
            </a:r>
            <a:r>
              <a:rPr sz="2200" spc="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transições</a:t>
            </a:r>
            <a:r>
              <a:rPr sz="2200" spc="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(vazias</a:t>
            </a:r>
            <a:r>
              <a:rPr sz="2200" spc="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ou</a:t>
            </a:r>
            <a:r>
              <a:rPr sz="2200" spc="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não)</a:t>
            </a:r>
            <a:r>
              <a:rPr sz="2200" spc="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com</a:t>
            </a:r>
            <a:r>
              <a:rPr sz="2200" spc="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origem</a:t>
            </a:r>
            <a:r>
              <a:rPr sz="2200" spc="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em</a:t>
            </a:r>
            <a:r>
              <a:rPr sz="2200" spc="9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Comic Sans MS"/>
                <a:cs typeface="Comic Sans MS"/>
              </a:rPr>
              <a:t>um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mesmo</a:t>
            </a:r>
            <a:r>
              <a:rPr sz="2200" spc="1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estado,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isso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acarreta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204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necessidade</a:t>
            </a:r>
            <a:r>
              <a:rPr sz="2200" spc="1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de</a:t>
            </a:r>
            <a:r>
              <a:rPr sz="2200" spc="204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uma</a:t>
            </a:r>
            <a:r>
              <a:rPr sz="2200" spc="204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Comic Sans MS"/>
                <a:cs typeface="Comic Sans MS"/>
              </a:rPr>
              <a:t>escolha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arbitrária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da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transição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ser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aplicada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na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respectiva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configuração,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mic Sans MS"/>
                <a:cs typeface="Comic Sans MS"/>
              </a:rPr>
              <a:t>e</a:t>
            </a:r>
            <a:r>
              <a:rPr sz="2200" spc="1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isso,</a:t>
            </a:r>
            <a:r>
              <a:rPr sz="2200" spc="1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por</a:t>
            </a:r>
            <a:r>
              <a:rPr sz="2200" spc="1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sua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Comic Sans MS"/>
                <a:cs typeface="Comic Sans MS"/>
              </a:rPr>
              <a:t>vez,</a:t>
            </a:r>
            <a:r>
              <a:rPr sz="2200" spc="155" dirty="0"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caracteriza</a:t>
            </a:r>
            <a:r>
              <a:rPr sz="2200" spc="1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200" spc="1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manifestação</a:t>
            </a:r>
            <a:r>
              <a:rPr sz="2200" spc="14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200" spc="1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um</a:t>
            </a:r>
            <a:r>
              <a:rPr sz="2200" spc="14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não-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determinismo.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50111"/>
            <a:ext cx="1411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000000"/>
                </a:solidFill>
              </a:rPr>
              <a:t>AFND</a:t>
            </a:r>
            <a:r>
              <a:rPr sz="4000" spc="-10" dirty="0">
                <a:solidFill>
                  <a:srgbClr val="000000"/>
                </a:solidFill>
                <a:latin typeface="Symbol"/>
                <a:cs typeface="Symbol"/>
              </a:rPr>
              <a:t>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2125471"/>
            <a:ext cx="4947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Reconhece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cadeia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32CC"/>
                </a:solidFill>
                <a:latin typeface="Comic Sans MS"/>
                <a:cs typeface="Comic Sans MS"/>
              </a:rPr>
              <a:t>a*b*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6838" y="3206495"/>
            <a:ext cx="4785359" cy="178612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52689" y="5508749"/>
            <a:ext cx="2795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56210" algn="l"/>
              </a:tabLst>
            </a:pPr>
            <a:r>
              <a:rPr sz="2000" b="1" dirty="0">
                <a:latin typeface="Calibri"/>
                <a:cs typeface="Calibri"/>
              </a:rPr>
              <a:t>Simule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para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entrada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2CC"/>
                </a:solidFill>
                <a:latin typeface="Calibri"/>
                <a:cs typeface="Calibri"/>
              </a:rPr>
              <a:t>ab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51441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Uso</a:t>
            </a:r>
            <a:r>
              <a:rPr sz="32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</a:t>
            </a:r>
            <a:r>
              <a:rPr sz="32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2CC"/>
                </a:solidFill>
              </a:rPr>
              <a:t>transições</a:t>
            </a:r>
            <a:r>
              <a:rPr sz="3200" spc="165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2CC"/>
                </a:solidFill>
              </a:rPr>
              <a:t>em</a:t>
            </a:r>
            <a:r>
              <a:rPr sz="3200" spc="15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32CC"/>
                </a:solidFill>
              </a:rPr>
              <a:t>vazio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942591"/>
            <a:ext cx="8559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indent="-26543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8130" algn="l"/>
                <a:tab pos="1644650" algn="l"/>
                <a:tab pos="2840990" algn="l"/>
                <a:tab pos="4332605" algn="l"/>
                <a:tab pos="5003165" algn="l"/>
                <a:tab pos="6077585" algn="l"/>
                <a:tab pos="6971030" algn="l"/>
                <a:tab pos="8322945" algn="l"/>
              </a:tabLst>
            </a:pPr>
            <a:r>
              <a:rPr sz="3200" spc="-10" dirty="0">
                <a:latin typeface="Comic Sans MS"/>
                <a:cs typeface="Comic Sans MS"/>
              </a:rPr>
              <a:t>Assim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Comic Sans MS"/>
                <a:cs typeface="Comic Sans MS"/>
              </a:rPr>
              <a:t>como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ocorre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no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Comic Sans MS"/>
                <a:cs typeface="Comic Sans MS"/>
              </a:rPr>
              <a:t>caso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dos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AFD’s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Comic Sans MS"/>
                <a:cs typeface="Comic Sans MS"/>
              </a:rPr>
              <a:t>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696" y="2706114"/>
            <a:ext cx="47097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9280" algn="l"/>
                <a:tab pos="3317875" algn="l"/>
              </a:tabLst>
            </a:pPr>
            <a:r>
              <a:rPr sz="3200" spc="-10" dirty="0">
                <a:latin typeface="Comic Sans MS"/>
                <a:cs typeface="Comic Sans MS"/>
              </a:rPr>
              <a:t>AFND’s,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alguns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32CC"/>
                </a:solidFill>
                <a:latin typeface="Comic Sans MS"/>
                <a:cs typeface="Comic Sans MS"/>
              </a:rPr>
              <a:t>AFND</a:t>
            </a:r>
            <a:r>
              <a:rPr sz="3900" spc="-10" dirty="0">
                <a:solidFill>
                  <a:srgbClr val="0032CC"/>
                </a:solidFill>
                <a:latin typeface="Symbol"/>
                <a:cs typeface="Symbol"/>
              </a:rPr>
              <a:t></a:t>
            </a:r>
            <a:endParaRPr sz="39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8423" y="2794506"/>
            <a:ext cx="35261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4695" algn="l"/>
                <a:tab pos="2676525" algn="l"/>
              </a:tabLst>
            </a:pPr>
            <a:r>
              <a:rPr sz="3200" spc="-25" dirty="0">
                <a:solidFill>
                  <a:srgbClr val="0032CC"/>
                </a:solidFill>
                <a:latin typeface="Comic Sans MS"/>
                <a:cs typeface="Comic Sans MS"/>
              </a:rPr>
              <a:t>se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32CC"/>
                </a:solidFill>
                <a:latin typeface="Comic Sans MS"/>
                <a:cs typeface="Comic Sans MS"/>
              </a:rPr>
              <a:t>mostram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32CC"/>
                </a:solidFill>
                <a:latin typeface="Comic Sans MS"/>
                <a:cs typeface="Comic Sans MS"/>
              </a:rPr>
              <a:t>mais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35606" y="3322420"/>
            <a:ext cx="46907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5420">
              <a:lnSpc>
                <a:spcPct val="150000"/>
              </a:lnSpc>
              <a:spcBef>
                <a:spcPts val="100"/>
              </a:spcBef>
              <a:tabLst>
                <a:tab pos="2165985" algn="l"/>
                <a:tab pos="2463165" algn="l"/>
                <a:tab pos="3270885" algn="l"/>
                <a:tab pos="4213860" algn="l"/>
                <a:tab pos="4270375" algn="l"/>
              </a:tabLst>
            </a:pPr>
            <a:r>
              <a:rPr sz="3200" spc="-10" dirty="0">
                <a:solidFill>
                  <a:srgbClr val="0032CC"/>
                </a:solidFill>
                <a:latin typeface="Comic Sans MS"/>
                <a:cs typeface="Comic Sans MS"/>
              </a:rPr>
              <a:t>analisados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	</a:t>
            </a:r>
            <a:r>
              <a:rPr sz="3200" spc="-25" dirty="0">
                <a:latin typeface="Comic Sans MS"/>
                <a:cs typeface="Comic Sans MS"/>
              </a:rPr>
              <a:t>do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que</a:t>
            </a:r>
            <a:r>
              <a:rPr sz="3200" dirty="0">
                <a:latin typeface="Times New Roman"/>
                <a:cs typeface="Times New Roman"/>
              </a:rPr>
              <a:t>		</a:t>
            </a:r>
            <a:r>
              <a:rPr sz="3200" spc="-25" dirty="0">
                <a:latin typeface="Comic Sans MS"/>
                <a:cs typeface="Comic Sans MS"/>
              </a:rPr>
              <a:t>as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versões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isentas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de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1067696" y="3322420"/>
            <a:ext cx="382714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743710" algn="l"/>
                <a:tab pos="2559050" algn="l"/>
              </a:tabLst>
            </a:pPr>
            <a:r>
              <a:rPr sz="3200" spc="-10" dirty="0">
                <a:solidFill>
                  <a:srgbClr val="0032CC"/>
                </a:solidFill>
                <a:latin typeface="Comic Sans MS"/>
                <a:cs typeface="Comic Sans MS"/>
              </a:rPr>
              <a:t>simples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32CC"/>
                </a:solidFill>
                <a:latin typeface="Comic Sans MS"/>
                <a:cs typeface="Comic Sans MS"/>
              </a:rPr>
              <a:t>de</a:t>
            </a:r>
            <a:r>
              <a:rPr sz="3200" dirty="0">
                <a:solidFill>
                  <a:srgbClr val="0032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32CC"/>
                </a:solidFill>
                <a:latin typeface="Comic Sans MS"/>
                <a:cs typeface="Comic Sans MS"/>
              </a:rPr>
              <a:t>serem</a:t>
            </a:r>
            <a:r>
              <a:rPr sz="3200" spc="-10" dirty="0">
                <a:solidFill>
                  <a:srgbClr val="0032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correspondentes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transições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em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vazio.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4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5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76295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AF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que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reconhece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a*b*c*a*.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sem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movimento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Comic Sans MS"/>
                <a:cs typeface="Comic Sans MS"/>
              </a:rPr>
              <a:t>vazio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199" y="3349752"/>
            <a:ext cx="7001256" cy="328574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76295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AF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que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reconhece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a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linguagem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a*b*c*a*.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dirty="0">
                <a:latin typeface="Comic Sans MS"/>
                <a:cs typeface="Comic Sans MS"/>
              </a:rPr>
              <a:t>com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movimento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Comic Sans MS"/>
                <a:cs typeface="Comic Sans MS"/>
              </a:rPr>
              <a:t>vazio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827" y="3136392"/>
            <a:ext cx="6786371" cy="142798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113535"/>
            <a:ext cx="81991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AF</a:t>
            </a:r>
            <a:r>
              <a:rPr sz="32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com</a:t>
            </a:r>
            <a:r>
              <a:rPr sz="32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e</a:t>
            </a:r>
            <a:r>
              <a:rPr sz="32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sem</a:t>
            </a:r>
            <a:r>
              <a:rPr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movimento</a:t>
            </a:r>
            <a:r>
              <a:rPr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vazio</a:t>
            </a:r>
            <a:r>
              <a:rPr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–</a:t>
            </a:r>
            <a:r>
              <a:rPr sz="3200" spc="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Linguagem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073" y="3777996"/>
            <a:ext cx="9144000" cy="3429000"/>
            <a:chOff x="774073" y="3777996"/>
            <a:chExt cx="9144000" cy="3429000"/>
          </a:xfrm>
        </p:grpSpPr>
        <p:sp>
          <p:nvSpPr>
            <p:cNvPr id="8" name="object 8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0" y="0"/>
                  </a:moveTo>
                  <a:lnTo>
                    <a:pt x="0" y="3428999"/>
                  </a:lnTo>
                  <a:lnTo>
                    <a:pt x="9143999" y="3428999"/>
                  </a:lnTo>
                  <a:lnTo>
                    <a:pt x="9143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5082" y="4992623"/>
              <a:ext cx="5071871" cy="1142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8986" y="4986528"/>
              <a:ext cx="5084064" cy="11490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68986" y="4986528"/>
              <a:ext cx="5084445" cy="1156970"/>
            </a:xfrm>
            <a:custGeom>
              <a:avLst/>
              <a:gdLst/>
              <a:ahLst/>
              <a:cxnLst/>
              <a:rect l="l" t="t" r="r" b="b"/>
              <a:pathLst>
                <a:path w="5084445" h="1156970">
                  <a:moveTo>
                    <a:pt x="5084064" y="1153668"/>
                  </a:moveTo>
                  <a:lnTo>
                    <a:pt x="5084064" y="3048"/>
                  </a:lnTo>
                  <a:lnTo>
                    <a:pt x="5081016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1153668"/>
                  </a:lnTo>
                  <a:lnTo>
                    <a:pt x="3048" y="1156716"/>
                  </a:lnTo>
                  <a:lnTo>
                    <a:pt x="6096" y="1156716"/>
                  </a:lnTo>
                  <a:lnTo>
                    <a:pt x="6096" y="13716"/>
                  </a:lnTo>
                  <a:lnTo>
                    <a:pt x="12192" y="6096"/>
                  </a:lnTo>
                  <a:lnTo>
                    <a:pt x="12192" y="13716"/>
                  </a:lnTo>
                  <a:lnTo>
                    <a:pt x="5071872" y="13716"/>
                  </a:lnTo>
                  <a:lnTo>
                    <a:pt x="5071872" y="6096"/>
                  </a:lnTo>
                  <a:lnTo>
                    <a:pt x="5077968" y="13716"/>
                  </a:lnTo>
                  <a:lnTo>
                    <a:pt x="5077968" y="1156716"/>
                  </a:lnTo>
                  <a:lnTo>
                    <a:pt x="5081016" y="1156716"/>
                  </a:lnTo>
                  <a:lnTo>
                    <a:pt x="5084064" y="1153668"/>
                  </a:lnTo>
                  <a:close/>
                </a:path>
                <a:path w="5084445" h="1156970">
                  <a:moveTo>
                    <a:pt x="12192" y="13716"/>
                  </a:moveTo>
                  <a:lnTo>
                    <a:pt x="12192" y="6096"/>
                  </a:lnTo>
                  <a:lnTo>
                    <a:pt x="6096" y="13716"/>
                  </a:lnTo>
                  <a:lnTo>
                    <a:pt x="12192" y="13716"/>
                  </a:lnTo>
                  <a:close/>
                </a:path>
                <a:path w="5084445" h="1156970">
                  <a:moveTo>
                    <a:pt x="12192" y="1143000"/>
                  </a:moveTo>
                  <a:lnTo>
                    <a:pt x="12192" y="13716"/>
                  </a:lnTo>
                  <a:lnTo>
                    <a:pt x="6096" y="13716"/>
                  </a:lnTo>
                  <a:lnTo>
                    <a:pt x="6096" y="1143000"/>
                  </a:lnTo>
                  <a:lnTo>
                    <a:pt x="12192" y="1143000"/>
                  </a:lnTo>
                  <a:close/>
                </a:path>
                <a:path w="5084445" h="1156970">
                  <a:moveTo>
                    <a:pt x="5077968" y="1143000"/>
                  </a:moveTo>
                  <a:lnTo>
                    <a:pt x="6096" y="1143000"/>
                  </a:lnTo>
                  <a:lnTo>
                    <a:pt x="12192" y="1149096"/>
                  </a:lnTo>
                  <a:lnTo>
                    <a:pt x="12192" y="1156716"/>
                  </a:lnTo>
                  <a:lnTo>
                    <a:pt x="5071872" y="1156716"/>
                  </a:lnTo>
                  <a:lnTo>
                    <a:pt x="5071872" y="1149096"/>
                  </a:lnTo>
                  <a:lnTo>
                    <a:pt x="5077968" y="1143000"/>
                  </a:lnTo>
                  <a:close/>
                </a:path>
                <a:path w="5084445" h="1156970">
                  <a:moveTo>
                    <a:pt x="12192" y="1156716"/>
                  </a:moveTo>
                  <a:lnTo>
                    <a:pt x="12192" y="1149096"/>
                  </a:lnTo>
                  <a:lnTo>
                    <a:pt x="6096" y="1143000"/>
                  </a:lnTo>
                  <a:lnTo>
                    <a:pt x="6096" y="1156716"/>
                  </a:lnTo>
                  <a:lnTo>
                    <a:pt x="12192" y="1156716"/>
                  </a:lnTo>
                  <a:close/>
                </a:path>
                <a:path w="5084445" h="1156970">
                  <a:moveTo>
                    <a:pt x="5077968" y="13716"/>
                  </a:moveTo>
                  <a:lnTo>
                    <a:pt x="5071872" y="6096"/>
                  </a:lnTo>
                  <a:lnTo>
                    <a:pt x="5071872" y="13716"/>
                  </a:lnTo>
                  <a:lnTo>
                    <a:pt x="5077968" y="13716"/>
                  </a:lnTo>
                  <a:close/>
                </a:path>
                <a:path w="5084445" h="1156970">
                  <a:moveTo>
                    <a:pt x="5077968" y="1143000"/>
                  </a:moveTo>
                  <a:lnTo>
                    <a:pt x="5077968" y="13716"/>
                  </a:lnTo>
                  <a:lnTo>
                    <a:pt x="5071872" y="13716"/>
                  </a:lnTo>
                  <a:lnTo>
                    <a:pt x="5071872" y="1143000"/>
                  </a:lnTo>
                  <a:lnTo>
                    <a:pt x="5077968" y="1143000"/>
                  </a:lnTo>
                  <a:close/>
                </a:path>
                <a:path w="5084445" h="1156970">
                  <a:moveTo>
                    <a:pt x="5077968" y="1156716"/>
                  </a:moveTo>
                  <a:lnTo>
                    <a:pt x="5077968" y="1143000"/>
                  </a:lnTo>
                  <a:lnTo>
                    <a:pt x="5071872" y="1149096"/>
                  </a:lnTo>
                  <a:lnTo>
                    <a:pt x="5071872" y="1156716"/>
                  </a:lnTo>
                  <a:lnTo>
                    <a:pt x="5077968" y="1156716"/>
                  </a:lnTo>
                  <a:close/>
                </a:path>
              </a:pathLst>
            </a:custGeom>
            <a:solidFill>
              <a:srgbClr val="F69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9367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78130" algn="l"/>
              </a:tabLst>
            </a:pPr>
            <a:r>
              <a:rPr sz="3200" dirty="0"/>
              <a:t>Todo</a:t>
            </a:r>
            <a:r>
              <a:rPr sz="3200" spc="270" dirty="0">
                <a:latin typeface="Times New Roman"/>
                <a:cs typeface="Times New Roman"/>
              </a:rPr>
              <a:t>  </a:t>
            </a:r>
            <a:r>
              <a:rPr sz="3200" dirty="0"/>
              <a:t>autômato</a:t>
            </a:r>
            <a:r>
              <a:rPr sz="3200" spc="280" dirty="0">
                <a:latin typeface="Times New Roman"/>
                <a:cs typeface="Times New Roman"/>
              </a:rPr>
              <a:t>  </a:t>
            </a:r>
            <a:r>
              <a:rPr sz="3200" dirty="0"/>
              <a:t>com</a:t>
            </a:r>
            <a:r>
              <a:rPr sz="3200" spc="270" dirty="0">
                <a:latin typeface="Times New Roman"/>
                <a:cs typeface="Times New Roman"/>
              </a:rPr>
              <a:t>  </a:t>
            </a:r>
            <a:r>
              <a:rPr sz="3200" dirty="0"/>
              <a:t>transições</a:t>
            </a:r>
            <a:r>
              <a:rPr sz="3200" spc="275" dirty="0">
                <a:latin typeface="Times New Roman"/>
                <a:cs typeface="Times New Roman"/>
              </a:rPr>
              <a:t>  </a:t>
            </a:r>
            <a:r>
              <a:rPr sz="3200" dirty="0"/>
              <a:t>em</a:t>
            </a:r>
            <a:r>
              <a:rPr sz="3200" spc="270" dirty="0">
                <a:latin typeface="Times New Roman"/>
                <a:cs typeface="Times New Roman"/>
              </a:rPr>
              <a:t>  </a:t>
            </a:r>
            <a:r>
              <a:rPr sz="3200" spc="-10" dirty="0"/>
              <a:t>vazio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/>
              <a:t>gera</a:t>
            </a:r>
            <a:r>
              <a:rPr sz="3200" spc="760" dirty="0">
                <a:latin typeface="Times New Roman"/>
                <a:cs typeface="Times New Roman"/>
              </a:rPr>
              <a:t> </a:t>
            </a:r>
            <a:r>
              <a:rPr sz="3200" dirty="0"/>
              <a:t>uma</a:t>
            </a:r>
            <a:r>
              <a:rPr sz="3200" spc="785" dirty="0">
                <a:latin typeface="Times New Roman"/>
                <a:cs typeface="Times New Roman"/>
              </a:rPr>
              <a:t> </a:t>
            </a:r>
            <a:r>
              <a:rPr sz="3200" dirty="0"/>
              <a:t>linguagem</a:t>
            </a:r>
            <a:r>
              <a:rPr sz="3200" spc="775" dirty="0">
                <a:latin typeface="Times New Roman"/>
                <a:cs typeface="Times New Roman"/>
              </a:rPr>
              <a:t> </a:t>
            </a:r>
            <a:r>
              <a:rPr sz="3200" dirty="0"/>
              <a:t>que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dirty="0"/>
              <a:t>é</a:t>
            </a:r>
            <a:r>
              <a:rPr sz="3200" spc="765" dirty="0">
                <a:latin typeface="Times New Roman"/>
                <a:cs typeface="Times New Roman"/>
              </a:rPr>
              <a:t> </a:t>
            </a:r>
            <a:r>
              <a:rPr sz="3200" dirty="0"/>
              <a:t>aceita</a:t>
            </a:r>
            <a:r>
              <a:rPr sz="3200" spc="785" dirty="0">
                <a:latin typeface="Times New Roman"/>
                <a:cs typeface="Times New Roman"/>
              </a:rPr>
              <a:t> </a:t>
            </a:r>
            <a:r>
              <a:rPr sz="3200" dirty="0"/>
              <a:t>por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spc="-10" dirty="0"/>
              <a:t>algum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/>
              <a:t>autômato</a:t>
            </a:r>
            <a:r>
              <a:rPr sz="3200" spc="60" dirty="0">
                <a:latin typeface="Times New Roman"/>
                <a:cs typeface="Times New Roman"/>
              </a:rPr>
              <a:t>  </a:t>
            </a:r>
            <a:r>
              <a:rPr sz="3200" dirty="0"/>
              <a:t>finito</a:t>
            </a:r>
            <a:r>
              <a:rPr sz="3200" spc="70" dirty="0">
                <a:latin typeface="Times New Roman"/>
                <a:cs typeface="Times New Roman"/>
              </a:rPr>
              <a:t>  </a:t>
            </a:r>
            <a:r>
              <a:rPr sz="3200" dirty="0"/>
              <a:t>que</a:t>
            </a:r>
            <a:r>
              <a:rPr sz="3200" spc="65" dirty="0">
                <a:latin typeface="Times New Roman"/>
                <a:cs typeface="Times New Roman"/>
              </a:rPr>
              <a:t>  </a:t>
            </a:r>
            <a:r>
              <a:rPr sz="3200" dirty="0"/>
              <a:t>não</a:t>
            </a:r>
            <a:r>
              <a:rPr sz="3200" spc="70" dirty="0">
                <a:latin typeface="Times New Roman"/>
                <a:cs typeface="Times New Roman"/>
              </a:rPr>
              <a:t>  </a:t>
            </a:r>
            <a:r>
              <a:rPr sz="3200" dirty="0"/>
              <a:t>contém</a:t>
            </a:r>
            <a:r>
              <a:rPr sz="3200" spc="60" dirty="0">
                <a:latin typeface="Times New Roman"/>
                <a:cs typeface="Times New Roman"/>
              </a:rPr>
              <a:t>  </a:t>
            </a:r>
            <a:r>
              <a:rPr sz="3200" spc="-10" dirty="0"/>
              <a:t>transições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/>
              <a:t>em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spc="-10" dirty="0"/>
              <a:t>vazio</a:t>
            </a:r>
            <a:endParaRPr sz="3200">
              <a:latin typeface="Times New Roman"/>
              <a:cs typeface="Times New Roman"/>
            </a:endParaRPr>
          </a:p>
          <a:p>
            <a:pPr marL="3876040" marR="2260600" indent="-1679575">
              <a:lnSpc>
                <a:spcPct val="100000"/>
              </a:lnSpc>
              <a:spcBef>
                <a:spcPts val="3745"/>
              </a:spcBef>
            </a:pPr>
            <a:r>
              <a:rPr sz="2800" spc="-10" dirty="0">
                <a:latin typeface="Calibri"/>
                <a:cs typeface="Calibri"/>
              </a:rPr>
              <a:t>Eliminação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Calibri"/>
                <a:cs typeface="Calibri"/>
              </a:rPr>
              <a:t>transições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alibri"/>
                <a:cs typeface="Calibri"/>
              </a:rPr>
              <a:t>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Calibri"/>
                <a:cs typeface="Calibri"/>
              </a:rPr>
              <a:t>vazio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5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6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46479"/>
            <a:ext cx="677545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000000"/>
                </a:solidFill>
              </a:rPr>
              <a:t>Eliminação</a:t>
            </a:r>
            <a:r>
              <a:rPr sz="34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</a:rPr>
              <a:t>de</a:t>
            </a:r>
            <a:r>
              <a:rPr sz="3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</a:rPr>
              <a:t>transições</a:t>
            </a:r>
            <a:r>
              <a:rPr sz="3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</a:rPr>
              <a:t>em</a:t>
            </a:r>
            <a:r>
              <a:rPr sz="3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000000"/>
                </a:solidFill>
              </a:rPr>
              <a:t>vazio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696" y="1664308"/>
            <a:ext cx="8558530" cy="497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250825" algn="l"/>
              </a:tabLst>
            </a:pPr>
            <a:r>
              <a:rPr sz="2900" dirty="0">
                <a:latin typeface="Comic Sans MS"/>
                <a:cs typeface="Comic Sans MS"/>
              </a:rPr>
              <a:t>Algoritmo:</a:t>
            </a:r>
            <a:r>
              <a:rPr sz="2900" spc="29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“Obtenção</a:t>
            </a:r>
            <a:r>
              <a:rPr sz="2900" spc="39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de</a:t>
            </a:r>
            <a:r>
              <a:rPr sz="2900" spc="39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um</a:t>
            </a:r>
            <a:r>
              <a:rPr sz="2900" spc="39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autômato</a:t>
            </a:r>
            <a:r>
              <a:rPr sz="2900" spc="39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finito</a:t>
            </a:r>
            <a:r>
              <a:rPr sz="2900" spc="395" dirty="0">
                <a:latin typeface="Times New Roman"/>
                <a:cs typeface="Times New Roman"/>
              </a:rPr>
              <a:t> </a:t>
            </a:r>
            <a:r>
              <a:rPr sz="2900" i="1" spc="-25" dirty="0">
                <a:latin typeface="Comic Sans MS"/>
                <a:cs typeface="Comic Sans MS"/>
              </a:rPr>
              <a:t>N,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sem</a:t>
            </a:r>
            <a:r>
              <a:rPr sz="2900" spc="18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transições</a:t>
            </a:r>
            <a:r>
              <a:rPr sz="2900" spc="18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em</a:t>
            </a:r>
            <a:r>
              <a:rPr sz="2900" spc="19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vazio,</a:t>
            </a:r>
            <a:r>
              <a:rPr sz="2900" spc="17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a</a:t>
            </a:r>
            <a:r>
              <a:rPr sz="2900" spc="19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partir</a:t>
            </a:r>
            <a:r>
              <a:rPr sz="2900" spc="17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de</a:t>
            </a:r>
            <a:r>
              <a:rPr sz="2900" spc="20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um</a:t>
            </a:r>
            <a:r>
              <a:rPr sz="2900" spc="195" dirty="0">
                <a:latin typeface="Times New Roman"/>
                <a:cs typeface="Times New Roman"/>
              </a:rPr>
              <a:t> </a:t>
            </a:r>
            <a:r>
              <a:rPr sz="2900" i="1" spc="-10" dirty="0">
                <a:latin typeface="Comic Sans MS"/>
                <a:cs typeface="Comic Sans MS"/>
              </a:rPr>
              <a:t>autômato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finito</a:t>
            </a:r>
            <a:r>
              <a:rPr sz="2900" spc="75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M,</a:t>
            </a:r>
            <a:r>
              <a:rPr sz="2900" spc="12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com</a:t>
            </a:r>
            <a:r>
              <a:rPr sz="2900" spc="12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transições</a:t>
            </a:r>
            <a:r>
              <a:rPr sz="2900" spc="10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Comic Sans MS"/>
                <a:cs typeface="Comic Sans MS"/>
              </a:rPr>
              <a:t>em</a:t>
            </a:r>
            <a:r>
              <a:rPr sz="2900" spc="120" dirty="0">
                <a:latin typeface="Times New Roman"/>
                <a:cs typeface="Times New Roman"/>
              </a:rPr>
              <a:t> </a:t>
            </a:r>
            <a:r>
              <a:rPr sz="2900" i="1" spc="-10" dirty="0">
                <a:latin typeface="Comic Sans MS"/>
                <a:cs typeface="Comic Sans MS"/>
              </a:rPr>
              <a:t>vazio.”</a:t>
            </a:r>
            <a:endParaRPr sz="2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950">
              <a:latin typeface="Comic Sans MS"/>
              <a:cs typeface="Comic Sans MS"/>
            </a:endParaRPr>
          </a:p>
          <a:p>
            <a:pPr marL="469900" marR="5080" lvl="1">
              <a:lnSpc>
                <a:spcPct val="130000"/>
              </a:lnSpc>
              <a:buFont typeface="Arial"/>
              <a:buChar char="•"/>
              <a:tabLst>
                <a:tab pos="668020" algn="l"/>
                <a:tab pos="2033270" algn="l"/>
                <a:tab pos="2574290" algn="l"/>
                <a:tab pos="4032885" algn="l"/>
                <a:tab pos="4968240" algn="l"/>
                <a:tab pos="5668010" algn="l"/>
                <a:tab pos="7282815" algn="l"/>
                <a:tab pos="7833359" algn="l"/>
              </a:tabLst>
            </a:pPr>
            <a:r>
              <a:rPr sz="2400" spc="-10" dirty="0">
                <a:latin typeface="Comic Sans MS"/>
                <a:cs typeface="Comic Sans MS"/>
              </a:rPr>
              <a:t>Entrada: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um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autômato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finito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com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transições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Comic Sans MS"/>
                <a:cs typeface="Comic Sans MS"/>
              </a:rPr>
              <a:t>vazio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M;</a:t>
            </a:r>
            <a:endParaRPr sz="2400">
              <a:latin typeface="Comic Sans MS"/>
              <a:cs typeface="Comic Sans MS"/>
            </a:endParaRPr>
          </a:p>
          <a:p>
            <a:pPr marL="469900" marR="5715" lvl="1">
              <a:lnSpc>
                <a:spcPct val="130000"/>
              </a:lnSpc>
              <a:spcBef>
                <a:spcPts val="575"/>
              </a:spcBef>
              <a:buFont typeface="Arial"/>
              <a:buChar char="•"/>
              <a:tabLst>
                <a:tab pos="668020" algn="l"/>
                <a:tab pos="1675130" algn="l"/>
                <a:tab pos="2200910" algn="l"/>
                <a:tab pos="3642360" algn="l"/>
                <a:tab pos="4563110" algn="l"/>
                <a:tab pos="5242560" algn="l"/>
                <a:tab pos="6842759" algn="l"/>
                <a:tab pos="7376159" algn="l"/>
                <a:tab pos="8217534" algn="l"/>
              </a:tabLst>
            </a:pPr>
            <a:r>
              <a:rPr sz="2400" spc="-10" dirty="0">
                <a:latin typeface="Comic Sans MS"/>
                <a:cs typeface="Comic Sans MS"/>
              </a:rPr>
              <a:t>Saída: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um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autômato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finito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sem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transições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vazio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Comic Sans MS"/>
                <a:cs typeface="Comic Sans MS"/>
              </a:rPr>
              <a:t>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tal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que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L(N)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L(M);</a:t>
            </a:r>
            <a:endParaRPr sz="2400">
              <a:latin typeface="Comic Sans MS"/>
              <a:cs typeface="Comic Sans MS"/>
            </a:endParaRPr>
          </a:p>
          <a:p>
            <a:pPr marL="664845" lvl="1" indent="-19558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65480" algn="l"/>
              </a:tabLst>
            </a:pPr>
            <a:r>
              <a:rPr sz="2400" spc="-10" dirty="0">
                <a:latin typeface="Comic Sans MS"/>
                <a:cs typeface="Comic Sans MS"/>
              </a:rPr>
              <a:t>Método: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67696" y="820419"/>
            <a:ext cx="8558530" cy="598678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0"/>
              </a:spcBef>
            </a:pPr>
            <a:r>
              <a:rPr sz="2400" dirty="0">
                <a:latin typeface="Comic Sans MS"/>
                <a:cs typeface="Comic Sans MS"/>
              </a:rPr>
              <a:t>1.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Eliminação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das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transições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em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vazio</a:t>
            </a:r>
            <a:endParaRPr sz="2400">
              <a:latin typeface="Comic Sans MS"/>
              <a:cs typeface="Comic Sans MS"/>
            </a:endParaRPr>
          </a:p>
          <a:p>
            <a:pPr marL="12700" marR="5080" algn="just">
              <a:lnSpc>
                <a:spcPct val="130000"/>
              </a:lnSpc>
              <a:spcBef>
                <a:spcPts val="550"/>
              </a:spcBef>
              <a:buFont typeface="Arial"/>
              <a:buChar char="•"/>
              <a:tabLst>
                <a:tab pos="160655" algn="l"/>
              </a:tabLst>
            </a:pPr>
            <a:r>
              <a:rPr sz="1800" spc="-10" dirty="0">
                <a:latin typeface="Comic Sans MS"/>
                <a:cs typeface="Comic Sans MS"/>
              </a:rPr>
              <a:t>Considere-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um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qualquer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qi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Q.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houver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uma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transição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em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vazio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qi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qj,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deve-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eliminá-</a:t>
            </a:r>
            <a:r>
              <a:rPr sz="1800" dirty="0">
                <a:latin typeface="Comic Sans MS"/>
                <a:cs typeface="Comic Sans MS"/>
              </a:rPr>
              <a:t>la,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copiando-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linha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representa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o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estado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qi</a:t>
            </a:r>
            <a:r>
              <a:rPr sz="1800" spc="5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todas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as</a:t>
            </a:r>
            <a:r>
              <a:rPr sz="1800" spc="6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transições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que</a:t>
            </a:r>
            <a:r>
              <a:rPr sz="1800" spc="5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partem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dos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estados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qj</a:t>
            </a:r>
            <a:r>
              <a:rPr sz="1800" spc="6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para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os</a:t>
            </a:r>
            <a:r>
              <a:rPr sz="1800" spc="6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quais</a:t>
            </a:r>
            <a:r>
              <a:rPr sz="1800" spc="6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é</a:t>
            </a:r>
            <a:r>
              <a:rPr sz="1800" spc="5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feita</a:t>
            </a:r>
            <a:r>
              <a:rPr sz="1800" spc="6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Comic Sans MS"/>
                <a:cs typeface="Comic Sans MS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transição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em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vazio.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600">
              <a:latin typeface="Comic Sans MS"/>
              <a:cs typeface="Comic Sans MS"/>
            </a:endParaRPr>
          </a:p>
          <a:p>
            <a:pPr marL="12700" marR="5080" algn="just">
              <a:lnSpc>
                <a:spcPct val="130000"/>
              </a:lnSpc>
              <a:buFont typeface="Arial"/>
              <a:buChar char="•"/>
              <a:tabLst>
                <a:tab pos="160655" algn="l"/>
              </a:tabLst>
            </a:pPr>
            <a:r>
              <a:rPr sz="1800" dirty="0">
                <a:latin typeface="Comic Sans MS"/>
                <a:cs typeface="Comic Sans MS"/>
              </a:rPr>
              <a:t>Esse</a:t>
            </a:r>
            <a:r>
              <a:rPr sz="1800" spc="6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procedimento</a:t>
            </a:r>
            <a:r>
              <a:rPr sz="1800" spc="8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corresponde,</a:t>
            </a:r>
            <a:r>
              <a:rPr sz="1800" spc="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em</a:t>
            </a:r>
            <a:r>
              <a:rPr sz="1800" spc="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notação</a:t>
            </a:r>
            <a:r>
              <a:rPr sz="1800" spc="8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tabular,</a:t>
            </a:r>
            <a:r>
              <a:rPr sz="1800" spc="6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à</a:t>
            </a:r>
            <a:r>
              <a:rPr sz="1800" spc="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realização</a:t>
            </a:r>
            <a:r>
              <a:rPr sz="1800" spc="6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de</a:t>
            </a:r>
            <a:r>
              <a:rPr sz="1800" spc="6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uma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fusão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(“merge”)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entre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linha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do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qi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contém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transição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em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vazio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para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o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estado-</a:t>
            </a:r>
            <a:r>
              <a:rPr sz="1800" dirty="0">
                <a:latin typeface="Comic Sans MS"/>
                <a:cs typeface="Comic Sans MS"/>
              </a:rPr>
              <a:t>destino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qj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própria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linha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do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qj,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armazenando-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o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resultado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novamente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na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linha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correspondente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ao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qi.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600">
              <a:latin typeface="Comic Sans MS"/>
              <a:cs typeface="Comic Sans MS"/>
            </a:endParaRPr>
          </a:p>
          <a:p>
            <a:pPr marL="12700" marR="5080" algn="just">
              <a:lnSpc>
                <a:spcPct val="130000"/>
              </a:lnSpc>
              <a:spcBef>
                <a:spcPts val="5"/>
              </a:spcBef>
              <a:buFont typeface="Arial"/>
              <a:buChar char="•"/>
              <a:tabLst>
                <a:tab pos="160655" algn="l"/>
              </a:tabLst>
            </a:pPr>
            <a:r>
              <a:rPr sz="1800" dirty="0">
                <a:latin typeface="Comic Sans MS"/>
                <a:cs typeface="Comic Sans MS"/>
              </a:rPr>
              <a:t>Havendo</a:t>
            </a:r>
            <a:r>
              <a:rPr sz="1800" spc="3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mais</a:t>
            </a:r>
            <a:r>
              <a:rPr sz="1800" spc="3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de</a:t>
            </a:r>
            <a:r>
              <a:rPr sz="1800" spc="3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uma</a:t>
            </a:r>
            <a:r>
              <a:rPr sz="1800" spc="3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transição</a:t>
            </a:r>
            <a:r>
              <a:rPr sz="1800" spc="3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em</a:t>
            </a:r>
            <a:r>
              <a:rPr sz="1800" spc="3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vazio</a:t>
            </a:r>
            <a:r>
              <a:rPr sz="1800" spc="3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Comic Sans MS"/>
                <a:cs typeface="Comic Sans MS"/>
              </a:rPr>
              <a:t>indicadas,</a:t>
            </a:r>
            <a:r>
              <a:rPr sz="1800" spc="37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Comic Sans MS"/>
                <a:cs typeface="Comic Sans MS"/>
              </a:rPr>
              <a:t>deve-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37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Comic Sans MS"/>
                <a:cs typeface="Comic Sans MS"/>
              </a:rPr>
              <a:t>repetir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cumulativamente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o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procedimento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para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todas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elas.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"/>
              <a:buChar char="•"/>
            </a:pPr>
            <a:endParaRPr sz="3050">
              <a:latin typeface="Comic Sans MS"/>
              <a:cs typeface="Comic Sans MS"/>
            </a:endParaRPr>
          </a:p>
          <a:p>
            <a:pPr marL="158750" indent="-146685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59385" algn="l"/>
              </a:tabLst>
            </a:pP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δ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(qi,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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)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F,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então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F’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F’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{qi},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sendo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inicialmente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F’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9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Comic Sans MS"/>
                <a:cs typeface="Comic Sans MS"/>
              </a:rPr>
              <a:t>F.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696" y="1032763"/>
            <a:ext cx="1896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</a:rPr>
              <a:t>2.</a:t>
            </a:r>
            <a:r>
              <a:rPr sz="280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Iteração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218440" algn="l"/>
              </a:tabLst>
            </a:pPr>
            <a:r>
              <a:rPr dirty="0"/>
              <a:t>Repetir</a:t>
            </a:r>
            <a:r>
              <a:rPr spc="105" dirty="0">
                <a:latin typeface="Times New Roman"/>
                <a:cs typeface="Times New Roman"/>
              </a:rPr>
              <a:t>  </a:t>
            </a:r>
            <a:r>
              <a:rPr dirty="0"/>
              <a:t>o</a:t>
            </a:r>
            <a:r>
              <a:rPr spc="100" dirty="0">
                <a:latin typeface="Times New Roman"/>
                <a:cs typeface="Times New Roman"/>
              </a:rPr>
              <a:t>  </a:t>
            </a:r>
            <a:r>
              <a:rPr dirty="0"/>
              <a:t>passo</a:t>
            </a:r>
            <a:r>
              <a:rPr spc="100" dirty="0">
                <a:latin typeface="Times New Roman"/>
                <a:cs typeface="Times New Roman"/>
              </a:rPr>
              <a:t>  </a:t>
            </a:r>
            <a:r>
              <a:rPr dirty="0"/>
              <a:t>anterior</a:t>
            </a:r>
            <a:r>
              <a:rPr spc="100" dirty="0">
                <a:latin typeface="Times New Roman"/>
                <a:cs typeface="Times New Roman"/>
              </a:rPr>
              <a:t>  </a:t>
            </a:r>
            <a:r>
              <a:rPr dirty="0"/>
              <a:t>para</a:t>
            </a:r>
            <a:r>
              <a:rPr spc="100" dirty="0">
                <a:latin typeface="Times New Roman"/>
                <a:cs typeface="Times New Roman"/>
              </a:rPr>
              <a:t>  </a:t>
            </a:r>
            <a:r>
              <a:rPr dirty="0"/>
              <a:t>os</a:t>
            </a:r>
            <a:r>
              <a:rPr spc="105" dirty="0">
                <a:latin typeface="Times New Roman"/>
                <a:cs typeface="Times New Roman"/>
              </a:rPr>
              <a:t>  </a:t>
            </a:r>
            <a:r>
              <a:rPr dirty="0"/>
              <a:t>demais</a:t>
            </a:r>
            <a:r>
              <a:rPr spc="100" dirty="0">
                <a:latin typeface="Times New Roman"/>
                <a:cs typeface="Times New Roman"/>
              </a:rPr>
              <a:t>  </a:t>
            </a:r>
            <a:r>
              <a:rPr dirty="0"/>
              <a:t>estados</a:t>
            </a:r>
            <a:r>
              <a:rPr spc="100" dirty="0">
                <a:latin typeface="Times New Roman"/>
                <a:cs typeface="Times New Roman"/>
              </a:rPr>
              <a:t>  </a:t>
            </a:r>
            <a:r>
              <a:rPr spc="-25" dirty="0"/>
              <a:t>do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autômato,</a:t>
            </a:r>
            <a:r>
              <a:rPr spc="500" dirty="0">
                <a:latin typeface="Times New Roman"/>
                <a:cs typeface="Times New Roman"/>
              </a:rPr>
              <a:t> </a:t>
            </a:r>
            <a:r>
              <a:rPr dirty="0"/>
              <a:t>até</a:t>
            </a:r>
            <a:r>
              <a:rPr spc="520" dirty="0">
                <a:latin typeface="Times New Roman"/>
                <a:cs typeface="Times New Roman"/>
              </a:rPr>
              <a:t> </a:t>
            </a:r>
            <a:r>
              <a:rPr dirty="0"/>
              <a:t>que</a:t>
            </a:r>
            <a:r>
              <a:rPr spc="520" dirty="0">
                <a:latin typeface="Times New Roman"/>
                <a:cs typeface="Times New Roman"/>
              </a:rPr>
              <a:t> </a:t>
            </a:r>
            <a:r>
              <a:rPr dirty="0"/>
              <a:t>todos</a:t>
            </a:r>
            <a:r>
              <a:rPr spc="505" dirty="0">
                <a:latin typeface="Times New Roman"/>
                <a:cs typeface="Times New Roman"/>
              </a:rPr>
              <a:t> </a:t>
            </a:r>
            <a:r>
              <a:rPr dirty="0"/>
              <a:t>eles</a:t>
            </a:r>
            <a:r>
              <a:rPr spc="495" dirty="0">
                <a:latin typeface="Times New Roman"/>
                <a:cs typeface="Times New Roman"/>
              </a:rPr>
              <a:t> </a:t>
            </a:r>
            <a:r>
              <a:rPr dirty="0"/>
              <a:t>tenham</a:t>
            </a:r>
            <a:r>
              <a:rPr spc="515" dirty="0">
                <a:latin typeface="Times New Roman"/>
                <a:cs typeface="Times New Roman"/>
              </a:rPr>
              <a:t> </a:t>
            </a:r>
            <a:r>
              <a:rPr dirty="0"/>
              <a:t>sido</a:t>
            </a:r>
            <a:r>
              <a:rPr spc="505" dirty="0">
                <a:latin typeface="Times New Roman"/>
                <a:cs typeface="Times New Roman"/>
              </a:rPr>
              <a:t> </a:t>
            </a:r>
            <a:r>
              <a:rPr spc="-10" dirty="0"/>
              <a:t>considerados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(ou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/>
              <a:t>seja,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até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/>
              <a:t>que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/>
              <a:t>última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linha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/>
              <a:t>tenha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/>
              <a:t>sido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10" dirty="0"/>
              <a:t>atingida).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650"/>
          </a:p>
          <a:p>
            <a:pPr marL="12700" marR="5080" algn="just">
              <a:lnSpc>
                <a:spcPct val="130000"/>
              </a:lnSpc>
              <a:spcBef>
                <a:spcPts val="5"/>
              </a:spcBef>
              <a:buFont typeface="Arial"/>
              <a:buChar char="•"/>
              <a:tabLst>
                <a:tab pos="218440" algn="l"/>
              </a:tabLst>
            </a:pPr>
            <a:r>
              <a:rPr dirty="0"/>
              <a:t>Nos</a:t>
            </a:r>
            <a:r>
              <a:rPr spc="170" dirty="0">
                <a:latin typeface="Times New Roman"/>
                <a:cs typeface="Times New Roman"/>
              </a:rPr>
              <a:t>  </a:t>
            </a:r>
            <a:r>
              <a:rPr dirty="0"/>
              <a:t>casos</a:t>
            </a:r>
            <a:r>
              <a:rPr spc="170" dirty="0">
                <a:latin typeface="Times New Roman"/>
                <a:cs typeface="Times New Roman"/>
              </a:rPr>
              <a:t>  </a:t>
            </a:r>
            <a:r>
              <a:rPr dirty="0"/>
              <a:t>em</a:t>
            </a:r>
            <a:r>
              <a:rPr spc="175" dirty="0">
                <a:latin typeface="Times New Roman"/>
                <a:cs typeface="Times New Roman"/>
              </a:rPr>
              <a:t>  </a:t>
            </a:r>
            <a:r>
              <a:rPr dirty="0"/>
              <a:t>que</a:t>
            </a:r>
            <a:r>
              <a:rPr spc="175" dirty="0">
                <a:latin typeface="Times New Roman"/>
                <a:cs typeface="Times New Roman"/>
              </a:rPr>
              <a:t>  </a:t>
            </a:r>
            <a:r>
              <a:rPr dirty="0"/>
              <a:t>houver</a:t>
            </a:r>
            <a:r>
              <a:rPr spc="180" dirty="0">
                <a:latin typeface="Times New Roman"/>
                <a:cs typeface="Times New Roman"/>
              </a:rPr>
              <a:t>  </a:t>
            </a:r>
            <a:r>
              <a:rPr dirty="0"/>
              <a:t>transições</a:t>
            </a:r>
            <a:r>
              <a:rPr spc="175" dirty="0">
                <a:latin typeface="Times New Roman"/>
                <a:cs typeface="Times New Roman"/>
              </a:rPr>
              <a:t>  </a:t>
            </a:r>
            <a:r>
              <a:rPr dirty="0"/>
              <a:t>em</a:t>
            </a:r>
            <a:r>
              <a:rPr spc="175" dirty="0">
                <a:latin typeface="Times New Roman"/>
                <a:cs typeface="Times New Roman"/>
              </a:rPr>
              <a:t>  </a:t>
            </a:r>
            <a:r>
              <a:rPr dirty="0"/>
              <a:t>vazio</a:t>
            </a:r>
            <a:r>
              <a:rPr spc="170" dirty="0">
                <a:latin typeface="Times New Roman"/>
                <a:cs typeface="Times New Roman"/>
              </a:rPr>
              <a:t>  </a:t>
            </a:r>
            <a:r>
              <a:rPr spc="-20" dirty="0"/>
              <a:t>para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estados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que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por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sua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dirty="0"/>
              <a:t>vez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também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transitam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dirty="0"/>
              <a:t>em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dirty="0"/>
              <a:t>vazio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spc="-20" dirty="0"/>
              <a:t>para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outros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/>
              <a:t>estados,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/>
              <a:t>será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/>
              <a:t>necessário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/>
              <a:t>iterar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/>
              <a:t>o</a:t>
            </a:r>
            <a:r>
              <a:rPr spc="55" dirty="0">
                <a:latin typeface="Times New Roman"/>
                <a:cs typeface="Times New Roman"/>
              </a:rPr>
              <a:t>  </a:t>
            </a:r>
            <a:r>
              <a:rPr spc="-10" dirty="0"/>
              <a:t>procedimento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várias</a:t>
            </a:r>
            <a:r>
              <a:rPr spc="330" dirty="0">
                <a:latin typeface="Times New Roman"/>
                <a:cs typeface="Times New Roman"/>
              </a:rPr>
              <a:t> </a:t>
            </a:r>
            <a:r>
              <a:rPr dirty="0"/>
              <a:t>vezes</a:t>
            </a:r>
            <a:r>
              <a:rPr spc="320" dirty="0">
                <a:latin typeface="Times New Roman"/>
                <a:cs typeface="Times New Roman"/>
              </a:rPr>
              <a:t> </a:t>
            </a:r>
            <a:r>
              <a:rPr dirty="0"/>
              <a:t>sobre</a:t>
            </a:r>
            <a:r>
              <a:rPr spc="35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320" dirty="0">
                <a:latin typeface="Times New Roman"/>
                <a:cs typeface="Times New Roman"/>
              </a:rPr>
              <a:t> </a:t>
            </a:r>
            <a:r>
              <a:rPr dirty="0"/>
              <a:t>tabela,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/>
              <a:t>até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/>
              <a:t>que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/>
              <a:t>todas</a:t>
            </a:r>
            <a:r>
              <a:rPr spc="335" dirty="0">
                <a:latin typeface="Times New Roman"/>
                <a:cs typeface="Times New Roman"/>
              </a:rPr>
              <a:t> </a:t>
            </a:r>
            <a:r>
              <a:rPr dirty="0"/>
              <a:t>as</a:t>
            </a:r>
            <a:r>
              <a:rPr spc="335" dirty="0">
                <a:latin typeface="Times New Roman"/>
                <a:cs typeface="Times New Roman"/>
              </a:rPr>
              <a:t> </a:t>
            </a:r>
            <a:r>
              <a:rPr spc="-10" dirty="0"/>
              <a:t>transições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em</a:t>
            </a:r>
            <a:r>
              <a:rPr spc="50" dirty="0">
                <a:latin typeface="Times New Roman"/>
                <a:cs typeface="Times New Roman"/>
              </a:rPr>
              <a:t> </a:t>
            </a:r>
            <a:r>
              <a:rPr dirty="0"/>
              <a:t>vazio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tenham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sido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0" dirty="0"/>
              <a:t>eliminadas.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573" y="2054773"/>
            <a:ext cx="4282499" cy="13015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7696" y="1113535"/>
            <a:ext cx="8027034" cy="108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Exemplo: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eliminação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da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transição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mic Sans MS"/>
                <a:cs typeface="Comic Sans MS"/>
              </a:rPr>
              <a:t>em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vazio</a:t>
            </a:r>
            <a:endParaRPr sz="3200">
              <a:latin typeface="Comic Sans MS"/>
              <a:cs typeface="Comic Sans MS"/>
            </a:endParaRPr>
          </a:p>
          <a:p>
            <a:pPr marR="5080" algn="r">
              <a:lnSpc>
                <a:spcPct val="100000"/>
              </a:lnSpc>
              <a:spcBef>
                <a:spcPts val="2115"/>
              </a:spcBef>
            </a:pPr>
            <a:r>
              <a:rPr sz="2000" b="1" dirty="0">
                <a:latin typeface="Comic Sans MS"/>
                <a:cs typeface="Comic Sans MS"/>
              </a:rPr>
              <a:t>notação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tabular</a:t>
            </a:r>
            <a:endParaRPr sz="2000">
              <a:latin typeface="Comic Sans MS"/>
              <a:cs typeface="Comic Sans M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963769"/>
              </p:ext>
            </p:extLst>
          </p:nvPr>
        </p:nvGraphicFramePr>
        <p:xfrm>
          <a:off x="6492118" y="2299716"/>
          <a:ext cx="3312795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37211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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q0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{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q0}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4019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4019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{q1}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*q1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40195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{q1}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24009" y="5809488"/>
          <a:ext cx="2627630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δ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1492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2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*q0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{q0}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{q1}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*q1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{q1}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017913" y="6161532"/>
            <a:ext cx="2639695" cy="38100"/>
          </a:xfrm>
          <a:custGeom>
            <a:avLst/>
            <a:gdLst/>
            <a:ahLst/>
            <a:cxnLst/>
            <a:rect l="l" t="t" r="r" b="b"/>
            <a:pathLst>
              <a:path w="2639695" h="38100">
                <a:moveTo>
                  <a:pt x="2639567" y="38099"/>
                </a:moveTo>
                <a:lnTo>
                  <a:pt x="2639567" y="0"/>
                </a:lnTo>
                <a:lnTo>
                  <a:pt x="0" y="0"/>
                </a:lnTo>
                <a:lnTo>
                  <a:pt x="0" y="38099"/>
                </a:lnTo>
                <a:lnTo>
                  <a:pt x="2639567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7913" y="6544055"/>
            <a:ext cx="2639695" cy="13970"/>
          </a:xfrm>
          <a:custGeom>
            <a:avLst/>
            <a:gdLst/>
            <a:ahLst/>
            <a:cxnLst/>
            <a:rect l="l" t="t" r="r" b="b"/>
            <a:pathLst>
              <a:path w="2639695" h="13970">
                <a:moveTo>
                  <a:pt x="2639567" y="13715"/>
                </a:moveTo>
                <a:lnTo>
                  <a:pt x="2639567" y="0"/>
                </a:lnTo>
                <a:lnTo>
                  <a:pt x="0" y="0"/>
                </a:lnTo>
                <a:lnTo>
                  <a:pt x="0" y="13715"/>
                </a:lnTo>
                <a:lnTo>
                  <a:pt x="2639567" y="1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17913" y="5803391"/>
            <a:ext cx="2639695" cy="12700"/>
          </a:xfrm>
          <a:custGeom>
            <a:avLst/>
            <a:gdLst/>
            <a:ahLst/>
            <a:cxnLst/>
            <a:rect l="l" t="t" r="r" b="b"/>
            <a:pathLst>
              <a:path w="2639695" h="12700">
                <a:moveTo>
                  <a:pt x="2639567" y="12191"/>
                </a:moveTo>
                <a:lnTo>
                  <a:pt x="2639567" y="0"/>
                </a:lnTo>
                <a:lnTo>
                  <a:pt x="0" y="0"/>
                </a:lnTo>
                <a:lnTo>
                  <a:pt x="0" y="12191"/>
                </a:lnTo>
                <a:lnTo>
                  <a:pt x="2639567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7913" y="6915911"/>
            <a:ext cx="2639695" cy="12700"/>
          </a:xfrm>
          <a:custGeom>
            <a:avLst/>
            <a:gdLst/>
            <a:ahLst/>
            <a:cxnLst/>
            <a:rect l="l" t="t" r="r" b="b"/>
            <a:pathLst>
              <a:path w="2639695" h="12700">
                <a:moveTo>
                  <a:pt x="2639567" y="12191"/>
                </a:moveTo>
                <a:lnTo>
                  <a:pt x="2639567" y="0"/>
                </a:lnTo>
                <a:lnTo>
                  <a:pt x="0" y="0"/>
                </a:lnTo>
                <a:lnTo>
                  <a:pt x="0" y="12191"/>
                </a:lnTo>
                <a:lnTo>
                  <a:pt x="2639567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81061" y="3469638"/>
            <a:ext cx="8201659" cy="226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Como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há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uma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transição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em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vazio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de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q0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para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q1,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deve-</a:t>
            </a:r>
            <a:r>
              <a:rPr sz="1800" dirty="0">
                <a:latin typeface="Comic Sans MS"/>
                <a:cs typeface="Comic Sans MS"/>
              </a:rPr>
              <a:t>se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copiar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as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transições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de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q1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para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q0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δ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(q1,b)</a:t>
            </a:r>
            <a:r>
              <a:rPr sz="18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apenas,</a:t>
            </a:r>
            <a:r>
              <a:rPr sz="18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neste</a:t>
            </a:r>
            <a:r>
              <a:rPr sz="18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caso)</a:t>
            </a:r>
            <a:r>
              <a:rPr sz="1800" spc="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e,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além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disso,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considerar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q0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como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final,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uma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vez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que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q1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é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estado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final.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Abaixo,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tabela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e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o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AF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sem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movimento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vazio.</a:t>
            </a:r>
            <a:endParaRPr sz="1800">
              <a:latin typeface="Comic Sans MS"/>
              <a:cs typeface="Comic Sans MS"/>
            </a:endParaRPr>
          </a:p>
          <a:p>
            <a:pPr marL="558165">
              <a:lnSpc>
                <a:spcPct val="100000"/>
              </a:lnSpc>
              <a:spcBef>
                <a:spcPts val="2235"/>
              </a:spcBef>
            </a:pPr>
            <a:r>
              <a:rPr sz="2000" b="1" dirty="0">
                <a:latin typeface="Comic Sans MS"/>
                <a:cs typeface="Comic Sans MS"/>
              </a:rPr>
              <a:t>notação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tabular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4570" y="5135879"/>
            <a:ext cx="4600955" cy="1642872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9" name="Título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2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870305"/>
            <a:ext cx="8557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2237740" algn="l"/>
                <a:tab pos="3744595" algn="l"/>
                <a:tab pos="4602480" algn="l"/>
                <a:tab pos="5477510" algn="l"/>
                <a:tab pos="6544309" algn="l"/>
              </a:tabLst>
            </a:pPr>
            <a:r>
              <a:rPr sz="3200" spc="-10" dirty="0">
                <a:latin typeface="Comic Sans MS"/>
                <a:cs typeface="Comic Sans MS"/>
              </a:rPr>
              <a:t>Exercício: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Obter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um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AF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Comic Sans MS"/>
                <a:cs typeface="Comic Sans MS"/>
              </a:rPr>
              <a:t>sem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Comic Sans MS"/>
                <a:cs typeface="Comic Sans MS"/>
              </a:rPr>
              <a:t>movimento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vazio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327" y="2615183"/>
            <a:ext cx="8772143" cy="337870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0" name="Título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281175"/>
            <a:ext cx="8557260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Exercícios</a:t>
            </a:r>
            <a:endParaRPr sz="1400">
              <a:latin typeface="Comic Sans MS"/>
              <a:cs typeface="Comic Sans MS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40"/>
              </a:spcBef>
            </a:pPr>
            <a:r>
              <a:rPr sz="1400" dirty="0">
                <a:latin typeface="Comic Sans MS"/>
                <a:cs typeface="Comic Sans MS"/>
              </a:rPr>
              <a:t>1.</a:t>
            </a:r>
            <a:r>
              <a:rPr sz="1400" spc="47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Comic Sans MS"/>
                <a:cs typeface="Comic Sans MS"/>
              </a:rPr>
              <a:t>Construir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2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AFND’s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usando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diagrama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transições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(1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com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movimento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vazio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1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sem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movimento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vazio),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1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ER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1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GR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que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reconheça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cada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uma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das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as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linguagens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sobre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alfabeto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{a,b}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cujas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sentenças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estão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descritas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seguir.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295" y="2683001"/>
            <a:ext cx="4320540" cy="2392045"/>
          </a:xfrm>
          <a:prstGeom prst="rect">
            <a:avLst/>
          </a:prstGeom>
          <a:ln w="13716">
            <a:solidFill>
              <a:srgbClr val="000000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433070" indent="-343535">
              <a:lnSpc>
                <a:spcPct val="100000"/>
              </a:lnSpc>
              <a:spcBef>
                <a:spcPts val="850"/>
              </a:spcBef>
              <a:buAutoNum type="alphaLcPeriod"/>
              <a:tabLst>
                <a:tab pos="433070" algn="l"/>
                <a:tab pos="433705" algn="l"/>
              </a:tabLst>
            </a:pPr>
            <a:r>
              <a:rPr sz="1400" b="1" dirty="0">
                <a:latin typeface="Comic Sans MS"/>
                <a:cs typeface="Comic Sans MS"/>
              </a:rPr>
              <a:t>Começam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aa;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Não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começam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aa;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Terminam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Comic Sans MS"/>
                <a:cs typeface="Comic Sans MS"/>
              </a:rPr>
              <a:t>bbb;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Não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terminam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Comic Sans MS"/>
                <a:cs typeface="Comic Sans MS"/>
              </a:rPr>
              <a:t>bbb;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Contém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subcadeia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aabbb;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comprimento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maior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ou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igual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3;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comprimento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menor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ou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igual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3;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346832" y="2683001"/>
            <a:ext cx="4320540" cy="2392045"/>
          </a:xfrm>
          <a:prstGeom prst="rect">
            <a:avLst/>
          </a:prstGeom>
          <a:ln w="13716">
            <a:solidFill>
              <a:srgbClr val="000000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509270" indent="-419734">
              <a:lnSpc>
                <a:spcPct val="100000"/>
              </a:lnSpc>
              <a:spcBef>
                <a:spcPts val="850"/>
              </a:spcBef>
              <a:buAutoNum type="alphaLcPeriod" startAt="8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comprimento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diferente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de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3;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 startAt="8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comprimento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Comic Sans MS"/>
                <a:cs typeface="Comic Sans MS"/>
              </a:rPr>
              <a:t>par;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 startAt="8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comprimento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ímpar;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 startAt="8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comprimento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múltiplo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de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4;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 startAt="8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quantidade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par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de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símbolos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35" dirty="0">
                <a:latin typeface="Comic Sans MS"/>
                <a:cs typeface="Comic Sans MS"/>
              </a:rPr>
              <a:t>a;</a:t>
            </a:r>
            <a:endParaRPr sz="1400">
              <a:latin typeface="Comic Sans MS"/>
              <a:cs typeface="Comic Sans MS"/>
            </a:endParaRPr>
          </a:p>
          <a:p>
            <a:pPr marL="509270" indent="-419734">
              <a:lnSpc>
                <a:spcPct val="100000"/>
              </a:lnSpc>
              <a:spcBef>
                <a:spcPts val="840"/>
              </a:spcBef>
              <a:buAutoNum type="alphaLcPeriod" startAt="8"/>
              <a:tabLst>
                <a:tab pos="509270" algn="l"/>
                <a:tab pos="509905" algn="l"/>
              </a:tabLst>
            </a:pPr>
            <a:r>
              <a:rPr sz="1400" b="1" dirty="0">
                <a:latin typeface="Comic Sans MS"/>
                <a:cs typeface="Comic Sans MS"/>
              </a:rPr>
              <a:t>Possuem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quantidade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ímpar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de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símbolos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b.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696" y="5185661"/>
            <a:ext cx="8558530" cy="877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15900" algn="l"/>
              </a:tabLst>
            </a:pPr>
            <a:r>
              <a:rPr sz="1400" dirty="0">
                <a:latin typeface="Comic Sans MS"/>
                <a:cs typeface="Comic Sans MS"/>
              </a:rPr>
              <a:t>Escolha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três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sentenças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qualquer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aplique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algoritmo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conversão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AFND</a:t>
            </a:r>
            <a:r>
              <a:rPr sz="1400" dirty="0">
                <a:latin typeface="Symbol"/>
                <a:cs typeface="Symbol"/>
              </a:rPr>
              <a:t></a:t>
            </a:r>
            <a:r>
              <a:rPr sz="1400" spc="4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para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Comic Sans MS"/>
                <a:cs typeface="Comic Sans MS"/>
              </a:rPr>
              <a:t>AFND</a:t>
            </a:r>
            <a:endParaRPr sz="1400" dirty="0">
              <a:latin typeface="Comic Sans MS"/>
              <a:cs typeface="Comic Sans MS"/>
            </a:endParaRPr>
          </a:p>
          <a:p>
            <a:pPr marL="243204" marR="5080" indent="-243204">
              <a:lnSpc>
                <a:spcPct val="150000"/>
              </a:lnSpc>
              <a:spcBef>
                <a:spcPts val="340"/>
              </a:spcBef>
              <a:buAutoNum type="arabicPeriod" startAt="2"/>
              <a:tabLst>
                <a:tab pos="243204" algn="l"/>
              </a:tabLst>
            </a:pPr>
            <a:r>
              <a:rPr sz="1400" dirty="0">
                <a:latin typeface="Comic Sans MS"/>
                <a:cs typeface="Comic Sans MS"/>
              </a:rPr>
              <a:t>Escolha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três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sentenças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(exceto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b)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construa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AFND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(com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ou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sem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</a:t>
            </a:r>
            <a:r>
              <a:rPr sz="1400" dirty="0">
                <a:latin typeface="Comic Sans MS"/>
                <a:cs typeface="Comic Sans MS"/>
              </a:rPr>
              <a:t>)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na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forma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tabela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Comic Sans MS"/>
                <a:cs typeface="Comic Sans MS"/>
              </a:rPr>
              <a:t>de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 err="1" smtClean="0">
                <a:latin typeface="Comic Sans MS"/>
                <a:cs typeface="Comic Sans MS"/>
              </a:rPr>
              <a:t>transições</a:t>
            </a:r>
            <a:endParaRPr sz="1400" dirty="0">
              <a:latin typeface="Comic Sans MS"/>
              <a:cs typeface="Comic Sans MS"/>
            </a:endParaRPr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4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67696" y="981557"/>
            <a:ext cx="8559165" cy="512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Comic Sans MS"/>
                <a:cs typeface="Comic Sans MS"/>
              </a:rPr>
              <a:t>Exercícios: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Construa</a:t>
            </a:r>
            <a:r>
              <a:rPr sz="1400" spc="40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AFND’s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com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ou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sem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movimentos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vazios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para</a:t>
            </a:r>
            <a:r>
              <a:rPr sz="1400" spc="40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as</a:t>
            </a:r>
            <a:r>
              <a:rPr sz="1400" spc="4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linguagens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abaixo.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Para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os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que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apresentarem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movimentos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vazios,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aplique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algoritmo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de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eliminação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de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movimentos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vazios.</a:t>
            </a:r>
            <a:endParaRPr sz="1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</a:pPr>
            <a:r>
              <a:rPr sz="1400" dirty="0">
                <a:latin typeface="Comic Sans MS"/>
                <a:cs typeface="Comic Sans MS"/>
              </a:rPr>
              <a:t>L1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=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Aceita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cadeias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mbria Math"/>
                <a:cs typeface="Cambria Math"/>
              </a:rPr>
              <a:t>∈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{1,2}*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tal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que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último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símbolo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na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cadeia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tenha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aparecido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anteriormente.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Comic Sans MS"/>
                <a:cs typeface="Comic Sans MS"/>
              </a:rPr>
              <a:t>Em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seguida,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construa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Tabela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Transição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Estados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Função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Transição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Estados</a:t>
            </a:r>
            <a:endParaRPr sz="1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Comic Sans MS"/>
              <a:cs typeface="Comic Sans MS"/>
            </a:endParaRPr>
          </a:p>
          <a:p>
            <a:pPr marL="12700" marR="5080" algn="just">
              <a:lnSpc>
                <a:spcPct val="150000"/>
              </a:lnSpc>
            </a:pPr>
            <a:r>
              <a:rPr sz="1400" dirty="0">
                <a:latin typeface="Comic Sans MS"/>
                <a:cs typeface="Comic Sans MS"/>
              </a:rPr>
              <a:t>L2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=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Aceita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cadeias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mbria Math"/>
                <a:cs typeface="Cambria Math"/>
              </a:rPr>
              <a:t>∈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{1,2,3}*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tal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que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último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símbolo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na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cadeia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tenha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aparecido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anteriormente.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Comic Sans MS"/>
                <a:cs typeface="Comic Sans MS"/>
              </a:rPr>
              <a:t>Por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exemplo,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121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é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aceita;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31312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não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é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aceita.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Em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seguida,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construa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Tabela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Transição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Estados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omic Sans MS"/>
                <a:cs typeface="Comic Sans MS"/>
              </a:rPr>
              <a:t>a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Função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Transição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omic Sans MS"/>
                <a:cs typeface="Comic Sans MS"/>
              </a:rPr>
              <a:t>Estados</a:t>
            </a:r>
            <a:endParaRPr sz="1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1900">
              <a:latin typeface="Comic Sans MS"/>
              <a:cs typeface="Comic Sans MS"/>
            </a:endParaRPr>
          </a:p>
          <a:p>
            <a:pPr marL="12700" algn="just">
              <a:lnSpc>
                <a:spcPct val="100000"/>
              </a:lnSpc>
              <a:spcBef>
                <a:spcPts val="1385"/>
              </a:spcBef>
            </a:pPr>
            <a:r>
              <a:rPr sz="1400" dirty="0">
                <a:latin typeface="Comic Sans MS"/>
                <a:cs typeface="Comic Sans MS"/>
              </a:rPr>
              <a:t>L3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=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w|w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mbria Math"/>
                <a:cs typeface="Cambria Math"/>
              </a:rPr>
              <a:t>∈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{a,b,c}*,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ou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bb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é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subpalavra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cccc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é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sufixo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Comic Sans MS"/>
                <a:cs typeface="Comic Sans MS"/>
              </a:rPr>
              <a:t>w}</a:t>
            </a:r>
            <a:endParaRPr sz="1400">
              <a:latin typeface="Comic Sans MS"/>
              <a:cs typeface="Comic Sans MS"/>
            </a:endParaRPr>
          </a:p>
          <a:p>
            <a:pPr marL="12700" marR="2303145">
              <a:lnSpc>
                <a:spcPct val="340000"/>
              </a:lnSpc>
            </a:pPr>
            <a:r>
              <a:rPr sz="1400" dirty="0">
                <a:latin typeface="Comic Sans MS"/>
                <a:cs typeface="Comic Sans MS"/>
              </a:rPr>
              <a:t>L4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=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|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mbria Math"/>
                <a:cs typeface="Cambria Math"/>
              </a:rPr>
              <a:t>∈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{a,b}*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quarto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símbolo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direita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para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esquerda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de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é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omic Sans MS"/>
                <a:cs typeface="Comic Sans MS"/>
              </a:rPr>
              <a:t>}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L5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=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w1w2w1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|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w1,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w2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mbria Math"/>
                <a:cs typeface="Cambria Math"/>
              </a:rPr>
              <a:t>∈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{0,1}*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omic Sans MS"/>
                <a:cs typeface="Comic Sans MS"/>
              </a:rPr>
              <a:t>|w1|=2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omic Sans MS"/>
                <a:cs typeface="Comic Sans MS"/>
              </a:rPr>
              <a:t>}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67696" y="923645"/>
            <a:ext cx="8559165" cy="526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L6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conjunto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strings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sobre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alfabeto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{0,1,...,9}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tal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que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dígito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final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tenha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aparecido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antes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omic Sans MS"/>
              <a:cs typeface="Comic Sans MS"/>
            </a:endParaRPr>
          </a:p>
          <a:p>
            <a:pPr marL="12700" marR="5080" algn="just">
              <a:lnSpc>
                <a:spcPct val="130000"/>
              </a:lnSpc>
            </a:pPr>
            <a:r>
              <a:rPr sz="2000" dirty="0">
                <a:latin typeface="Comic Sans MS"/>
                <a:cs typeface="Comic Sans MS"/>
              </a:rPr>
              <a:t>L7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conjunto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strings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0’s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1’s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tais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que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existam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dois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0’s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separados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por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número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posições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que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seja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múltiplo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4.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Observe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que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0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é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múltiplo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permitido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4.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Comic Sans MS"/>
              <a:cs typeface="Comic Sans MS"/>
            </a:endParaRPr>
          </a:p>
          <a:p>
            <a:pPr marL="12700" marR="5715" algn="just">
              <a:lnSpc>
                <a:spcPct val="131100"/>
              </a:lnSpc>
            </a:pPr>
            <a:r>
              <a:rPr sz="2000" dirty="0">
                <a:latin typeface="Comic Sans MS"/>
                <a:cs typeface="Comic Sans MS"/>
              </a:rPr>
              <a:t>L8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Defina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AFND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que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tenha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no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máximo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cinco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estados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Comic Sans MS"/>
                <a:cs typeface="Comic Sans MS"/>
              </a:rPr>
              <a:t>cuja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linguagem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seja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conjunto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das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sequências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x's,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y's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z's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do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tipo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Symbol"/>
                <a:cs typeface="Symbol"/>
              </a:rPr>
              <a:t></a:t>
            </a:r>
            <a:r>
              <a:rPr sz="2400" b="1" spc="-25" dirty="0">
                <a:latin typeface="Calibri"/>
                <a:cs typeface="Calibri"/>
              </a:rPr>
              <a:t>zβ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ou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</a:t>
            </a:r>
            <a:r>
              <a:rPr sz="2400" b="1" dirty="0">
                <a:latin typeface="Calibri"/>
                <a:cs typeface="Calibri"/>
              </a:rPr>
              <a:t>xβ</a:t>
            </a:r>
            <a:r>
              <a:rPr sz="2400" spc="3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mic Sans MS"/>
                <a:cs typeface="Comic Sans MS"/>
              </a:rPr>
              <a:t>onde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</a:t>
            </a:r>
            <a:r>
              <a:rPr sz="2400" b="1" dirty="0">
                <a:latin typeface="Calibri"/>
                <a:cs typeface="Calibri"/>
              </a:rPr>
              <a:t>β</a:t>
            </a:r>
            <a:r>
              <a:rPr sz="2400" dirty="0">
                <a:latin typeface="Symbol"/>
                <a:cs typeface="Symbol"/>
              </a:rPr>
              <a:t>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{x,y,z}*,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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é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vazia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contém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y's,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β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é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não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vazia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contém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z's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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tem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pelo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menos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y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não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contém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z's.</a:t>
            </a:r>
            <a:endParaRPr sz="2000">
              <a:latin typeface="Comic Sans MS"/>
              <a:cs typeface="Comic Sans MS"/>
            </a:endParaRPr>
          </a:p>
          <a:p>
            <a:pPr marL="609600" indent="-14033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610235" algn="l"/>
              </a:tabLst>
            </a:pPr>
            <a:r>
              <a:rPr sz="1700" dirty="0">
                <a:latin typeface="Comic Sans MS"/>
                <a:cs typeface="Comic Sans MS"/>
              </a:rPr>
              <a:t>Verifique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se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sequência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xzx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pertence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Comic Sans MS"/>
                <a:cs typeface="Comic Sans MS"/>
              </a:rPr>
              <a:t>L8.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32607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Possível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resposta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spc="-25" dirty="0">
                <a:latin typeface="Comic Sans MS"/>
                <a:cs typeface="Comic Sans MS"/>
              </a:rPr>
              <a:t>L1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0040" y="5498081"/>
            <a:ext cx="36912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({q0,q1,q2,q3},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{1,2},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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</a:t>
            </a:r>
            <a:r>
              <a:rPr sz="1950" spc="-15" baseline="-21367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,{q2})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825" y="2049780"/>
            <a:ext cx="7210043" cy="333451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32607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Possível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resposta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spc="-25" dirty="0">
                <a:latin typeface="Comic Sans MS"/>
                <a:cs typeface="Comic Sans MS"/>
              </a:rPr>
              <a:t>L2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074" y="2063496"/>
            <a:ext cx="7897368" cy="413461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70644" y="6273797"/>
            <a:ext cx="42094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({q0,q1,q2,q3,q4},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{1,2,3},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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</a:t>
            </a:r>
            <a:r>
              <a:rPr sz="1950" spc="-15" baseline="-21367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,{q2})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32607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Possível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resposta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spc="-25" dirty="0">
                <a:latin typeface="Comic Sans MS"/>
                <a:cs typeface="Comic Sans MS"/>
              </a:rPr>
              <a:t>L3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2252" y="6401813"/>
            <a:ext cx="5163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({q0,q1,q2,q3,q4,q5,q6,q7},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r>
              <a:rPr sz="2000" dirty="0">
                <a:solidFill>
                  <a:srgbClr val="221F20"/>
                </a:solidFill>
                <a:latin typeface="Calibri"/>
                <a:cs typeface="Calibri"/>
              </a:rPr>
              <a:t>a,b,c</a:t>
            </a:r>
            <a:r>
              <a:rPr sz="2000" dirty="0">
                <a:latin typeface="Calibri"/>
                <a:cs typeface="Calibri"/>
              </a:rPr>
              <a:t>},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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</a:t>
            </a:r>
            <a:r>
              <a:rPr sz="1950" spc="-15" baseline="-21367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,{q7})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971" y="2421636"/>
            <a:ext cx="8801098" cy="35051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32607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Possível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resposta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spc="-25" dirty="0">
                <a:latin typeface="Comic Sans MS"/>
                <a:cs typeface="Comic Sans MS"/>
              </a:rPr>
              <a:t>L4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6046" y="2040636"/>
            <a:ext cx="6591300" cy="39715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99016" y="6249413"/>
            <a:ext cx="40157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({q0,q1,q2,q3,q4},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r>
              <a:rPr sz="2000" dirty="0">
                <a:solidFill>
                  <a:srgbClr val="221F20"/>
                </a:solidFill>
                <a:latin typeface="Calibri"/>
                <a:cs typeface="Calibri"/>
              </a:rPr>
              <a:t>a,b</a:t>
            </a:r>
            <a:r>
              <a:rPr sz="2000" dirty="0">
                <a:latin typeface="Calibri"/>
                <a:cs typeface="Calibri"/>
              </a:rPr>
              <a:t>},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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</a:t>
            </a:r>
            <a:r>
              <a:rPr sz="1950" spc="-15" baseline="-21367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,{q4})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7696" y="1113535"/>
            <a:ext cx="32607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/>
                <a:cs typeface="Comic Sans MS"/>
              </a:rPr>
              <a:t>Possível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resposta</a:t>
            </a:r>
            <a:endParaRPr sz="3200">
              <a:latin typeface="Comic Sans MS"/>
              <a:cs typeface="Comic Sans MS"/>
            </a:endParaRPr>
          </a:p>
          <a:p>
            <a:pPr marL="276225" indent="-264160">
              <a:lnSpc>
                <a:spcPct val="100000"/>
              </a:lnSpc>
              <a:spcBef>
                <a:spcPts val="2690"/>
              </a:spcBef>
              <a:buFont typeface="Arial"/>
              <a:buChar char="•"/>
              <a:tabLst>
                <a:tab pos="276860" algn="l"/>
              </a:tabLst>
            </a:pPr>
            <a:r>
              <a:rPr sz="3200" spc="-25" dirty="0">
                <a:latin typeface="Comic Sans MS"/>
                <a:cs typeface="Comic Sans MS"/>
              </a:rPr>
              <a:t>L5</a:t>
            </a:r>
            <a:endParaRPr sz="32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097" y="2421636"/>
            <a:ext cx="8157971" cy="40431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34068" y="6478013"/>
            <a:ext cx="5644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({q0,q1,q2,q3,q4,q5,q6,q7,q8,q9},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{0,1},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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</a:t>
            </a:r>
            <a:r>
              <a:rPr sz="1950" spc="-15" baseline="-21367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,{q9})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object 2"/>
          <p:cNvSpPr txBox="1"/>
          <p:nvPr/>
        </p:nvSpPr>
        <p:spPr>
          <a:xfrm>
            <a:off x="1139324" y="557275"/>
            <a:ext cx="56222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Linguagens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Formais</a:t>
            </a:r>
            <a:r>
              <a:rPr sz="20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Comic Sans MS"/>
                <a:cs typeface="Comic Sans MS"/>
              </a:rPr>
              <a:t>e</a:t>
            </a:r>
            <a:r>
              <a:rPr sz="2000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006FC0"/>
                </a:solidFill>
                <a:latin typeface="Comic Sans MS"/>
                <a:cs typeface="Comic Sans MS"/>
              </a:rPr>
              <a:t>Autômatos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61525" y="973835"/>
            <a:ext cx="8732520" cy="38100"/>
          </a:xfrm>
          <a:custGeom>
            <a:avLst/>
            <a:gdLst/>
            <a:ahLst/>
            <a:cxnLst/>
            <a:rect l="l" t="t" r="r" b="b"/>
            <a:pathLst>
              <a:path w="8732520" h="38100">
                <a:moveTo>
                  <a:pt x="8732519" y="38099"/>
                </a:moveTo>
                <a:lnTo>
                  <a:pt x="8732519" y="0"/>
                </a:lnTo>
                <a:lnTo>
                  <a:pt x="0" y="0"/>
                </a:lnTo>
                <a:lnTo>
                  <a:pt x="0" y="38099"/>
                </a:lnTo>
                <a:lnTo>
                  <a:pt x="8732519" y="38099"/>
                </a:lnTo>
                <a:close/>
              </a:path>
            </a:pathLst>
          </a:custGeom>
          <a:solidFill>
            <a:srgbClr val="497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2" descr="http://faculdadesalvadorarena.org.br/wp-content/uploads/2019/10/logo_no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57" y="209612"/>
            <a:ext cx="21717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2685</Words>
  <Application>Microsoft Office PowerPoint</Application>
  <PresentationFormat>Personalizar</PresentationFormat>
  <Paragraphs>342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4" baseType="lpstr">
      <vt:lpstr>Arial</vt:lpstr>
      <vt:lpstr>Calibri</vt:lpstr>
      <vt:lpstr>Cambria Math</vt:lpstr>
      <vt:lpstr>Comic Sans MS</vt:lpstr>
      <vt:lpstr>Symbol</vt:lpstr>
      <vt:lpstr>Times New Roman</vt:lpstr>
      <vt:lpstr>Verdana</vt:lpstr>
      <vt:lpstr>Wingdings</vt:lpstr>
      <vt:lpstr>Wingdings 3</vt:lpstr>
      <vt:lpstr>Office Theme</vt:lpstr>
      <vt:lpstr>LFA – Aula 05</vt:lpstr>
      <vt:lpstr>Apresentação do PowerPoint</vt:lpstr>
      <vt:lpstr>Apresentação do PowerPoint</vt:lpstr>
      <vt:lpstr>Na aula passada...</vt:lpstr>
      <vt:lpstr>Na aula passada...</vt:lpstr>
      <vt:lpstr>Na aula de hoje...</vt:lpstr>
      <vt:lpstr>Apresentação do PowerPoint</vt:lpstr>
      <vt:lpstr>Apresentação do PowerPoint</vt:lpstr>
      <vt:lpstr>Exemplo de AFND</vt:lpstr>
      <vt:lpstr>AFD versus AFND</vt:lpstr>
      <vt:lpstr>AFD versus AFND</vt:lpstr>
      <vt:lpstr>AFD versus AFND</vt:lpstr>
      <vt:lpstr>Apresentação do PowerPoint</vt:lpstr>
      <vt:lpstr>Equivalência de AFD e AFN</vt:lpstr>
      <vt:lpstr>Equivalência de AFD e AFN</vt:lpstr>
      <vt:lpstr>Equivalência de AFD e AFN Exemplo</vt:lpstr>
      <vt:lpstr>Equivalência de AFD e AFN Exemplo</vt:lpstr>
      <vt:lpstr>Algoritmo para conversão AFN → AFD</vt:lpstr>
      <vt:lpstr>Equivalência de AFD e AFN Exemplo</vt:lpstr>
      <vt:lpstr>Equivalência de AFD e AFN Exemplo</vt:lpstr>
      <vt:lpstr>Equivalência de AFD e AFN Exercício</vt:lpstr>
      <vt:lpstr>Equivalência de AFD e AFN Exercício</vt:lpstr>
      <vt:lpstr>Equivalência de AFD e AFN Resolução</vt:lpstr>
      <vt:lpstr>Apresentação do PowerPoint</vt:lpstr>
      <vt:lpstr>AFND com movimentos vazios (transições em vazio)  AFND</vt:lpstr>
      <vt:lpstr>AFND</vt:lpstr>
      <vt:lpstr>AFND</vt:lpstr>
      <vt:lpstr>Uso de transições em vazio</vt:lpstr>
      <vt:lpstr>Apresentação do PowerPoint</vt:lpstr>
      <vt:lpstr>Apresentação do PowerPoint</vt:lpstr>
      <vt:lpstr>AF com e sem movimento vazio – Linguagem</vt:lpstr>
      <vt:lpstr>Eliminação de transições em vazio</vt:lpstr>
      <vt:lpstr>Apresentação do PowerPoint</vt:lpstr>
      <vt:lpstr>2. Iteração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Aula05</dc:title>
  <dc:creator>olivete</dc:creator>
  <cp:lastModifiedBy>Flavio Viotti</cp:lastModifiedBy>
  <cp:revision>7</cp:revision>
  <cp:lastPrinted>2022-03-17T19:18:26Z</cp:lastPrinted>
  <dcterms:created xsi:type="dcterms:W3CDTF">2021-02-04T12:28:12Z</dcterms:created>
  <dcterms:modified xsi:type="dcterms:W3CDTF">2022-04-08T22:38:26Z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2016-12-05T00:00:00Z</vt:filetime>
  </property>
  <property fmtid="{D5CDD505-2E9C-101B-9397-08002B2CF9AE}" pid="3" name="Creator">
    <vt:lpwstr>PDFCreator 2.1.2.0</vt:lpwstr>
  </property>
  <property fmtid="{D5CDD505-2E9C-101B-9397-08002B2CF9AE}" pid="4" name="LastSaved">
    <vt:filetime>2021-02-04T00:00:00Z</vt:filetime>
  </property>
</Properties>
</file>